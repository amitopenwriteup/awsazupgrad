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50"/>
  </p:notesMasterIdLst>
  <p:sldIdLst>
    <p:sldId id="256" r:id="rId2"/>
    <p:sldId id="326" r:id="rId3"/>
    <p:sldId id="293" r:id="rId4"/>
    <p:sldId id="325" r:id="rId5"/>
    <p:sldId id="260" r:id="rId6"/>
    <p:sldId id="296" r:id="rId7"/>
    <p:sldId id="297" r:id="rId8"/>
    <p:sldId id="327" r:id="rId9"/>
    <p:sldId id="298" r:id="rId10"/>
    <p:sldId id="299" r:id="rId11"/>
    <p:sldId id="323" r:id="rId12"/>
    <p:sldId id="328" r:id="rId13"/>
    <p:sldId id="329" r:id="rId14"/>
    <p:sldId id="324" r:id="rId15"/>
    <p:sldId id="330" r:id="rId16"/>
    <p:sldId id="331" r:id="rId17"/>
    <p:sldId id="332" r:id="rId18"/>
    <p:sldId id="300" r:id="rId19"/>
    <p:sldId id="334" r:id="rId20"/>
    <p:sldId id="335" r:id="rId21"/>
    <p:sldId id="336" r:id="rId22"/>
    <p:sldId id="337" r:id="rId23"/>
    <p:sldId id="333" r:id="rId24"/>
    <p:sldId id="339" r:id="rId25"/>
    <p:sldId id="340" r:id="rId26"/>
    <p:sldId id="341" r:id="rId27"/>
    <p:sldId id="342" r:id="rId28"/>
    <p:sldId id="338" r:id="rId29"/>
    <p:sldId id="344" r:id="rId30"/>
    <p:sldId id="345" r:id="rId31"/>
    <p:sldId id="346" r:id="rId32"/>
    <p:sldId id="347" r:id="rId33"/>
    <p:sldId id="348" r:id="rId34"/>
    <p:sldId id="349" r:id="rId35"/>
    <p:sldId id="259" r:id="rId36"/>
    <p:sldId id="343" r:id="rId37"/>
    <p:sldId id="301" r:id="rId38"/>
    <p:sldId id="350" r:id="rId39"/>
    <p:sldId id="312" r:id="rId40"/>
    <p:sldId id="351" r:id="rId41"/>
    <p:sldId id="314" r:id="rId42"/>
    <p:sldId id="352" r:id="rId43"/>
    <p:sldId id="315" r:id="rId44"/>
    <p:sldId id="353" r:id="rId45"/>
    <p:sldId id="316" r:id="rId46"/>
    <p:sldId id="354" r:id="rId47"/>
    <p:sldId id="317" r:id="rId48"/>
    <p:sldId id="355" r:id="rId49"/>
  </p:sldIdLst>
  <p:sldSz cx="9144000" cy="5143500" type="screen16x9"/>
  <p:notesSz cx="6858000" cy="9144000"/>
  <p:embeddedFontLst>
    <p:embeddedFont>
      <p:font typeface="Century Gothic" panose="020B0502020202020204" pitchFamily="34" charset="0"/>
      <p:regular r:id="rId51"/>
      <p:bold r:id="rId52"/>
      <p:italic r:id="rId53"/>
      <p:boldItalic r:id="rId54"/>
    </p:embeddedFont>
    <p:embeddedFont>
      <p:font typeface="Proxima Nova" panose="020B0604020202020204" charset="0"/>
      <p:regular r:id="rId55"/>
      <p:bold r:id="rId56"/>
      <p:italic r:id="rId57"/>
      <p:boldItalic r:id="rId58"/>
    </p:embeddedFont>
    <p:embeddedFont>
      <p:font typeface="Wingdings 3" panose="05040102010807070707" pitchFamily="18" charset="2"/>
      <p:regular r:id="rId5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C844AD-B303-3874-28AB-CDDAD3C0C766}" v="149" dt="2025-09-21T11:38:40.45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a:extLst>
            <a:ext uri="{FF2B5EF4-FFF2-40B4-BE49-F238E27FC236}">
              <a16:creationId xmlns:a16="http://schemas.microsoft.com/office/drawing/2014/main" id="{28608359-09FD-49E8-3936-B44C1E21C31B}"/>
            </a:ext>
          </a:extLst>
        </p:cNvPr>
        <p:cNvGrpSpPr/>
        <p:nvPr/>
      </p:nvGrpSpPr>
      <p:grpSpPr>
        <a:xfrm>
          <a:off x="0" y="0"/>
          <a:ext cx="0" cy="0"/>
          <a:chOff x="0" y="0"/>
          <a:chExt cx="0" cy="0"/>
        </a:xfrm>
      </p:grpSpPr>
      <p:sp>
        <p:nvSpPr>
          <p:cNvPr id="901" name="Google Shape;901;p15:notes">
            <a:extLst>
              <a:ext uri="{FF2B5EF4-FFF2-40B4-BE49-F238E27FC236}">
                <a16:creationId xmlns:a16="http://schemas.microsoft.com/office/drawing/2014/main" id="{B80A22D7-CFD2-BDBE-88D4-1FC3E8E12EA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a:extLst>
              <a:ext uri="{FF2B5EF4-FFF2-40B4-BE49-F238E27FC236}">
                <a16:creationId xmlns:a16="http://schemas.microsoft.com/office/drawing/2014/main" id="{CA54DDE2-D14F-8AE2-2910-50AEA86235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1223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CB8455D8-38E5-D0C8-11FB-D18EC5611F67}"/>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419F0376-5B2C-183B-262C-49CBC9043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1380647A-4073-5F34-351B-A98AC61D3B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6741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28D4CAC0-0588-1BDB-24DC-810C27A898FE}"/>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C4A8771A-137B-8D69-6936-118C4BDAA3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E333D4E4-4CDB-F766-5D55-6024F9430D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6023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274cb2ecf7f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A5113A14-ECCB-80D7-969A-57A18FF331D8}"/>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A79CD110-996C-BAD4-A747-6F67B547B4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BCB8167D-714B-56AF-0402-C8FE25609B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7954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868C2462-ED6D-BDFA-E21C-5FC642D8A0F5}"/>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DB05BFA3-7850-F4E1-10A3-76ABCF1450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A8A00212-050E-2DE9-56F1-9A7F3EC92F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0880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a:extLst>
            <a:ext uri="{FF2B5EF4-FFF2-40B4-BE49-F238E27FC236}">
              <a16:creationId xmlns:a16="http://schemas.microsoft.com/office/drawing/2014/main" id="{FD69BCE5-52F3-4687-AAC0-5BBF025A4B9C}"/>
            </a:ext>
          </a:extLst>
        </p:cNvPr>
        <p:cNvGrpSpPr/>
        <p:nvPr/>
      </p:nvGrpSpPr>
      <p:grpSpPr>
        <a:xfrm>
          <a:off x="0" y="0"/>
          <a:ext cx="0" cy="0"/>
          <a:chOff x="0" y="0"/>
          <a:chExt cx="0" cy="0"/>
        </a:xfrm>
      </p:grpSpPr>
      <p:sp>
        <p:nvSpPr>
          <p:cNvPr id="901" name="Google Shape;901;p15:notes">
            <a:extLst>
              <a:ext uri="{FF2B5EF4-FFF2-40B4-BE49-F238E27FC236}">
                <a16:creationId xmlns:a16="http://schemas.microsoft.com/office/drawing/2014/main" id="{FC1062FB-61E1-1887-9B9A-E3CD0BF77C5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a:extLst>
              <a:ext uri="{FF2B5EF4-FFF2-40B4-BE49-F238E27FC236}">
                <a16:creationId xmlns:a16="http://schemas.microsoft.com/office/drawing/2014/main" id="{A5A538C2-7210-A111-F1E4-C61D5417F7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8828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1DB2F197-1075-6935-59C2-6F9D5EBFF763}"/>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732B1395-939B-87EF-C9C0-0BDB70F9E2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4A01104B-2AFD-56AF-1B23-AE8448F676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8793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C7A78D7B-F8AA-19CB-5EDD-158D3D7F307D}"/>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688A3057-7865-7156-ACDA-4667F7318B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7774FCE4-AE86-4FF7-54C1-A9C83EE761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93124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011BCE5D-B56C-9A66-91E8-924D8A8B58BC}"/>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11B9074B-6715-3AC6-50FC-6B3D3A11B89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10B6FDFE-1E81-E941-D146-EC491C0787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0472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4822161F-1C8E-ADFB-DC61-A1028C49FB50}"/>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13D360EB-1D2E-F998-F1A5-1A9A44B1AE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42532364-1E63-6324-9C4A-84A8C491BB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4718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a:extLst>
            <a:ext uri="{FF2B5EF4-FFF2-40B4-BE49-F238E27FC236}">
              <a16:creationId xmlns:a16="http://schemas.microsoft.com/office/drawing/2014/main" id="{E02025D8-D01B-FC69-3ECB-3A6F6982E744}"/>
            </a:ext>
          </a:extLst>
        </p:cNvPr>
        <p:cNvGrpSpPr/>
        <p:nvPr/>
      </p:nvGrpSpPr>
      <p:grpSpPr>
        <a:xfrm>
          <a:off x="0" y="0"/>
          <a:ext cx="0" cy="0"/>
          <a:chOff x="0" y="0"/>
          <a:chExt cx="0" cy="0"/>
        </a:xfrm>
      </p:grpSpPr>
      <p:sp>
        <p:nvSpPr>
          <p:cNvPr id="901" name="Google Shape;901;p15:notes">
            <a:extLst>
              <a:ext uri="{FF2B5EF4-FFF2-40B4-BE49-F238E27FC236}">
                <a16:creationId xmlns:a16="http://schemas.microsoft.com/office/drawing/2014/main" id="{216E239D-28BB-B908-3490-D1899FDF42C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a:extLst>
              <a:ext uri="{FF2B5EF4-FFF2-40B4-BE49-F238E27FC236}">
                <a16:creationId xmlns:a16="http://schemas.microsoft.com/office/drawing/2014/main" id="{4EBF53EB-FC5E-6D15-01D9-6B33658C49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419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6E4E445A-6157-1AEF-6D2D-E5AE854F5051}"/>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91327E3D-7AE9-BF31-1797-EE416B3FB5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6023DD4A-BCFD-6ACD-31A9-ED6B5198EB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4043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F33A5C52-20A7-EE2A-BA67-6F399A25433B}"/>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BBF5FBD6-EED2-9D36-DF77-21E9144652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BCFA5D4F-A06C-AFD6-AB97-24B46B7940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19868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4C109D29-AA6F-0783-7797-80E9BD2AFAE1}"/>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F1835547-E0FA-295D-D517-89EC5696D5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DC75A55E-C944-1A6B-228B-518FD8663C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2709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BD0BE0E6-83A0-450C-4CBF-9A8F3561C8C4}"/>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3FAF83FD-C797-F472-DE13-7C9F870F76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D71B36A8-4D6E-63A7-CDFA-AD9EBC8A7A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3491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a:extLst>
            <a:ext uri="{FF2B5EF4-FFF2-40B4-BE49-F238E27FC236}">
              <a16:creationId xmlns:a16="http://schemas.microsoft.com/office/drawing/2014/main" id="{26F6527A-2AEA-20AB-62AE-C2BF77405E1F}"/>
            </a:ext>
          </a:extLst>
        </p:cNvPr>
        <p:cNvGrpSpPr/>
        <p:nvPr/>
      </p:nvGrpSpPr>
      <p:grpSpPr>
        <a:xfrm>
          <a:off x="0" y="0"/>
          <a:ext cx="0" cy="0"/>
          <a:chOff x="0" y="0"/>
          <a:chExt cx="0" cy="0"/>
        </a:xfrm>
      </p:grpSpPr>
      <p:sp>
        <p:nvSpPr>
          <p:cNvPr id="901" name="Google Shape;901;p15:notes">
            <a:extLst>
              <a:ext uri="{FF2B5EF4-FFF2-40B4-BE49-F238E27FC236}">
                <a16:creationId xmlns:a16="http://schemas.microsoft.com/office/drawing/2014/main" id="{CFCE8904-46D3-4A1C-6498-E7528EE0122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a:extLst>
              <a:ext uri="{FF2B5EF4-FFF2-40B4-BE49-F238E27FC236}">
                <a16:creationId xmlns:a16="http://schemas.microsoft.com/office/drawing/2014/main" id="{8BD141F6-A78A-8544-ECDC-F1F2D988BB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87352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7856BD86-7EBB-F97A-2C5B-CB813DDCF3CC}"/>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E7F20691-BB86-03C9-FF36-21D90A6BF1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72E99D86-EDB7-6B84-83FE-33D7F0ED8D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9593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82A4F330-2957-3A7D-C9B1-0EB3193FF2A5}"/>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EBB6B2FD-1D5E-FDA8-0B2A-5FAD875B0E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DB0D0657-4AD8-FE69-54E9-4C63656919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35470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346742F4-9E2F-2C6A-0688-980AE84FA939}"/>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2980F747-E2AC-5680-DC9A-74ADFF4002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F5CBA197-4E03-69A6-E8DB-B608885DEF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00912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EAC636E8-ADD7-75B9-1295-3D85C0772037}"/>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94717451-C305-8303-B0C5-D99300A9BC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E1B7DE5E-B73A-2B2B-0AD7-66EF3228BC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8265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a:extLst>
            <a:ext uri="{FF2B5EF4-FFF2-40B4-BE49-F238E27FC236}">
              <a16:creationId xmlns:a16="http://schemas.microsoft.com/office/drawing/2014/main" id="{B4280EC9-2711-FA71-450B-96BA2412583E}"/>
            </a:ext>
          </a:extLst>
        </p:cNvPr>
        <p:cNvGrpSpPr/>
        <p:nvPr/>
      </p:nvGrpSpPr>
      <p:grpSpPr>
        <a:xfrm>
          <a:off x="0" y="0"/>
          <a:ext cx="0" cy="0"/>
          <a:chOff x="0" y="0"/>
          <a:chExt cx="0" cy="0"/>
        </a:xfrm>
      </p:grpSpPr>
      <p:sp>
        <p:nvSpPr>
          <p:cNvPr id="901" name="Google Shape;901;p15:notes">
            <a:extLst>
              <a:ext uri="{FF2B5EF4-FFF2-40B4-BE49-F238E27FC236}">
                <a16:creationId xmlns:a16="http://schemas.microsoft.com/office/drawing/2014/main" id="{77F3EE2C-4F6F-06F1-83E1-3A9B18A34F4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a:extLst>
              <a:ext uri="{FF2B5EF4-FFF2-40B4-BE49-F238E27FC236}">
                <a16:creationId xmlns:a16="http://schemas.microsoft.com/office/drawing/2014/main" id="{CFCCE0F1-6FA7-143E-7DD9-22225CB213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60772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90D86D1E-8103-AE1D-3E31-2B854DD395E1}"/>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8028425F-36A4-B2A1-18AD-40E9B2EBBF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2A2A9DE4-4012-3DC9-104F-FA4FA05FC6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66860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E8F27F76-F8BE-35C4-93DE-1E54B786E71D}"/>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AF908FD3-EED2-1229-1969-569081BA79E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DF9D9A4B-6B72-A3C9-0B83-F5BD6EA2D9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75747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8D943BB2-E927-6EB7-59A9-1BB0FAA270CB}"/>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6113FC2E-1BAC-97E7-40FF-0EC7275008E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CB21E8FC-265E-44E7-5AE9-CD0C50DE29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22399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88A972B8-0FD6-6B5F-814C-606EAC77D399}"/>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440E09E3-0685-EF55-3D12-2248ED6081F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2999D218-2298-3220-8B01-2DF6AC65FB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15445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a:extLst>
            <a:ext uri="{FF2B5EF4-FFF2-40B4-BE49-F238E27FC236}">
              <a16:creationId xmlns:a16="http://schemas.microsoft.com/office/drawing/2014/main" id="{C884C64E-566B-65EC-C7A1-DE723BDD747A}"/>
            </a:ext>
          </a:extLst>
        </p:cNvPr>
        <p:cNvGrpSpPr/>
        <p:nvPr/>
      </p:nvGrpSpPr>
      <p:grpSpPr>
        <a:xfrm>
          <a:off x="0" y="0"/>
          <a:ext cx="0" cy="0"/>
          <a:chOff x="0" y="0"/>
          <a:chExt cx="0" cy="0"/>
        </a:xfrm>
      </p:grpSpPr>
      <p:sp>
        <p:nvSpPr>
          <p:cNvPr id="901" name="Google Shape;901;p15:notes">
            <a:extLst>
              <a:ext uri="{FF2B5EF4-FFF2-40B4-BE49-F238E27FC236}">
                <a16:creationId xmlns:a16="http://schemas.microsoft.com/office/drawing/2014/main" id="{9521149F-7534-C55A-B756-AC1C010FD0E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a:extLst>
              <a:ext uri="{FF2B5EF4-FFF2-40B4-BE49-F238E27FC236}">
                <a16:creationId xmlns:a16="http://schemas.microsoft.com/office/drawing/2014/main" id="{DF953EB3-9156-1565-6EB5-60DD02F2C2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03160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A6F0DD6A-4052-BEDA-30C3-7CC2540EBC44}"/>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C1EFAEEF-7C5D-DE94-352A-641D23DE64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EA7809D2-652F-1407-6255-6BE29747FA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601241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D6D6E177-06C2-6D49-A00E-6CB879B6F699}"/>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F943F38E-F93E-1787-D1AB-3B0C066FDC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7A0DF5D2-B887-ABDD-DE46-430705BF61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75051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EF9B51BB-59B8-415B-8A9A-16A296DD20CB}"/>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40F63FB1-F995-A584-C3A9-9E01B1B0CF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ABDDBD07-0785-470F-AA61-836513F1D7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74205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128A1BC7-9823-FFDF-0277-9CAF7266A749}"/>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E6561010-1F66-4DC9-6DEF-D019D3755F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62C364CC-FAAA-EA41-07D0-3A1D76C615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04488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75852014-9444-BF22-2090-F02F9963CF1A}"/>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90A99F7D-9CCF-096B-243A-AE4E38C870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19EBEF8D-06CD-F617-998B-CF1258C740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1155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DA01411A-7CE2-E2D9-A7B0-1DF570B86C6B}"/>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BB4CAC0A-2A84-AF7B-9399-4E236862A4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04227A7E-F0B1-9DD3-336F-F941246424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58667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274cb2ecf7f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a:extLst>
            <a:ext uri="{FF2B5EF4-FFF2-40B4-BE49-F238E27FC236}">
              <a16:creationId xmlns:a16="http://schemas.microsoft.com/office/drawing/2014/main" id="{2379E1AF-3F26-6892-A6D7-6A4F1FD61C23}"/>
            </a:ext>
          </a:extLst>
        </p:cNvPr>
        <p:cNvGrpSpPr/>
        <p:nvPr/>
      </p:nvGrpSpPr>
      <p:grpSpPr>
        <a:xfrm>
          <a:off x="0" y="0"/>
          <a:ext cx="0" cy="0"/>
          <a:chOff x="0" y="0"/>
          <a:chExt cx="0" cy="0"/>
        </a:xfrm>
      </p:grpSpPr>
      <p:sp>
        <p:nvSpPr>
          <p:cNvPr id="901" name="Google Shape;901;p15:notes">
            <a:extLst>
              <a:ext uri="{FF2B5EF4-FFF2-40B4-BE49-F238E27FC236}">
                <a16:creationId xmlns:a16="http://schemas.microsoft.com/office/drawing/2014/main" id="{079EC60C-A6F5-011D-F4CF-3B6A3BEDF2D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a:extLst>
              <a:ext uri="{FF2B5EF4-FFF2-40B4-BE49-F238E27FC236}">
                <a16:creationId xmlns:a16="http://schemas.microsoft.com/office/drawing/2014/main" id="{BC325FF7-FEBF-BF70-EB09-AC3C5973E9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15376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E3CB7282-E454-50BB-A770-BEE941C7E720}"/>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66C5B4B4-53B9-E1DB-76CE-A28E031EE8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F4633E81-1A26-53A1-E855-725E947734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19490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3641B221-E78F-6AD1-29CA-BA47A525F82D}"/>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33F33AE8-F701-87B1-3B19-42C46DDD6F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A527EDD2-50AF-7275-FE9D-DB465CB64A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81701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657D3742-907D-57B7-44DA-3F6C5340ABB3}"/>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48F8CB90-49CF-6EBA-B014-AB8B080928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2159F54A-BBEB-C5BB-9DA5-DF152A8522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89458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BA47D5F3-FC59-AD29-0146-7A3064B17305}"/>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9A4A5A45-C73D-A482-84C4-5C3482E55B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D92BE189-0CD1-CD17-C05D-7A26AEF808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40710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A769B384-3A49-5ABF-C5BD-D75E161D312D}"/>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CBBA47AB-3186-8EA1-8746-A95B0C148DB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D362013B-CC3A-DA2F-3138-33E24E66F7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30351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3662554B-DC39-9664-B8C6-1D29B10715CA}"/>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16225F3F-2CDC-41E5-3ACE-6C9A04F38E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C67F7601-40A0-1D9C-7913-23D0C5DEA2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81894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AE40E856-36DE-00FB-8A9D-50C51756DDD4}"/>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9FF03203-27CD-18DF-6BE3-2E714D998A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646708A6-FCB2-5B0D-CB78-2645A5C743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25976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AEE21A2C-A710-FB52-3711-E164AAFA12F6}"/>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228F2DC4-454F-9564-D8E3-F605700DB7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A0069FC5-FA4F-05C9-00AA-7769C6B4DE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018125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BA9ABCF2-96B7-3C64-29DD-852A151BBF3E}"/>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0B716E83-C9E9-60DD-31CB-8E0E924694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2B01AC0B-EA39-67C7-48E0-E34D76AFE4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03422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68CAEF22-9A4B-FBCE-2730-7660D232A4D8}"/>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3AB0B957-D863-EE3B-CDB2-3AFEE0F438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16D8A27D-60F1-07AC-E915-E41D5960C7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10482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3A47BEEA-F362-6EE7-8FDC-46C6F93F9ED9}"/>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C8955D8E-2531-29FD-1889-AC7AE26DE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EF7979AC-89F9-CA8F-6924-11984FB907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513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88082B1A-F295-F07B-9964-B33FEED43774}"/>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14A7214E-D42D-425C-2E74-CC6A3E3C18E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F2221964-4F80-797D-D4D5-EB35D4000C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4338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7E3D2F-B2E8-4AD5-B579-C643785865FE}"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B51B5D-A99F-4779-98D6-093C2274D576}" type="slidenum">
              <a:rPr lang="en-IN" smtClean="0"/>
              <a:t>‹#›</a:t>
            </a:fld>
            <a:endParaRPr lang="en-IN"/>
          </a:p>
        </p:txBody>
      </p:sp>
    </p:spTree>
    <p:extLst>
      <p:ext uri="{BB962C8B-B14F-4D97-AF65-F5344CB8AC3E}">
        <p14:creationId xmlns:p14="http://schemas.microsoft.com/office/powerpoint/2010/main" val="3415465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80196593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2939401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1374761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5372914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IN"/>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42453315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D7E3D2F-B2E8-4AD5-B579-C643785865FE}" type="datetimeFigureOut">
              <a:rPr lang="en-IN" smtClean="0"/>
              <a:t>04-07-2026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BB51B5D-A99F-4779-98D6-093C2274D576}" type="slidenum">
              <a:rPr lang="en-IN" smtClean="0"/>
              <a:t>‹#›</a:t>
            </a:fld>
            <a:endParaRPr lang="en-IN"/>
          </a:p>
        </p:txBody>
      </p:sp>
    </p:spTree>
    <p:extLst>
      <p:ext uri="{BB962C8B-B14F-4D97-AF65-F5344CB8AC3E}">
        <p14:creationId xmlns:p14="http://schemas.microsoft.com/office/powerpoint/2010/main" val="1853253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IN"/>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46275986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1911413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0505191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9028388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55638704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1605510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9246289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206746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35662363"/>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68092619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R="0" lvl="1" algn="ctr"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375"/>
              </a:spcBef>
              <a:spcAft>
                <a:spcPts val="0"/>
              </a:spcAft>
              <a:buClr>
                <a:schemeClr val="dk1"/>
              </a:buClr>
              <a:buSzPts val="1350"/>
              <a:buFont typeface="Arial"/>
              <a:buNone/>
              <a:defRPr sz="1350" b="0" i="0" u="none" strike="noStrike" cap="none">
                <a:solidFill>
                  <a:schemeClr val="dk1"/>
                </a:solidFill>
                <a:latin typeface="Calibri"/>
                <a:ea typeface="Calibri"/>
                <a:cs typeface="Calibri"/>
                <a:sym typeface="Calibri"/>
              </a:defRPr>
            </a:lvl3pPr>
            <a:lvl4pPr marR="0" lvl="3"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17" name="Google Shape;17;p2"/>
          <p:cNvSpPr txBox="1">
            <a:spLocks noGrp="1"/>
          </p:cNvSpPr>
          <p:nvPr>
            <p:ph type="dt" idx="10"/>
          </p:nvPr>
        </p:nvSpPr>
        <p:spPr>
          <a:xfrm>
            <a:off x="663921" y="4653887"/>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E72D4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616976" y="4012406"/>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E72D40"/>
                </a:solidFill>
                <a:latin typeface="Proxima Nova"/>
                <a:ea typeface="Proxima Nova"/>
                <a:cs typeface="Proxima Nova"/>
                <a:sym typeface="Proxima Nova"/>
              </a:defRPr>
            </a:lvl1pPr>
            <a:lvl2pPr marL="0" lvl="1" indent="0" algn="r">
              <a:spcBef>
                <a:spcPts val="0"/>
              </a:spcBef>
              <a:buNone/>
              <a:defRPr sz="900" b="0" i="0" u="none" strike="noStrike" cap="none">
                <a:solidFill>
                  <a:srgbClr val="E72D40"/>
                </a:solidFill>
                <a:latin typeface="Proxima Nova"/>
                <a:ea typeface="Proxima Nova"/>
                <a:cs typeface="Proxima Nova"/>
                <a:sym typeface="Proxima Nova"/>
              </a:defRPr>
            </a:lvl2pPr>
            <a:lvl3pPr marL="0" lvl="2" indent="0" algn="r">
              <a:spcBef>
                <a:spcPts val="0"/>
              </a:spcBef>
              <a:buNone/>
              <a:defRPr sz="900" b="0" i="0" u="none" strike="noStrike" cap="none">
                <a:solidFill>
                  <a:srgbClr val="E72D40"/>
                </a:solidFill>
                <a:latin typeface="Proxima Nova"/>
                <a:ea typeface="Proxima Nova"/>
                <a:cs typeface="Proxima Nova"/>
                <a:sym typeface="Proxima Nova"/>
              </a:defRPr>
            </a:lvl3pPr>
            <a:lvl4pPr marL="0" lvl="3" indent="0" algn="r">
              <a:spcBef>
                <a:spcPts val="0"/>
              </a:spcBef>
              <a:buNone/>
              <a:defRPr sz="900" b="0" i="0" u="none" strike="noStrike" cap="none">
                <a:solidFill>
                  <a:srgbClr val="E72D40"/>
                </a:solidFill>
                <a:latin typeface="Proxima Nova"/>
                <a:ea typeface="Proxima Nova"/>
                <a:cs typeface="Proxima Nova"/>
                <a:sym typeface="Proxima Nova"/>
              </a:defRPr>
            </a:lvl4pPr>
            <a:lvl5pPr marL="0" lvl="4" indent="0" algn="r">
              <a:spcBef>
                <a:spcPts val="0"/>
              </a:spcBef>
              <a:buNone/>
              <a:defRPr sz="900" b="0" i="0" u="none" strike="noStrike" cap="none">
                <a:solidFill>
                  <a:srgbClr val="E72D40"/>
                </a:solidFill>
                <a:latin typeface="Proxima Nova"/>
                <a:ea typeface="Proxima Nova"/>
                <a:cs typeface="Proxima Nova"/>
                <a:sym typeface="Proxima Nova"/>
              </a:defRPr>
            </a:lvl5pPr>
            <a:lvl6pPr marL="0" lvl="5" indent="0" algn="r">
              <a:spcBef>
                <a:spcPts val="0"/>
              </a:spcBef>
              <a:buNone/>
              <a:defRPr sz="900" b="0" i="0" u="none" strike="noStrike" cap="none">
                <a:solidFill>
                  <a:srgbClr val="E72D40"/>
                </a:solidFill>
                <a:latin typeface="Proxima Nova"/>
                <a:ea typeface="Proxima Nova"/>
                <a:cs typeface="Proxima Nova"/>
                <a:sym typeface="Proxima Nova"/>
              </a:defRPr>
            </a:lvl6pPr>
            <a:lvl7pPr marL="0" lvl="6" indent="0" algn="r">
              <a:spcBef>
                <a:spcPts val="0"/>
              </a:spcBef>
              <a:buNone/>
              <a:defRPr sz="900" b="0" i="0" u="none" strike="noStrike" cap="none">
                <a:solidFill>
                  <a:srgbClr val="E72D40"/>
                </a:solidFill>
                <a:latin typeface="Proxima Nova"/>
                <a:ea typeface="Proxima Nova"/>
                <a:cs typeface="Proxima Nova"/>
                <a:sym typeface="Proxima Nova"/>
              </a:defRPr>
            </a:lvl7pPr>
            <a:lvl8pPr marL="0" lvl="7" indent="0" algn="r">
              <a:spcBef>
                <a:spcPts val="0"/>
              </a:spcBef>
              <a:buNone/>
              <a:defRPr sz="900" b="0" i="0" u="none" strike="noStrike" cap="none">
                <a:solidFill>
                  <a:srgbClr val="E72D40"/>
                </a:solidFill>
                <a:latin typeface="Proxima Nova"/>
                <a:ea typeface="Proxima Nova"/>
                <a:cs typeface="Proxima Nova"/>
                <a:sym typeface="Proxima Nova"/>
              </a:defRPr>
            </a:lvl8pPr>
            <a:lvl9pPr marL="0" lvl="8" indent="0" algn="r">
              <a:spcBef>
                <a:spcPts val="0"/>
              </a:spcBef>
              <a:buNone/>
              <a:defRPr sz="900" b="0" i="0" u="none" strike="noStrike" cap="none">
                <a:solidFill>
                  <a:srgbClr val="E72D40"/>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9793839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vider">
  <p:cSld name="Divider">
    <p:spTree>
      <p:nvGrpSpPr>
        <p:cNvPr id="1" name="Shape 29"/>
        <p:cNvGrpSpPr/>
        <p:nvPr/>
      </p:nvGrpSpPr>
      <p:grpSpPr>
        <a:xfrm>
          <a:off x="0" y="0"/>
          <a:ext cx="0" cy="0"/>
          <a:chOff x="0" y="0"/>
          <a:chExt cx="0" cy="0"/>
        </a:xfrm>
      </p:grpSpPr>
      <p:sp>
        <p:nvSpPr>
          <p:cNvPr id="31" name="Google Shape;31;p4"/>
          <p:cNvSpPr txBox="1">
            <a:spLocks noGrp="1"/>
          </p:cNvSpPr>
          <p:nvPr>
            <p:ph type="title"/>
          </p:nvPr>
        </p:nvSpPr>
        <p:spPr>
          <a:xfrm>
            <a:off x="630238" y="544498"/>
            <a:ext cx="5990568" cy="56240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chemeClr val="lt1"/>
                </a:solidFill>
                <a:latin typeface="Proxima Nova"/>
                <a:ea typeface="Proxima Nova"/>
                <a:cs typeface="Proxima Nova"/>
                <a:sym typeface="Proxima Nova"/>
              </a:defRPr>
            </a:lvl1pPr>
            <a:lvl2pPr marL="0" lvl="1" indent="0" algn="r">
              <a:spcBef>
                <a:spcPts val="0"/>
              </a:spcBef>
              <a:buNone/>
              <a:defRPr sz="900" b="0" i="0" u="none" strike="noStrike" cap="none">
                <a:solidFill>
                  <a:schemeClr val="lt1"/>
                </a:solidFill>
                <a:latin typeface="Proxima Nova"/>
                <a:ea typeface="Proxima Nova"/>
                <a:cs typeface="Proxima Nova"/>
                <a:sym typeface="Proxima Nova"/>
              </a:defRPr>
            </a:lvl2pPr>
            <a:lvl3pPr marL="0" lvl="2" indent="0" algn="r">
              <a:spcBef>
                <a:spcPts val="0"/>
              </a:spcBef>
              <a:buNone/>
              <a:defRPr sz="900" b="0" i="0" u="none" strike="noStrike" cap="none">
                <a:solidFill>
                  <a:schemeClr val="lt1"/>
                </a:solidFill>
                <a:latin typeface="Proxima Nova"/>
                <a:ea typeface="Proxima Nova"/>
                <a:cs typeface="Proxima Nova"/>
                <a:sym typeface="Proxima Nova"/>
              </a:defRPr>
            </a:lvl3pPr>
            <a:lvl4pPr marL="0" lvl="3" indent="0" algn="r">
              <a:spcBef>
                <a:spcPts val="0"/>
              </a:spcBef>
              <a:buNone/>
              <a:defRPr sz="900" b="0" i="0" u="none" strike="noStrike" cap="none">
                <a:solidFill>
                  <a:schemeClr val="lt1"/>
                </a:solidFill>
                <a:latin typeface="Proxima Nova"/>
                <a:ea typeface="Proxima Nova"/>
                <a:cs typeface="Proxima Nova"/>
                <a:sym typeface="Proxima Nova"/>
              </a:defRPr>
            </a:lvl4pPr>
            <a:lvl5pPr marL="0" lvl="4" indent="0" algn="r">
              <a:spcBef>
                <a:spcPts val="0"/>
              </a:spcBef>
              <a:buNone/>
              <a:defRPr sz="900" b="0" i="0" u="none" strike="noStrike" cap="none">
                <a:solidFill>
                  <a:schemeClr val="lt1"/>
                </a:solidFill>
                <a:latin typeface="Proxima Nova"/>
                <a:ea typeface="Proxima Nova"/>
                <a:cs typeface="Proxima Nova"/>
                <a:sym typeface="Proxima Nova"/>
              </a:defRPr>
            </a:lvl5pPr>
            <a:lvl6pPr marL="0" lvl="5" indent="0" algn="r">
              <a:spcBef>
                <a:spcPts val="0"/>
              </a:spcBef>
              <a:buNone/>
              <a:defRPr sz="900" b="0" i="0" u="none" strike="noStrike" cap="none">
                <a:solidFill>
                  <a:schemeClr val="lt1"/>
                </a:solidFill>
                <a:latin typeface="Proxima Nova"/>
                <a:ea typeface="Proxima Nova"/>
                <a:cs typeface="Proxima Nova"/>
                <a:sym typeface="Proxima Nova"/>
              </a:defRPr>
            </a:lvl6pPr>
            <a:lvl7pPr marL="0" lvl="6" indent="0" algn="r">
              <a:spcBef>
                <a:spcPts val="0"/>
              </a:spcBef>
              <a:buNone/>
              <a:defRPr sz="900" b="0" i="0" u="none" strike="noStrike" cap="none">
                <a:solidFill>
                  <a:schemeClr val="lt1"/>
                </a:solidFill>
                <a:latin typeface="Proxima Nova"/>
                <a:ea typeface="Proxima Nova"/>
                <a:cs typeface="Proxima Nova"/>
                <a:sym typeface="Proxima Nova"/>
              </a:defRPr>
            </a:lvl7pPr>
            <a:lvl8pPr marL="0" lvl="7" indent="0" algn="r">
              <a:spcBef>
                <a:spcPts val="0"/>
              </a:spcBef>
              <a:buNone/>
              <a:defRPr sz="900" b="0" i="0" u="none" strike="noStrike" cap="none">
                <a:solidFill>
                  <a:schemeClr val="lt1"/>
                </a:solidFill>
                <a:latin typeface="Proxima Nova"/>
                <a:ea typeface="Proxima Nova"/>
                <a:cs typeface="Proxima Nova"/>
                <a:sym typeface="Proxima Nova"/>
              </a:defRPr>
            </a:lvl8pPr>
            <a:lvl9pPr marL="0" lvl="8" indent="0" algn="r">
              <a:spcBef>
                <a:spcPts val="0"/>
              </a:spcBef>
              <a:buNone/>
              <a:defRPr sz="9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7577224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2 Line Title and Content">
  <p:cSld name="2_2 Line Title and Content">
    <p:spTree>
      <p:nvGrpSpPr>
        <p:cNvPr id="1" name="Shape 112"/>
        <p:cNvGrpSpPr/>
        <p:nvPr/>
      </p:nvGrpSpPr>
      <p:grpSpPr>
        <a:xfrm>
          <a:off x="0" y="0"/>
          <a:ext cx="0" cy="0"/>
          <a:chOff x="0" y="0"/>
          <a:chExt cx="0" cy="0"/>
        </a:xfrm>
      </p:grpSpPr>
      <p:sp>
        <p:nvSpPr>
          <p:cNvPr id="113" name="Google Shape;113;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114" name="Google Shape;114;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marL="0" marR="0" lvl="1"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marL="0" marR="0" lvl="2"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marL="0" marR="0" lvl="3"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marL="0" marR="0" lvl="4"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marL="0" marR="0" lvl="5"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marL="0" marR="0" lvl="6"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marL="0" marR="0" lvl="7"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marL="0" marR="0" lvl="8"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IN"/>
              <a:t>‹#›</a:t>
            </a:fld>
            <a:endParaRPr/>
          </a:p>
        </p:txBody>
      </p:sp>
      <p:sp>
        <p:nvSpPr>
          <p:cNvPr id="115" name="Google Shape;115;p10"/>
          <p:cNvSpPr txBox="1">
            <a:spLocks noGrp="1"/>
          </p:cNvSpPr>
          <p:nvPr>
            <p:ph type="body" idx="1"/>
          </p:nvPr>
        </p:nvSpPr>
        <p:spPr>
          <a:xfrm>
            <a:off x="3303588" y="1816100"/>
            <a:ext cx="5265737" cy="26193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17" name="Google Shape;117;p10"/>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80995417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2">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3">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4">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36875773"/>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Lst>
  <p:hf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34"/>
          <p:cNvSpPr txBox="1"/>
          <p:nvPr/>
        </p:nvSpPr>
        <p:spPr>
          <a:xfrm>
            <a:off x="555025" y="1417902"/>
            <a:ext cx="6895200" cy="1869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4000"/>
              <a:buFont typeface="Proxima Nova"/>
              <a:buNone/>
            </a:pPr>
            <a:r>
              <a:rPr lang="en-IN" sz="4000">
                <a:solidFill>
                  <a:schemeClr val="dk1"/>
                </a:solidFill>
                <a:latin typeface="Proxima Nova"/>
                <a:ea typeface="Proxima Nova"/>
                <a:cs typeface="Proxima Nova"/>
                <a:sym typeface="Proxima Nova"/>
              </a:rPr>
              <a:t>PCP Cloud Computing and DevOps</a:t>
            </a:r>
            <a:endParaRPr sz="4000" b="0" i="0" u="none" strike="noStrike" cap="none">
              <a:solidFill>
                <a:schemeClr val="dk1"/>
              </a:solidFill>
              <a:latin typeface="Proxima Nova"/>
              <a:ea typeface="Proxima Nova"/>
              <a:cs typeface="Proxima Nova"/>
              <a:sym typeface="Proxima Nova"/>
            </a:endParaRPr>
          </a:p>
        </p:txBody>
      </p:sp>
      <p:pic>
        <p:nvPicPr>
          <p:cNvPr id="616" name="Google Shape;616;p34"/>
          <p:cNvPicPr preferRelativeResize="0"/>
          <p:nvPr/>
        </p:nvPicPr>
        <p:blipFill rotWithShape="1">
          <a:blip r:embed="rId3">
            <a:alphaModFix/>
          </a:blip>
          <a:srcRect/>
          <a:stretch/>
        </p:blipFill>
        <p:spPr>
          <a:xfrm>
            <a:off x="7582370" y="0"/>
            <a:ext cx="1356542" cy="1577482"/>
          </a:xfrm>
          <a:prstGeom prst="rect">
            <a:avLst/>
          </a:prstGeom>
          <a:noFill/>
          <a:ln>
            <a:noFill/>
          </a:ln>
        </p:spPr>
      </p:pic>
      <p:sp>
        <p:nvSpPr>
          <p:cNvPr id="617" name="Google Shape;617;p34"/>
          <p:cNvSpPr txBox="1">
            <a:spLocks noGrp="1"/>
          </p:cNvSpPr>
          <p:nvPr>
            <p:ph type="sldNum" idx="12"/>
          </p:nvPr>
        </p:nvSpPr>
        <p:spPr>
          <a:xfrm>
            <a:off x="6511925" y="4767263"/>
            <a:ext cx="2057400" cy="274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3">
          <a:extLst>
            <a:ext uri="{FF2B5EF4-FFF2-40B4-BE49-F238E27FC236}">
              <a16:creationId xmlns:a16="http://schemas.microsoft.com/office/drawing/2014/main" id="{5A70BB40-B8EB-B080-E205-FF5319CEB7D1}"/>
            </a:ext>
          </a:extLst>
        </p:cNvPr>
        <p:cNvGrpSpPr/>
        <p:nvPr/>
      </p:nvGrpSpPr>
      <p:grpSpPr>
        <a:xfrm>
          <a:off x="0" y="0"/>
          <a:ext cx="0" cy="0"/>
          <a:chOff x="0" y="0"/>
          <a:chExt cx="0" cy="0"/>
        </a:xfrm>
      </p:grpSpPr>
      <p:sp>
        <p:nvSpPr>
          <p:cNvPr id="904" name="Google Shape;904;p63">
            <a:extLst>
              <a:ext uri="{FF2B5EF4-FFF2-40B4-BE49-F238E27FC236}">
                <a16:creationId xmlns:a16="http://schemas.microsoft.com/office/drawing/2014/main" id="{53DF62B6-5126-963F-4A5F-8D165A4D812B}"/>
              </a:ext>
            </a:extLst>
          </p:cNvPr>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a:t>
            </a:fld>
            <a:endParaRPr sz="900">
              <a:latin typeface="Proxima Nova"/>
              <a:ea typeface="Proxima Nova"/>
              <a:cs typeface="Proxima Nova"/>
              <a:sym typeface="Proxima Nova"/>
            </a:endParaRPr>
          </a:p>
        </p:txBody>
      </p:sp>
      <p:sp>
        <p:nvSpPr>
          <p:cNvPr id="905" name="Google Shape;905;p63">
            <a:extLst>
              <a:ext uri="{FF2B5EF4-FFF2-40B4-BE49-F238E27FC236}">
                <a16:creationId xmlns:a16="http://schemas.microsoft.com/office/drawing/2014/main" id="{D1CCF927-D832-3A95-F547-FB542D849140}"/>
              </a:ext>
            </a:extLst>
          </p:cNvPr>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100"/>
              <a:buNone/>
            </a:pPr>
            <a:r>
              <a:rPr lang="en-IN" sz="2800">
                <a:solidFill>
                  <a:schemeClr val="lt1"/>
                </a:solidFill>
                <a:latin typeface="Calibri"/>
                <a:ea typeface="Calibri"/>
                <a:cs typeface="Calibri"/>
                <a:sym typeface="Calibri"/>
              </a:rPr>
              <a:t>Amazon RDS </a:t>
            </a:r>
            <a:endParaRPr sz="2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268827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909B651B-5249-8738-0278-C1D4BD84AB3C}"/>
            </a:ext>
          </a:extLst>
        </p:cNvPr>
        <p:cNvGrpSpPr/>
        <p:nvPr/>
      </p:nvGrpSpPr>
      <p:grpSpPr>
        <a:xfrm>
          <a:off x="0" y="0"/>
          <a:ext cx="0" cy="0"/>
          <a:chOff x="0" y="0"/>
          <a:chExt cx="0" cy="0"/>
        </a:xfrm>
      </p:grpSpPr>
      <p:sp>
        <p:nvSpPr>
          <p:cNvPr id="646" name="Google Shape;646;p37">
            <a:extLst>
              <a:ext uri="{FF2B5EF4-FFF2-40B4-BE49-F238E27FC236}">
                <a16:creationId xmlns:a16="http://schemas.microsoft.com/office/drawing/2014/main" id="{126E9B26-2543-A2AF-1D28-5AF9811F85A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RDS - Overview</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E1C3AC76-10CC-F7DE-AC9C-764FC7B7FE6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9D5989FA-CD93-F53C-BB6D-654C12315ED5}"/>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
        <p:nvSpPr>
          <p:cNvPr id="649" name="Google Shape;649;p37">
            <a:extLst>
              <a:ext uri="{FF2B5EF4-FFF2-40B4-BE49-F238E27FC236}">
                <a16:creationId xmlns:a16="http://schemas.microsoft.com/office/drawing/2014/main" id="{140D3375-8E65-E737-FA76-18FB3331C5ED}"/>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a:t>
            </a:fld>
            <a:endParaRPr sz="900">
              <a:solidFill>
                <a:srgbClr val="FF0000"/>
              </a:solidFill>
              <a:latin typeface="Proxima Nova"/>
              <a:ea typeface="Proxima Nova"/>
              <a:cs typeface="Proxima Nova"/>
              <a:sym typeface="Proxima Nova"/>
            </a:endParaRPr>
          </a:p>
        </p:txBody>
      </p:sp>
      <p:sp>
        <p:nvSpPr>
          <p:cNvPr id="4" name="Google Shape;645;p37">
            <a:extLst>
              <a:ext uri="{FF2B5EF4-FFF2-40B4-BE49-F238E27FC236}">
                <a16:creationId xmlns:a16="http://schemas.microsoft.com/office/drawing/2014/main" id="{5091A324-71B4-845C-4DE6-753004A0389A}"/>
              </a:ext>
            </a:extLst>
          </p:cNvPr>
          <p:cNvSpPr txBox="1">
            <a:spLocks/>
          </p:cNvSpPr>
          <p:nvPr/>
        </p:nvSpPr>
        <p:spPr>
          <a:xfrm>
            <a:off x="619924" y="1338550"/>
            <a:ext cx="7444671" cy="2619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514350" indent="-285750" algn="l">
              <a:buFont typeface="Arial" panose="020B0604020202020204" pitchFamily="34" charset="0"/>
              <a:buChar char="•"/>
            </a:pPr>
            <a:r>
              <a:rPr lang="en-US" sz="1400"/>
              <a:t>Fully managed relational database service.</a:t>
            </a:r>
          </a:p>
          <a:p>
            <a:pPr marL="514350" indent="-285750" algn="l">
              <a:buFont typeface="Arial" panose="020B0604020202020204" pitchFamily="34" charset="0"/>
              <a:buChar char="•"/>
            </a:pPr>
            <a:r>
              <a:rPr lang="en-US" sz="1400"/>
              <a:t>Supported engines: MySQL, PostgreSQL, MariaDB, Oracle, SQL Server.</a:t>
            </a:r>
          </a:p>
          <a:p>
            <a:pPr marL="514350" indent="-285750" algn="l">
              <a:buFont typeface="Arial" panose="020B0604020202020204" pitchFamily="34" charset="0"/>
              <a:buChar char="•"/>
            </a:pPr>
            <a:r>
              <a:rPr lang="en-US" sz="1400"/>
              <a:t>AWS manages provisioning, patching, monitoring, failover, and scaling.</a:t>
            </a:r>
          </a:p>
          <a:p>
            <a:pPr marL="514350" indent="-285750" algn="l">
              <a:buFont typeface="Arial" panose="020B0604020202020204" pitchFamily="34" charset="0"/>
              <a:buChar char="•"/>
            </a:pPr>
            <a:r>
              <a:rPr lang="en-US" sz="1400"/>
              <a:t>Benefits:</a:t>
            </a:r>
          </a:p>
          <a:p>
            <a:pPr marL="971550" lvl="1" indent="-285750">
              <a:buFont typeface="Arial" panose="020B0604020202020204" pitchFamily="34" charset="0"/>
              <a:buChar char="•"/>
            </a:pPr>
            <a:r>
              <a:rPr lang="en-US" sz="1400"/>
              <a:t>High availability (Multi-AZ).</a:t>
            </a:r>
          </a:p>
          <a:p>
            <a:pPr marL="971550" lvl="1" indent="-285750">
              <a:buFont typeface="Arial" panose="020B0604020202020204" pitchFamily="34" charset="0"/>
              <a:buChar char="•"/>
            </a:pPr>
            <a:r>
              <a:rPr lang="en-US" sz="1400"/>
              <a:t>Automated backups.</a:t>
            </a:r>
          </a:p>
          <a:p>
            <a:pPr marL="971550" lvl="1" indent="-285750">
              <a:buFont typeface="Arial" panose="020B0604020202020204" pitchFamily="34" charset="0"/>
              <a:buChar char="•"/>
            </a:pPr>
            <a:r>
              <a:rPr lang="en-US" sz="1400"/>
              <a:t>Cost-effective with pay-as-you-go.</a:t>
            </a:r>
          </a:p>
          <a:p>
            <a:pPr marL="971550" lvl="1" indent="-285750">
              <a:buFont typeface="Arial" panose="020B0604020202020204" pitchFamily="34" charset="0"/>
              <a:buChar char="•"/>
            </a:pPr>
            <a:r>
              <a:rPr lang="en-US" sz="1400"/>
              <a:t>Security: integrates with IAM, VPC, KMS encryption.</a:t>
            </a:r>
            <a:endParaRPr lang="en-IN" sz="1400"/>
          </a:p>
        </p:txBody>
      </p:sp>
    </p:spTree>
    <p:extLst>
      <p:ext uri="{BB962C8B-B14F-4D97-AF65-F5344CB8AC3E}">
        <p14:creationId xmlns:p14="http://schemas.microsoft.com/office/powerpoint/2010/main" val="2725827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B68D5768-4039-8E58-2BCE-5C495379D18E}"/>
            </a:ext>
          </a:extLst>
        </p:cNvPr>
        <p:cNvGrpSpPr/>
        <p:nvPr/>
      </p:nvGrpSpPr>
      <p:grpSpPr>
        <a:xfrm>
          <a:off x="0" y="0"/>
          <a:ext cx="0" cy="0"/>
          <a:chOff x="0" y="0"/>
          <a:chExt cx="0" cy="0"/>
        </a:xfrm>
      </p:grpSpPr>
      <p:sp>
        <p:nvSpPr>
          <p:cNvPr id="646" name="Google Shape;646;p37">
            <a:extLst>
              <a:ext uri="{FF2B5EF4-FFF2-40B4-BE49-F238E27FC236}">
                <a16:creationId xmlns:a16="http://schemas.microsoft.com/office/drawing/2014/main" id="{5A23FD4F-1AFB-BAEF-4D5F-21185F03DA14}"/>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RDS Storage Auto Scaling</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C783DD8E-D7CB-CFFA-7DAA-524E845D269F}"/>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D1DF5570-5226-8625-FD2D-78DA92D6547B}"/>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
        <p:nvSpPr>
          <p:cNvPr id="649" name="Google Shape;649;p37">
            <a:extLst>
              <a:ext uri="{FF2B5EF4-FFF2-40B4-BE49-F238E27FC236}">
                <a16:creationId xmlns:a16="http://schemas.microsoft.com/office/drawing/2014/main" id="{4A63AF3F-44E8-C624-32E0-E5615A06F0E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a:t>
            </a:fld>
            <a:endParaRPr sz="900">
              <a:solidFill>
                <a:srgbClr val="FF0000"/>
              </a:solidFill>
              <a:latin typeface="Proxima Nova"/>
              <a:ea typeface="Proxima Nova"/>
              <a:cs typeface="Proxima Nova"/>
              <a:sym typeface="Proxima Nova"/>
            </a:endParaRPr>
          </a:p>
        </p:txBody>
      </p:sp>
      <p:sp>
        <p:nvSpPr>
          <p:cNvPr id="4" name="Google Shape;645;p37">
            <a:extLst>
              <a:ext uri="{FF2B5EF4-FFF2-40B4-BE49-F238E27FC236}">
                <a16:creationId xmlns:a16="http://schemas.microsoft.com/office/drawing/2014/main" id="{3304D963-C006-FFDC-DEA9-7C04152171BC}"/>
              </a:ext>
            </a:extLst>
          </p:cNvPr>
          <p:cNvSpPr txBox="1">
            <a:spLocks/>
          </p:cNvSpPr>
          <p:nvPr/>
        </p:nvSpPr>
        <p:spPr>
          <a:xfrm>
            <a:off x="619924" y="1338550"/>
            <a:ext cx="7444671" cy="2619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514350" indent="-285750" algn="l">
              <a:buFont typeface="Arial" panose="020B0604020202020204" pitchFamily="34" charset="0"/>
              <a:buChar char="•"/>
            </a:pPr>
            <a:r>
              <a:rPr lang="en-US" sz="1400"/>
              <a:t>Monitors storage </a:t>
            </a:r>
            <a:r>
              <a:rPr lang="en-US" sz="1400" err="1"/>
              <a:t>utilisation</a:t>
            </a:r>
            <a:r>
              <a:rPr lang="en-US" sz="1400"/>
              <a:t>.</a:t>
            </a:r>
          </a:p>
          <a:p>
            <a:pPr marL="514350" indent="-285750" algn="l">
              <a:buFont typeface="Arial" panose="020B0604020202020204" pitchFamily="34" charset="0"/>
              <a:buChar char="•"/>
            </a:pPr>
            <a:r>
              <a:rPr lang="en-US" sz="1400"/>
              <a:t>Automatically scales up storage (no downtime).</a:t>
            </a:r>
          </a:p>
          <a:p>
            <a:pPr marL="514350" indent="-285750" algn="l">
              <a:buFont typeface="Arial" panose="020B0604020202020204" pitchFamily="34" charset="0"/>
              <a:buChar char="•"/>
            </a:pPr>
            <a:r>
              <a:rPr lang="en-US" sz="1400"/>
              <a:t>Prevents “out of space” issues for growing applications.</a:t>
            </a:r>
          </a:p>
          <a:p>
            <a:pPr marL="514350" indent="-285750" algn="l">
              <a:buFont typeface="Arial" panose="020B0604020202020204" pitchFamily="34" charset="0"/>
              <a:buChar char="•"/>
            </a:pPr>
            <a:r>
              <a:rPr lang="en-US" sz="1400"/>
              <a:t>Ideal for unpredictable workloads..</a:t>
            </a:r>
          </a:p>
        </p:txBody>
      </p:sp>
    </p:spTree>
    <p:extLst>
      <p:ext uri="{BB962C8B-B14F-4D97-AF65-F5344CB8AC3E}">
        <p14:creationId xmlns:p14="http://schemas.microsoft.com/office/powerpoint/2010/main" val="3986903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9" name="Google Shape;659;p38"/>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5</a:t>
            </a:fld>
            <a:endParaRPr sz="900">
              <a:solidFill>
                <a:srgbClr val="FF0000"/>
              </a:solidFill>
              <a:latin typeface="Proxima Nova"/>
              <a:ea typeface="Proxima Nova"/>
              <a:cs typeface="Proxima Nova"/>
              <a:sym typeface="Proxima Nova"/>
            </a:endParaRPr>
          </a:p>
        </p:txBody>
      </p:sp>
      <p:sp>
        <p:nvSpPr>
          <p:cNvPr id="655" name="Google Shape;655;p38"/>
          <p:cNvSpPr txBox="1">
            <a:spLocks noGrp="1"/>
          </p:cNvSpPr>
          <p:nvPr>
            <p:ph type="body" idx="1"/>
          </p:nvPr>
        </p:nvSpPr>
        <p:spPr>
          <a:xfrm>
            <a:off x="813595" y="1338550"/>
            <a:ext cx="7516800" cy="2619300"/>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Deploys DB instances across two Availability Zones.</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Standby replica continuously synchronised.</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Automatic failover during outages.</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Improves durability and fault tolerance.</a:t>
            </a:r>
          </a:p>
        </p:txBody>
      </p:sp>
      <p:sp>
        <p:nvSpPr>
          <p:cNvPr id="656" name="Google Shape;656;p38"/>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RDS Multi-AZ</a:t>
            </a:r>
            <a:endParaRPr sz="1800">
              <a:solidFill>
                <a:schemeClr val="dk1"/>
              </a:solidFill>
              <a:latin typeface="Calibri"/>
              <a:ea typeface="Calibri"/>
              <a:cs typeface="Calibri"/>
              <a:sym typeface="Calibri"/>
            </a:endParaRPr>
          </a:p>
        </p:txBody>
      </p:sp>
      <p:sp>
        <p:nvSpPr>
          <p:cNvPr id="657" name="Google Shape;657;p38"/>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B996ED74-E696-23A9-4B35-D3C9355DF50F}"/>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1140DE72-EDF5-F036-2E21-6D896124A988}"/>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6</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E9E28932-5190-1466-B040-3B3937477C9E}"/>
              </a:ext>
            </a:extLst>
          </p:cNvPr>
          <p:cNvSpPr txBox="1">
            <a:spLocks noGrp="1"/>
          </p:cNvSpPr>
          <p:nvPr>
            <p:ph type="body" idx="1"/>
          </p:nvPr>
        </p:nvSpPr>
        <p:spPr>
          <a:xfrm>
            <a:off x="813595" y="1338550"/>
            <a:ext cx="7516800" cy="2619300"/>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Allows OS and database customisation.</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Ideal for:</a:t>
            </a:r>
          </a:p>
          <a:p>
            <a:pPr marL="882650" lvl="1" indent="-285750">
              <a:lnSpc>
                <a:spcPct val="100000"/>
              </a:lnSpc>
              <a:spcBef>
                <a:spcPts val="750"/>
              </a:spcBef>
              <a:buSzPts val="1400"/>
              <a:buFont typeface="Arial" panose="020B0604020202020204" pitchFamily="34" charset="0"/>
              <a:buChar char="•"/>
            </a:pPr>
            <a:r>
              <a:rPr lang="en-IN" sz="1400"/>
              <a:t>Vendor-specific applications.</a:t>
            </a:r>
          </a:p>
          <a:p>
            <a:pPr marL="882650" lvl="1" indent="-285750">
              <a:lnSpc>
                <a:spcPct val="100000"/>
              </a:lnSpc>
              <a:spcBef>
                <a:spcPts val="750"/>
              </a:spcBef>
              <a:buSzPts val="1400"/>
              <a:buFont typeface="Arial" panose="020B0604020202020204" pitchFamily="34" charset="0"/>
              <a:buChar char="•"/>
            </a:pPr>
            <a:r>
              <a:rPr lang="en-IN" sz="1400"/>
              <a:t>Custom DBA scripts.</a:t>
            </a:r>
          </a:p>
          <a:p>
            <a:pPr marL="882650" lvl="1" indent="-285750">
              <a:lnSpc>
                <a:spcPct val="100000"/>
              </a:lnSpc>
              <a:spcBef>
                <a:spcPts val="750"/>
              </a:spcBef>
              <a:buSzPts val="1400"/>
              <a:buFont typeface="Arial" panose="020B0604020202020204" pitchFamily="34" charset="0"/>
              <a:buChar char="•"/>
            </a:pPr>
            <a:r>
              <a:rPr lang="en-IN" sz="1400"/>
              <a:t>3rd-party agents.</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Hybrid model: AWS automates infrastructure, but you control OS &amp; DB stack.</a:t>
            </a:r>
          </a:p>
        </p:txBody>
      </p:sp>
      <p:sp>
        <p:nvSpPr>
          <p:cNvPr id="656" name="Google Shape;656;p38">
            <a:extLst>
              <a:ext uri="{FF2B5EF4-FFF2-40B4-BE49-F238E27FC236}">
                <a16:creationId xmlns:a16="http://schemas.microsoft.com/office/drawing/2014/main" id="{BE529049-1B09-B200-6283-7A40195F5E3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RDS Custom</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792068B0-4CCA-A95C-273B-00C05B1398C2}"/>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FECF6978-B603-16C8-EDAB-4298843AA784}"/>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458605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964C1DC5-EC89-AF89-6164-613A6282A591}"/>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76DCD8B2-D4A4-95EF-18CE-3B6406520468}"/>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7</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0188704B-BA6D-ADC7-F006-81E959837850}"/>
              </a:ext>
            </a:extLst>
          </p:cNvPr>
          <p:cNvSpPr txBox="1">
            <a:spLocks noGrp="1"/>
          </p:cNvSpPr>
          <p:nvPr>
            <p:ph type="body" idx="1"/>
          </p:nvPr>
        </p:nvSpPr>
        <p:spPr>
          <a:xfrm>
            <a:off x="813595" y="1338550"/>
            <a:ext cx="7516800" cy="2619300"/>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b="1"/>
              <a:t>Automated Backups: </a:t>
            </a:r>
            <a:r>
              <a:rPr lang="en-US" sz="1400"/>
              <a:t>Retention up to 35 days.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b="1"/>
              <a:t>Transaction Logs: </a:t>
            </a:r>
            <a:r>
              <a:rPr lang="en-US" sz="1400"/>
              <a:t>Enables Point-in-Time Recovery (PITR).</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b="1"/>
              <a:t>Manual Snapshots: </a:t>
            </a:r>
            <a:r>
              <a:rPr lang="en-US" sz="1400"/>
              <a:t>Retained until deleted.</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a:t>Stored in Amazon S3 for durability.</a:t>
            </a:r>
            <a:endParaRPr lang="en-IN" sz="1400"/>
          </a:p>
        </p:txBody>
      </p:sp>
      <p:sp>
        <p:nvSpPr>
          <p:cNvPr id="656" name="Google Shape;656;p38">
            <a:extLst>
              <a:ext uri="{FF2B5EF4-FFF2-40B4-BE49-F238E27FC236}">
                <a16:creationId xmlns:a16="http://schemas.microsoft.com/office/drawing/2014/main" id="{D710CD27-F6F3-42E5-BF95-D474FC7347A5}"/>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RDS Backups</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441842FE-AE4C-702F-FF14-5AF3A6DE9E8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11AB327E-4660-9B62-D1B5-AA519F5BFAB1}"/>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491697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3">
          <a:extLst>
            <a:ext uri="{FF2B5EF4-FFF2-40B4-BE49-F238E27FC236}">
              <a16:creationId xmlns:a16="http://schemas.microsoft.com/office/drawing/2014/main" id="{BE8BBC93-B5B7-60B9-2EA0-86D5BC3ABF8C}"/>
            </a:ext>
          </a:extLst>
        </p:cNvPr>
        <p:cNvGrpSpPr/>
        <p:nvPr/>
      </p:nvGrpSpPr>
      <p:grpSpPr>
        <a:xfrm>
          <a:off x="0" y="0"/>
          <a:ext cx="0" cy="0"/>
          <a:chOff x="0" y="0"/>
          <a:chExt cx="0" cy="0"/>
        </a:xfrm>
      </p:grpSpPr>
      <p:sp>
        <p:nvSpPr>
          <p:cNvPr id="904" name="Google Shape;904;p63">
            <a:extLst>
              <a:ext uri="{FF2B5EF4-FFF2-40B4-BE49-F238E27FC236}">
                <a16:creationId xmlns:a16="http://schemas.microsoft.com/office/drawing/2014/main" id="{1EF38EEB-E5FE-B0C8-49B4-8344538E663E}"/>
              </a:ext>
            </a:extLst>
          </p:cNvPr>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sp>
        <p:nvSpPr>
          <p:cNvPr id="905" name="Google Shape;905;p63">
            <a:extLst>
              <a:ext uri="{FF2B5EF4-FFF2-40B4-BE49-F238E27FC236}">
                <a16:creationId xmlns:a16="http://schemas.microsoft.com/office/drawing/2014/main" id="{B35C541D-BADF-6E26-FC1E-D998A73C9081}"/>
              </a:ext>
            </a:extLst>
          </p:cNvPr>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100"/>
              <a:buNone/>
            </a:pPr>
            <a:r>
              <a:rPr lang="en-IN" sz="2800">
                <a:solidFill>
                  <a:schemeClr val="lt1"/>
                </a:solidFill>
                <a:latin typeface="Calibri"/>
                <a:ea typeface="Calibri"/>
                <a:cs typeface="Calibri"/>
                <a:sym typeface="Calibri"/>
              </a:rPr>
              <a:t>Amazon Aurora</a:t>
            </a:r>
            <a:endParaRPr sz="2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339913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CA97C161-B209-9534-5915-C9D02487172B}"/>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1FB76D98-21E5-B596-0D05-F1A13385E87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9</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2EF4FC44-30F7-0A6A-E465-12A4A3098038}"/>
              </a:ext>
            </a:extLst>
          </p:cNvPr>
          <p:cNvSpPr txBox="1">
            <a:spLocks noGrp="1"/>
          </p:cNvSpPr>
          <p:nvPr>
            <p:ph type="body" idx="1"/>
          </p:nvPr>
        </p:nvSpPr>
        <p:spPr>
          <a:xfrm>
            <a:off x="813595" y="1338549"/>
            <a:ext cx="7516800" cy="3170249"/>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MySQL &amp; PostgreSQL compatible.</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Designed for the cloud, 5x faster than MySQL, 3x faster than PostgreSQL.</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Storage automatically grows up to 128TB.</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Replicates data across 6 copies in 3 AZs.</a:t>
            </a:r>
          </a:p>
        </p:txBody>
      </p:sp>
      <p:sp>
        <p:nvSpPr>
          <p:cNvPr id="656" name="Google Shape;656;p38">
            <a:extLst>
              <a:ext uri="{FF2B5EF4-FFF2-40B4-BE49-F238E27FC236}">
                <a16:creationId xmlns:a16="http://schemas.microsoft.com/office/drawing/2014/main" id="{25961BAA-66B4-69CB-BC02-BB21BE126C0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Aurora - Overview</a:t>
            </a:r>
          </a:p>
        </p:txBody>
      </p:sp>
      <p:sp>
        <p:nvSpPr>
          <p:cNvPr id="657" name="Google Shape;657;p38">
            <a:extLst>
              <a:ext uri="{FF2B5EF4-FFF2-40B4-BE49-F238E27FC236}">
                <a16:creationId xmlns:a16="http://schemas.microsoft.com/office/drawing/2014/main" id="{D5033EB7-F408-2524-269B-AD60BA91FB71}"/>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61E379B4-EEAD-5E6A-74C9-2D4257E2EA89}"/>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011176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F6C356E0-0CCC-6560-BABA-149D6BCC5175}"/>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AC8BAEB3-3A1C-4A4D-240E-49610C99AB3F}"/>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10</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CA873FEB-91CD-31D6-9D4D-412563A17E68}"/>
              </a:ext>
            </a:extLst>
          </p:cNvPr>
          <p:cNvSpPr txBox="1">
            <a:spLocks noGrp="1"/>
          </p:cNvSpPr>
          <p:nvPr>
            <p:ph type="body" idx="1"/>
          </p:nvPr>
        </p:nvSpPr>
        <p:spPr>
          <a:xfrm>
            <a:off x="813595" y="1338549"/>
            <a:ext cx="7516800" cy="3170249"/>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a:t>Up to 15 read replicas.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a:t>Automatic failover to replicas.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a:t>Supports Aurora Global Database (replicate across regions with &lt;1 sec latency).</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a:t>Enables read scaling for analytics-heavy workloads.</a:t>
            </a:r>
          </a:p>
        </p:txBody>
      </p:sp>
      <p:sp>
        <p:nvSpPr>
          <p:cNvPr id="656" name="Google Shape;656;p38">
            <a:extLst>
              <a:ext uri="{FF2B5EF4-FFF2-40B4-BE49-F238E27FC236}">
                <a16:creationId xmlns:a16="http://schemas.microsoft.com/office/drawing/2014/main" id="{A901CD76-99D0-B6AF-37CF-590C57643DF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Aurora</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4D37EAE9-E70F-E0D2-9725-3A4BD49ABAF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AF6709AF-4D9F-8DF8-15F4-FCF9AC046CB4}"/>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928431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AF91DA70-E0E7-C4DE-9167-7C3BDCA94BFB}"/>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552D580D-8796-9CED-BDBD-C7989249BAE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11</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9D7ACA31-5FB9-F19C-490B-76FF309A53F4}"/>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a:t>On-demand, auto-scaling configuration.</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a:t>Ideal for variable or unpredictable workloads.</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a:t>Pay only for actual usage (per second).</a:t>
            </a:r>
          </a:p>
          <a:p>
            <a:pPr marL="425450" lvl="0" indent="-285750" algn="l" rtl="0">
              <a:lnSpc>
                <a:spcPct val="100000"/>
              </a:lnSpc>
              <a:spcBef>
                <a:spcPts val="750"/>
              </a:spcBef>
              <a:spcAft>
                <a:spcPts val="0"/>
              </a:spcAft>
              <a:buSzPts val="1400"/>
              <a:buFont typeface="Arial" panose="020B0604020202020204" pitchFamily="34" charset="0"/>
              <a:buChar char="•"/>
            </a:pPr>
            <a:r>
              <a:rPr lang="en-US" sz="1400"/>
              <a:t>Use cases: development/test DBs, spiky workloads.</a:t>
            </a:r>
            <a:endParaRPr lang="en-IN" sz="1100"/>
          </a:p>
        </p:txBody>
      </p:sp>
      <p:sp>
        <p:nvSpPr>
          <p:cNvPr id="656" name="Google Shape;656;p38">
            <a:extLst>
              <a:ext uri="{FF2B5EF4-FFF2-40B4-BE49-F238E27FC236}">
                <a16:creationId xmlns:a16="http://schemas.microsoft.com/office/drawing/2014/main" id="{3E8C4C44-29D7-42FE-D4FC-34C47F9CB38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Aurora Serverless</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406C38B5-3AB3-CAA6-4ABE-15357AE5CAF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425BDA1A-33E8-0FA5-BE7F-BFAEB3261D17}"/>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300388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4D650FBE-B00A-832F-06AD-7A9DC22DBED7}"/>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7BF0D5B8-301A-532E-D15F-605C0214A4F2}"/>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12</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FE2E5710-B237-F4BA-ECFB-8DED89E3C87E}"/>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US" sz="1400"/>
              <a:t>Aurora Babelfish</a:t>
            </a:r>
          </a:p>
          <a:p>
            <a:pPr marL="882650" lvl="1" indent="-285750">
              <a:lnSpc>
                <a:spcPct val="100000"/>
              </a:lnSpc>
              <a:spcBef>
                <a:spcPts val="750"/>
              </a:spcBef>
              <a:buSzPts val="1400"/>
              <a:buFont typeface="Arial" panose="020B0604020202020204" pitchFamily="34" charset="0"/>
              <a:buChar char="•"/>
            </a:pPr>
            <a:r>
              <a:rPr lang="en-IN" sz="1100"/>
              <a:t>Compatibility layer for Aurora PostgreSQL.</a:t>
            </a:r>
          </a:p>
          <a:p>
            <a:pPr marL="882650" lvl="1" indent="-285750">
              <a:lnSpc>
                <a:spcPct val="100000"/>
              </a:lnSpc>
              <a:spcBef>
                <a:spcPts val="750"/>
              </a:spcBef>
              <a:buSzPts val="1400"/>
              <a:buFont typeface="Arial" panose="020B0604020202020204" pitchFamily="34" charset="0"/>
              <a:buChar char="•"/>
            </a:pPr>
            <a:r>
              <a:rPr lang="en-IN" sz="1100"/>
              <a:t>Accepts SQL Server queries (T-SQL, Tabular Data Stream).</a:t>
            </a:r>
          </a:p>
          <a:p>
            <a:pPr marL="882650" lvl="1" indent="-285750">
              <a:lnSpc>
                <a:spcPct val="100000"/>
              </a:lnSpc>
              <a:spcBef>
                <a:spcPts val="750"/>
              </a:spcBef>
              <a:buSzPts val="1400"/>
              <a:buFont typeface="Arial" panose="020B0604020202020204" pitchFamily="34" charset="0"/>
              <a:buChar char="•"/>
            </a:pPr>
            <a:r>
              <a:rPr lang="en-IN" sz="1100"/>
              <a:t>Reduces migration complexity and cost from SQL Server to Aurora.</a:t>
            </a:r>
          </a:p>
          <a:p>
            <a:pPr marL="425450" lvl="0" indent="-285750" algn="l">
              <a:lnSpc>
                <a:spcPct val="100000"/>
              </a:lnSpc>
              <a:buSzPts val="1400"/>
              <a:buFont typeface="Arial" panose="020B0604020202020204" pitchFamily="34" charset="0"/>
              <a:buChar char="•"/>
            </a:pPr>
            <a:r>
              <a:rPr lang="en-US" sz="1400"/>
              <a:t>Aurora Backups</a:t>
            </a:r>
          </a:p>
          <a:p>
            <a:pPr marL="882650" lvl="1" indent="-285750">
              <a:lnSpc>
                <a:spcPct val="100000"/>
              </a:lnSpc>
              <a:spcBef>
                <a:spcPts val="750"/>
              </a:spcBef>
              <a:buSzPts val="1400"/>
              <a:buFont typeface="Arial" panose="020B0604020202020204" pitchFamily="34" charset="0"/>
              <a:buChar char="•"/>
            </a:pPr>
            <a:r>
              <a:rPr lang="en-US" sz="1100"/>
              <a:t>Continuous, incremental backups to S3.</a:t>
            </a:r>
          </a:p>
          <a:p>
            <a:pPr marL="882650" lvl="1" indent="-285750">
              <a:lnSpc>
                <a:spcPct val="100000"/>
              </a:lnSpc>
              <a:spcBef>
                <a:spcPts val="750"/>
              </a:spcBef>
              <a:buSzPts val="1400"/>
              <a:buFont typeface="Arial" panose="020B0604020202020204" pitchFamily="34" charset="0"/>
              <a:buChar char="•"/>
            </a:pPr>
            <a:r>
              <a:rPr lang="en-US" sz="1100"/>
              <a:t>No performance impact on running DB.</a:t>
            </a:r>
          </a:p>
          <a:p>
            <a:pPr marL="882650" lvl="1" indent="-285750">
              <a:lnSpc>
                <a:spcPct val="100000"/>
              </a:lnSpc>
              <a:spcBef>
                <a:spcPts val="750"/>
              </a:spcBef>
              <a:buSzPts val="1400"/>
              <a:buFont typeface="Arial" panose="020B0604020202020204" pitchFamily="34" charset="0"/>
              <a:buChar char="•"/>
            </a:pPr>
            <a:r>
              <a:rPr lang="en-US" sz="1100"/>
              <a:t>PITR supported.</a:t>
            </a:r>
          </a:p>
          <a:p>
            <a:pPr marL="882650" lvl="1" indent="-285750">
              <a:lnSpc>
                <a:spcPct val="100000"/>
              </a:lnSpc>
              <a:spcBef>
                <a:spcPts val="750"/>
              </a:spcBef>
              <a:buSzPts val="1400"/>
              <a:buFont typeface="Arial" panose="020B0604020202020204" pitchFamily="34" charset="0"/>
              <a:buChar char="•"/>
            </a:pPr>
            <a:r>
              <a:rPr lang="en-US" sz="1100"/>
              <a:t>Cross-region snapshot copy for DR.</a:t>
            </a:r>
            <a:endParaRPr lang="en-IN" sz="1100"/>
          </a:p>
        </p:txBody>
      </p:sp>
      <p:sp>
        <p:nvSpPr>
          <p:cNvPr id="656" name="Google Shape;656;p38">
            <a:extLst>
              <a:ext uri="{FF2B5EF4-FFF2-40B4-BE49-F238E27FC236}">
                <a16:creationId xmlns:a16="http://schemas.microsoft.com/office/drawing/2014/main" id="{0D9B0D57-3532-B72B-E700-C8C9B116C126}"/>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Aurora</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F700ACA0-E627-02A1-A24E-11E9558A1489}"/>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A116F16F-0FF1-9005-DA9F-BCAABFA0BAE5}"/>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528438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3">
          <a:extLst>
            <a:ext uri="{FF2B5EF4-FFF2-40B4-BE49-F238E27FC236}">
              <a16:creationId xmlns:a16="http://schemas.microsoft.com/office/drawing/2014/main" id="{F730B994-0145-F2C0-0289-9EE75ADA7FCE}"/>
            </a:ext>
          </a:extLst>
        </p:cNvPr>
        <p:cNvGrpSpPr/>
        <p:nvPr/>
      </p:nvGrpSpPr>
      <p:grpSpPr>
        <a:xfrm>
          <a:off x="0" y="0"/>
          <a:ext cx="0" cy="0"/>
          <a:chOff x="0" y="0"/>
          <a:chExt cx="0" cy="0"/>
        </a:xfrm>
      </p:grpSpPr>
      <p:sp>
        <p:nvSpPr>
          <p:cNvPr id="904" name="Google Shape;904;p63">
            <a:extLst>
              <a:ext uri="{FF2B5EF4-FFF2-40B4-BE49-F238E27FC236}">
                <a16:creationId xmlns:a16="http://schemas.microsoft.com/office/drawing/2014/main" id="{F40D1F45-ABFB-BDFE-CA8E-4AFB4B8607E4}"/>
              </a:ext>
            </a:extLst>
          </p:cNvPr>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sp>
        <p:nvSpPr>
          <p:cNvPr id="905" name="Google Shape;905;p63">
            <a:extLst>
              <a:ext uri="{FF2B5EF4-FFF2-40B4-BE49-F238E27FC236}">
                <a16:creationId xmlns:a16="http://schemas.microsoft.com/office/drawing/2014/main" id="{5E0A3E9D-C2F4-6E3D-FF07-23EF01C08FC5}"/>
              </a:ext>
            </a:extLst>
          </p:cNvPr>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100"/>
              <a:buNone/>
            </a:pPr>
            <a:r>
              <a:rPr lang="en-IN" sz="2800">
                <a:solidFill>
                  <a:schemeClr val="lt1"/>
                </a:solidFill>
                <a:latin typeface="Calibri"/>
                <a:ea typeface="Calibri"/>
                <a:cs typeface="Calibri"/>
                <a:sym typeface="Calibri"/>
              </a:rPr>
              <a:t>Amazon </a:t>
            </a:r>
            <a:r>
              <a:rPr lang="en-IN" sz="2800" err="1">
                <a:solidFill>
                  <a:schemeClr val="lt1"/>
                </a:solidFill>
                <a:latin typeface="Calibri"/>
                <a:ea typeface="Calibri"/>
                <a:cs typeface="Calibri"/>
                <a:sym typeface="Calibri"/>
              </a:rPr>
              <a:t>ElastiCache</a:t>
            </a:r>
            <a:endParaRPr sz="2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29106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E3EC055E-9B67-2AD5-481B-C20D8A3057D1}"/>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0E0BB9EF-CE93-9F90-CD63-A1C4A2773535}"/>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14</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087AD9AE-8CEA-5C5A-B974-F4AFF2ED59BE}"/>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Fully managed in-memory caching.</a:t>
            </a:r>
          </a:p>
          <a:p>
            <a:pPr marL="425450" indent="-285750" algn="l">
              <a:lnSpc>
                <a:spcPct val="100000"/>
              </a:lnSpc>
              <a:buSzPts val="1400"/>
              <a:buFont typeface="Arial" panose="020B0604020202020204" pitchFamily="34" charset="0"/>
              <a:buChar char="•"/>
            </a:pPr>
            <a:r>
              <a:rPr lang="en-US" sz="1400"/>
              <a:t>Sub-millisecond latency.</a:t>
            </a:r>
          </a:p>
          <a:p>
            <a:pPr marL="425450" indent="-285750" algn="l">
              <a:lnSpc>
                <a:spcPct val="100000"/>
              </a:lnSpc>
              <a:buSzPts val="1400"/>
              <a:buFont typeface="Arial" panose="020B0604020202020204" pitchFamily="34" charset="0"/>
              <a:buChar char="•"/>
            </a:pPr>
            <a:r>
              <a:rPr lang="en-US" sz="1400"/>
              <a:t>Supports Redis (advanced features) and Memcached (simple caching).</a:t>
            </a:r>
          </a:p>
          <a:p>
            <a:pPr marL="425450" indent="-285750" algn="l">
              <a:lnSpc>
                <a:spcPct val="100000"/>
              </a:lnSpc>
              <a:buSzPts val="1400"/>
              <a:buFont typeface="Arial" panose="020B0604020202020204" pitchFamily="34" charset="0"/>
              <a:buChar char="•"/>
            </a:pPr>
            <a:r>
              <a:rPr lang="en-US" sz="1400"/>
              <a:t>Use cases: session store, caching DB queries, real-time leaderboards.</a:t>
            </a:r>
            <a:endParaRPr lang="en-IN" sz="1100"/>
          </a:p>
        </p:txBody>
      </p:sp>
      <p:sp>
        <p:nvSpPr>
          <p:cNvPr id="656" name="Google Shape;656;p38">
            <a:extLst>
              <a:ext uri="{FF2B5EF4-FFF2-40B4-BE49-F238E27FC236}">
                <a16:creationId xmlns:a16="http://schemas.microsoft.com/office/drawing/2014/main" id="{22C58B3B-63A4-4D20-17ED-9CC2091F324F}"/>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a:t>
            </a:r>
            <a:r>
              <a:rPr lang="en-IN" sz="2340" err="1">
                <a:solidFill>
                  <a:schemeClr val="lt1"/>
                </a:solidFill>
                <a:latin typeface="Proxima Nova"/>
                <a:ea typeface="Proxima Nova"/>
                <a:cs typeface="Proxima Nova"/>
                <a:sym typeface="Proxima Nova"/>
              </a:rPr>
              <a:t>ElastiCache</a:t>
            </a:r>
            <a:r>
              <a:rPr lang="en-IN" sz="2340">
                <a:solidFill>
                  <a:schemeClr val="lt1"/>
                </a:solidFill>
                <a:latin typeface="Proxima Nova"/>
                <a:ea typeface="Proxima Nova"/>
                <a:cs typeface="Proxima Nova"/>
                <a:sym typeface="Proxima Nova"/>
              </a:rPr>
              <a:t> - Overview</a:t>
            </a:r>
          </a:p>
        </p:txBody>
      </p:sp>
      <p:sp>
        <p:nvSpPr>
          <p:cNvPr id="657" name="Google Shape;657;p38">
            <a:extLst>
              <a:ext uri="{FF2B5EF4-FFF2-40B4-BE49-F238E27FC236}">
                <a16:creationId xmlns:a16="http://schemas.microsoft.com/office/drawing/2014/main" id="{55BADBC1-236B-0097-FAB0-581FF552BD11}"/>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744B5262-B482-AE3C-588F-476C0687F377}"/>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166985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06082C8E-451F-7959-1021-3CAAF3174D57}"/>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65307142-5392-9EB6-5BEF-236FE8CAD335}"/>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15</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F070538C-EBD1-0488-42FB-6D449A7629AD}"/>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Redis supports data structures (sets, hashes → e.g., “user friends list”).</a:t>
            </a:r>
          </a:p>
          <a:p>
            <a:pPr marL="425450" indent="-285750" algn="l">
              <a:lnSpc>
                <a:spcPct val="100000"/>
              </a:lnSpc>
              <a:buSzPts val="1400"/>
              <a:buFont typeface="Arial" panose="020B0604020202020204" pitchFamily="34" charset="0"/>
              <a:buChar char="•"/>
            </a:pPr>
            <a:r>
              <a:rPr lang="en-US" sz="1400"/>
              <a:t>Redis persistence allows durable session stores.</a:t>
            </a:r>
          </a:p>
          <a:p>
            <a:pPr marL="425450" indent="-285750" algn="l">
              <a:lnSpc>
                <a:spcPct val="100000"/>
              </a:lnSpc>
              <a:buSzPts val="1400"/>
              <a:buFont typeface="Arial" panose="020B0604020202020204" pitchFamily="34" charset="0"/>
              <a:buChar char="•"/>
            </a:pPr>
            <a:r>
              <a:rPr lang="en-US" sz="1400"/>
              <a:t>Memcached is lightweight, faster setup, best for ephemeral cache.</a:t>
            </a:r>
            <a:endParaRPr lang="en-IN" sz="1100"/>
          </a:p>
        </p:txBody>
      </p:sp>
      <p:sp>
        <p:nvSpPr>
          <p:cNvPr id="656" name="Google Shape;656;p38">
            <a:extLst>
              <a:ext uri="{FF2B5EF4-FFF2-40B4-BE49-F238E27FC236}">
                <a16:creationId xmlns:a16="http://schemas.microsoft.com/office/drawing/2014/main" id="{32EEE5DE-F2AB-FA0C-910A-EA94F0ACB0C3}"/>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Redis vs Memcached</a:t>
            </a:r>
          </a:p>
        </p:txBody>
      </p:sp>
      <p:sp>
        <p:nvSpPr>
          <p:cNvPr id="657" name="Google Shape;657;p38">
            <a:extLst>
              <a:ext uri="{FF2B5EF4-FFF2-40B4-BE49-F238E27FC236}">
                <a16:creationId xmlns:a16="http://schemas.microsoft.com/office/drawing/2014/main" id="{F25F6317-283D-7FD5-2839-CC9BDB66917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4AEE2D0F-0831-813D-6DFE-26218FB4A093}"/>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397136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524CD807-2A26-E7E2-9255-2EDBC9519B17}"/>
            </a:ext>
          </a:extLst>
        </p:cNvPr>
        <p:cNvGrpSpPr/>
        <p:nvPr/>
      </p:nvGrpSpPr>
      <p:grpSpPr>
        <a:xfrm>
          <a:off x="0" y="0"/>
          <a:ext cx="0" cy="0"/>
          <a:chOff x="0" y="0"/>
          <a:chExt cx="0" cy="0"/>
        </a:xfrm>
      </p:grpSpPr>
      <p:sp>
        <p:nvSpPr>
          <p:cNvPr id="656" name="Google Shape;656;p38">
            <a:extLst>
              <a:ext uri="{FF2B5EF4-FFF2-40B4-BE49-F238E27FC236}">
                <a16:creationId xmlns:a16="http://schemas.microsoft.com/office/drawing/2014/main" id="{558B7C57-8D04-3E36-3447-D41BE7A1E337}"/>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Redis vs Memcached</a:t>
            </a:r>
          </a:p>
        </p:txBody>
      </p:sp>
      <p:sp>
        <p:nvSpPr>
          <p:cNvPr id="657" name="Google Shape;657;p38">
            <a:extLst>
              <a:ext uri="{FF2B5EF4-FFF2-40B4-BE49-F238E27FC236}">
                <a16:creationId xmlns:a16="http://schemas.microsoft.com/office/drawing/2014/main" id="{E638E9FA-2994-E181-6129-DB014AD878A5}"/>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3B72F729-B331-A2F1-04FF-FDC984421674}"/>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
        <p:nvSpPr>
          <p:cNvPr id="659" name="Google Shape;659;p38">
            <a:extLst>
              <a:ext uri="{FF2B5EF4-FFF2-40B4-BE49-F238E27FC236}">
                <a16:creationId xmlns:a16="http://schemas.microsoft.com/office/drawing/2014/main" id="{F620EB9F-3EDA-9F1B-518C-DC045C924203}"/>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16</a:t>
            </a:fld>
            <a:endParaRPr sz="900">
              <a:solidFill>
                <a:srgbClr val="FF0000"/>
              </a:solidFill>
              <a:latin typeface="Proxima Nova"/>
              <a:ea typeface="Proxima Nova"/>
              <a:cs typeface="Proxima Nova"/>
              <a:sym typeface="Proxima Nova"/>
            </a:endParaRPr>
          </a:p>
        </p:txBody>
      </p:sp>
      <p:graphicFrame>
        <p:nvGraphicFramePr>
          <p:cNvPr id="4" name="Table 3">
            <a:extLst>
              <a:ext uri="{FF2B5EF4-FFF2-40B4-BE49-F238E27FC236}">
                <a16:creationId xmlns:a16="http://schemas.microsoft.com/office/drawing/2014/main" id="{15E8EFAF-2C26-C08A-B3D9-CA277B17A244}"/>
              </a:ext>
            </a:extLst>
          </p:cNvPr>
          <p:cNvGraphicFramePr>
            <a:graphicFrameLocks noGrp="1"/>
          </p:cNvGraphicFramePr>
          <p:nvPr>
            <p:extLst>
              <p:ext uri="{D42A27DB-BD31-4B8C-83A1-F6EECF244321}">
                <p14:modId xmlns:p14="http://schemas.microsoft.com/office/powerpoint/2010/main" val="703287368"/>
              </p:ext>
            </p:extLst>
          </p:nvPr>
        </p:nvGraphicFramePr>
        <p:xfrm>
          <a:off x="628650" y="1873409"/>
          <a:ext cx="7886700" cy="2255520"/>
        </p:xfrm>
        <a:graphic>
          <a:graphicData uri="http://schemas.openxmlformats.org/drawingml/2006/table">
            <a:tbl>
              <a:tblPr>
                <a:tableStyleId>{284E427A-3D55-4303-BF80-6455036E1DE7}</a:tableStyleId>
              </a:tblPr>
              <a:tblGrid>
                <a:gridCol w="2628900">
                  <a:extLst>
                    <a:ext uri="{9D8B030D-6E8A-4147-A177-3AD203B41FA5}">
                      <a16:colId xmlns:a16="http://schemas.microsoft.com/office/drawing/2014/main" val="2893290845"/>
                    </a:ext>
                  </a:extLst>
                </a:gridCol>
                <a:gridCol w="2628900">
                  <a:extLst>
                    <a:ext uri="{9D8B030D-6E8A-4147-A177-3AD203B41FA5}">
                      <a16:colId xmlns:a16="http://schemas.microsoft.com/office/drawing/2014/main" val="2974635090"/>
                    </a:ext>
                  </a:extLst>
                </a:gridCol>
                <a:gridCol w="2628900">
                  <a:extLst>
                    <a:ext uri="{9D8B030D-6E8A-4147-A177-3AD203B41FA5}">
                      <a16:colId xmlns:a16="http://schemas.microsoft.com/office/drawing/2014/main" val="1075593542"/>
                    </a:ext>
                  </a:extLst>
                </a:gridCol>
              </a:tblGrid>
              <a:tr h="0">
                <a:tc>
                  <a:txBody>
                    <a:bodyPr/>
                    <a:lstStyle/>
                    <a:p>
                      <a:pPr>
                        <a:buNone/>
                      </a:pPr>
                      <a:r>
                        <a:rPr lang="en-IN"/>
                        <a:t>Feature</a:t>
                      </a:r>
                    </a:p>
                  </a:txBody>
                  <a:tcPr anchor="ctr"/>
                </a:tc>
                <a:tc>
                  <a:txBody>
                    <a:bodyPr/>
                    <a:lstStyle/>
                    <a:p>
                      <a:pPr>
                        <a:buNone/>
                      </a:pPr>
                      <a:r>
                        <a:rPr lang="en-IN"/>
                        <a:t>Redis</a:t>
                      </a:r>
                    </a:p>
                  </a:txBody>
                  <a:tcPr anchor="ctr"/>
                </a:tc>
                <a:tc>
                  <a:txBody>
                    <a:bodyPr/>
                    <a:lstStyle/>
                    <a:p>
                      <a:pPr>
                        <a:buNone/>
                      </a:pPr>
                      <a:r>
                        <a:rPr lang="en-IN"/>
                        <a:t>Memcached</a:t>
                      </a:r>
                    </a:p>
                  </a:txBody>
                  <a:tcPr anchor="ctr"/>
                </a:tc>
                <a:extLst>
                  <a:ext uri="{0D108BD9-81ED-4DB2-BD59-A6C34878D82A}">
                    <a16:rowId xmlns:a16="http://schemas.microsoft.com/office/drawing/2014/main" val="4220394708"/>
                  </a:ext>
                </a:extLst>
              </a:tr>
              <a:tr h="0">
                <a:tc>
                  <a:txBody>
                    <a:bodyPr/>
                    <a:lstStyle/>
                    <a:p>
                      <a:pPr>
                        <a:buNone/>
                      </a:pPr>
                      <a:r>
                        <a:rPr lang="en-IN"/>
                        <a:t>Data Structures</a:t>
                      </a:r>
                    </a:p>
                  </a:txBody>
                  <a:tcPr anchor="ctr"/>
                </a:tc>
                <a:tc>
                  <a:txBody>
                    <a:bodyPr/>
                    <a:lstStyle/>
                    <a:p>
                      <a:pPr>
                        <a:buNone/>
                      </a:pPr>
                      <a:r>
                        <a:rPr lang="en-US"/>
                        <a:t>Strings, lists, sets, sorted sets, hashes</a:t>
                      </a:r>
                    </a:p>
                  </a:txBody>
                  <a:tcPr anchor="ctr"/>
                </a:tc>
                <a:tc>
                  <a:txBody>
                    <a:bodyPr/>
                    <a:lstStyle/>
                    <a:p>
                      <a:pPr>
                        <a:buNone/>
                      </a:pPr>
                      <a:r>
                        <a:rPr lang="en-IN"/>
                        <a:t>Simple key-value</a:t>
                      </a:r>
                    </a:p>
                  </a:txBody>
                  <a:tcPr anchor="ctr"/>
                </a:tc>
                <a:extLst>
                  <a:ext uri="{0D108BD9-81ED-4DB2-BD59-A6C34878D82A}">
                    <a16:rowId xmlns:a16="http://schemas.microsoft.com/office/drawing/2014/main" val="592869184"/>
                  </a:ext>
                </a:extLst>
              </a:tr>
              <a:tr h="0">
                <a:tc>
                  <a:txBody>
                    <a:bodyPr/>
                    <a:lstStyle/>
                    <a:p>
                      <a:pPr>
                        <a:buNone/>
                      </a:pPr>
                      <a:r>
                        <a:rPr lang="en-IN"/>
                        <a:t>Persistence</a:t>
                      </a:r>
                    </a:p>
                  </a:txBody>
                  <a:tcPr anchor="ctr"/>
                </a:tc>
                <a:tc>
                  <a:txBody>
                    <a:bodyPr/>
                    <a:lstStyle/>
                    <a:p>
                      <a:pPr>
                        <a:buNone/>
                      </a:pPr>
                      <a:r>
                        <a:rPr lang="en-IN"/>
                        <a:t>Yes (snapshot, AOF)</a:t>
                      </a:r>
                    </a:p>
                  </a:txBody>
                  <a:tcPr anchor="ctr"/>
                </a:tc>
                <a:tc>
                  <a:txBody>
                    <a:bodyPr/>
                    <a:lstStyle/>
                    <a:p>
                      <a:pPr>
                        <a:buNone/>
                      </a:pPr>
                      <a:r>
                        <a:rPr lang="en-IN"/>
                        <a:t>No</a:t>
                      </a:r>
                    </a:p>
                  </a:txBody>
                  <a:tcPr anchor="ctr"/>
                </a:tc>
                <a:extLst>
                  <a:ext uri="{0D108BD9-81ED-4DB2-BD59-A6C34878D82A}">
                    <a16:rowId xmlns:a16="http://schemas.microsoft.com/office/drawing/2014/main" val="1544997494"/>
                  </a:ext>
                </a:extLst>
              </a:tr>
              <a:tr h="0">
                <a:tc>
                  <a:txBody>
                    <a:bodyPr/>
                    <a:lstStyle/>
                    <a:p>
                      <a:pPr>
                        <a:buNone/>
                      </a:pPr>
                      <a:r>
                        <a:rPr lang="en-IN"/>
                        <a:t>Pub/Sub Messaging</a:t>
                      </a:r>
                    </a:p>
                  </a:txBody>
                  <a:tcPr anchor="ctr"/>
                </a:tc>
                <a:tc>
                  <a:txBody>
                    <a:bodyPr/>
                    <a:lstStyle/>
                    <a:p>
                      <a:pPr>
                        <a:buNone/>
                      </a:pPr>
                      <a:r>
                        <a:rPr lang="en-IN"/>
                        <a:t>Yes</a:t>
                      </a:r>
                    </a:p>
                  </a:txBody>
                  <a:tcPr anchor="ctr"/>
                </a:tc>
                <a:tc>
                  <a:txBody>
                    <a:bodyPr/>
                    <a:lstStyle/>
                    <a:p>
                      <a:pPr>
                        <a:buNone/>
                      </a:pPr>
                      <a:r>
                        <a:rPr lang="en-IN"/>
                        <a:t>No</a:t>
                      </a:r>
                    </a:p>
                  </a:txBody>
                  <a:tcPr anchor="ctr"/>
                </a:tc>
                <a:extLst>
                  <a:ext uri="{0D108BD9-81ED-4DB2-BD59-A6C34878D82A}">
                    <a16:rowId xmlns:a16="http://schemas.microsoft.com/office/drawing/2014/main" val="996934015"/>
                  </a:ext>
                </a:extLst>
              </a:tr>
              <a:tr h="0">
                <a:tc>
                  <a:txBody>
                    <a:bodyPr/>
                    <a:lstStyle/>
                    <a:p>
                      <a:pPr>
                        <a:buNone/>
                      </a:pPr>
                      <a:r>
                        <a:rPr lang="en-IN"/>
                        <a:t>Scaling</a:t>
                      </a:r>
                    </a:p>
                  </a:txBody>
                  <a:tcPr anchor="ctr"/>
                </a:tc>
                <a:tc>
                  <a:txBody>
                    <a:bodyPr/>
                    <a:lstStyle/>
                    <a:p>
                      <a:pPr>
                        <a:buNone/>
                      </a:pPr>
                      <a:r>
                        <a:rPr lang="en-IN"/>
                        <a:t>Read replicas, clustering</a:t>
                      </a:r>
                    </a:p>
                  </a:txBody>
                  <a:tcPr anchor="ctr"/>
                </a:tc>
                <a:tc>
                  <a:txBody>
                    <a:bodyPr/>
                    <a:lstStyle/>
                    <a:p>
                      <a:pPr>
                        <a:buNone/>
                      </a:pPr>
                      <a:r>
                        <a:rPr lang="en-IN"/>
                        <a:t>Horizontal sharding</a:t>
                      </a:r>
                    </a:p>
                  </a:txBody>
                  <a:tcPr anchor="ctr"/>
                </a:tc>
                <a:extLst>
                  <a:ext uri="{0D108BD9-81ED-4DB2-BD59-A6C34878D82A}">
                    <a16:rowId xmlns:a16="http://schemas.microsoft.com/office/drawing/2014/main" val="891418504"/>
                  </a:ext>
                </a:extLst>
              </a:tr>
              <a:tr h="0">
                <a:tc>
                  <a:txBody>
                    <a:bodyPr/>
                    <a:lstStyle/>
                    <a:p>
                      <a:pPr>
                        <a:buNone/>
                      </a:pPr>
                      <a:r>
                        <a:rPr lang="en-IN"/>
                        <a:t>Use Cases</a:t>
                      </a:r>
                    </a:p>
                  </a:txBody>
                  <a:tcPr anchor="ctr"/>
                </a:tc>
                <a:tc>
                  <a:txBody>
                    <a:bodyPr/>
                    <a:lstStyle/>
                    <a:p>
                      <a:pPr>
                        <a:buNone/>
                      </a:pPr>
                      <a:r>
                        <a:rPr lang="en-IN"/>
                        <a:t>Leaderboards, session store, caching</a:t>
                      </a:r>
                    </a:p>
                  </a:txBody>
                  <a:tcPr anchor="ctr"/>
                </a:tc>
                <a:tc>
                  <a:txBody>
                    <a:bodyPr/>
                    <a:lstStyle/>
                    <a:p>
                      <a:pPr>
                        <a:buNone/>
                      </a:pPr>
                      <a:r>
                        <a:rPr lang="en-IN"/>
                        <a:t>Simple caching, ephemeral data</a:t>
                      </a:r>
                    </a:p>
                  </a:txBody>
                  <a:tcPr anchor="ctr"/>
                </a:tc>
                <a:extLst>
                  <a:ext uri="{0D108BD9-81ED-4DB2-BD59-A6C34878D82A}">
                    <a16:rowId xmlns:a16="http://schemas.microsoft.com/office/drawing/2014/main" val="3407221605"/>
                  </a:ext>
                </a:extLst>
              </a:tr>
            </a:tbl>
          </a:graphicData>
        </a:graphic>
      </p:graphicFrame>
    </p:spTree>
    <p:extLst>
      <p:ext uri="{BB962C8B-B14F-4D97-AF65-F5344CB8AC3E}">
        <p14:creationId xmlns:p14="http://schemas.microsoft.com/office/powerpoint/2010/main" val="3245276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508FC86E-4670-CC42-7724-43DBC0C3ED2B}"/>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2168E05C-B43F-1EA0-AB8E-E4CB1AC03B9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17</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6D0AA48A-0960-0038-EAC9-4EF09626B45C}"/>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Caching-aside (Lazy Loading): Application queries cache first; if miss → fetch DB → store in cache.</a:t>
            </a:r>
          </a:p>
          <a:p>
            <a:pPr marL="425450" indent="-285750" algn="l">
              <a:lnSpc>
                <a:spcPct val="100000"/>
              </a:lnSpc>
              <a:buSzPts val="1400"/>
              <a:buFont typeface="Arial" panose="020B0604020202020204" pitchFamily="34" charset="0"/>
              <a:buChar char="•"/>
            </a:pPr>
            <a:r>
              <a:rPr lang="en-US" sz="1400"/>
              <a:t>Write-through: Write goes to cache + DB simultaneously.</a:t>
            </a:r>
          </a:p>
          <a:p>
            <a:pPr marL="425450" indent="-285750" algn="l">
              <a:lnSpc>
                <a:spcPct val="100000"/>
              </a:lnSpc>
              <a:buSzPts val="1400"/>
              <a:buFont typeface="Arial" panose="020B0604020202020204" pitchFamily="34" charset="0"/>
              <a:buChar char="•"/>
            </a:pPr>
            <a:r>
              <a:rPr lang="en-US" sz="1400"/>
              <a:t>Session Store: Centralized, in-memory user sessions.</a:t>
            </a:r>
          </a:p>
          <a:p>
            <a:pPr marL="425450" indent="-285750" algn="l">
              <a:lnSpc>
                <a:spcPct val="100000"/>
              </a:lnSpc>
              <a:buSzPts val="1400"/>
              <a:buFont typeface="Arial" panose="020B0604020202020204" pitchFamily="34" charset="0"/>
              <a:buChar char="•"/>
            </a:pPr>
            <a:r>
              <a:rPr lang="en-US" sz="1400"/>
              <a:t>Real-time Analytics: Maintain counters, leaderboards, or live dashboards.</a:t>
            </a:r>
            <a:endParaRPr lang="en-IN" sz="1100"/>
          </a:p>
        </p:txBody>
      </p:sp>
      <p:sp>
        <p:nvSpPr>
          <p:cNvPr id="656" name="Google Shape;656;p38">
            <a:extLst>
              <a:ext uri="{FF2B5EF4-FFF2-40B4-BE49-F238E27FC236}">
                <a16:creationId xmlns:a16="http://schemas.microsoft.com/office/drawing/2014/main" id="{4FCA6BA9-F84B-7289-987E-AA3D54EEC12F}"/>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Patterns for </a:t>
            </a:r>
            <a:r>
              <a:rPr lang="en-IN" sz="2340" err="1">
                <a:solidFill>
                  <a:schemeClr val="lt1"/>
                </a:solidFill>
                <a:latin typeface="Proxima Nova"/>
                <a:ea typeface="Proxima Nova"/>
                <a:cs typeface="Proxima Nova"/>
                <a:sym typeface="Proxima Nova"/>
              </a:rPr>
              <a:t>ElastiCache</a:t>
            </a:r>
            <a:endParaRPr lang="en-IN" sz="2340">
              <a:solidFill>
                <a:schemeClr val="lt1"/>
              </a:solidFill>
              <a:latin typeface="Proxima Nova"/>
              <a:ea typeface="Proxima Nova"/>
              <a:cs typeface="Proxima Nova"/>
              <a:sym typeface="Proxima Nova"/>
            </a:endParaRPr>
          </a:p>
        </p:txBody>
      </p:sp>
      <p:sp>
        <p:nvSpPr>
          <p:cNvPr id="657" name="Google Shape;657;p38">
            <a:extLst>
              <a:ext uri="{FF2B5EF4-FFF2-40B4-BE49-F238E27FC236}">
                <a16:creationId xmlns:a16="http://schemas.microsoft.com/office/drawing/2014/main" id="{A7549A50-984F-C777-D2C1-61ED5A9A1C46}"/>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643EBF6A-B3F7-3931-B22E-944B8073370C}"/>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313175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3">
          <a:extLst>
            <a:ext uri="{FF2B5EF4-FFF2-40B4-BE49-F238E27FC236}">
              <a16:creationId xmlns:a16="http://schemas.microsoft.com/office/drawing/2014/main" id="{DC1601C6-E5F1-8AAD-DEE3-A17B24530905}"/>
            </a:ext>
          </a:extLst>
        </p:cNvPr>
        <p:cNvGrpSpPr/>
        <p:nvPr/>
      </p:nvGrpSpPr>
      <p:grpSpPr>
        <a:xfrm>
          <a:off x="0" y="0"/>
          <a:ext cx="0" cy="0"/>
          <a:chOff x="0" y="0"/>
          <a:chExt cx="0" cy="0"/>
        </a:xfrm>
      </p:grpSpPr>
      <p:sp>
        <p:nvSpPr>
          <p:cNvPr id="904" name="Google Shape;904;p63">
            <a:extLst>
              <a:ext uri="{FF2B5EF4-FFF2-40B4-BE49-F238E27FC236}">
                <a16:creationId xmlns:a16="http://schemas.microsoft.com/office/drawing/2014/main" id="{410529FF-46B9-CF5C-9BD0-1FA16FA86AA2}"/>
              </a:ext>
            </a:extLst>
          </p:cNvPr>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sp>
        <p:nvSpPr>
          <p:cNvPr id="905" name="Google Shape;905;p63">
            <a:extLst>
              <a:ext uri="{FF2B5EF4-FFF2-40B4-BE49-F238E27FC236}">
                <a16:creationId xmlns:a16="http://schemas.microsoft.com/office/drawing/2014/main" id="{286FB24B-8598-7744-024B-FC537E0A0377}"/>
              </a:ext>
            </a:extLst>
          </p:cNvPr>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100"/>
              <a:buNone/>
            </a:pPr>
            <a:r>
              <a:rPr lang="en-IN" sz="2800">
                <a:solidFill>
                  <a:schemeClr val="lt1"/>
                </a:solidFill>
                <a:latin typeface="Calibri"/>
                <a:ea typeface="Calibri"/>
                <a:cs typeface="Calibri"/>
                <a:sym typeface="Calibri"/>
              </a:rPr>
              <a:t>Amazon DynamoDB</a:t>
            </a:r>
            <a:endParaRPr sz="2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945408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4051D3DA-F49E-36D4-3670-BFC8127113A8}"/>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0597A534-3923-0B94-60AE-48C889E3183F}"/>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19</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2EA140C3-E9DD-5F96-0FD9-6F8788D03E57}"/>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Overview</a:t>
            </a:r>
          </a:p>
          <a:p>
            <a:pPr marL="882650" lvl="1" indent="-285750">
              <a:lnSpc>
                <a:spcPct val="100000"/>
              </a:lnSpc>
              <a:buSzPts val="1400"/>
              <a:buFont typeface="Arial" panose="020B0604020202020204" pitchFamily="34" charset="0"/>
              <a:buChar char="•"/>
            </a:pPr>
            <a:r>
              <a:rPr lang="en-US" sz="1400"/>
              <a:t>Fully managed NoSQL key-value store.</a:t>
            </a:r>
          </a:p>
          <a:p>
            <a:pPr marL="882650" lvl="1" indent="-285750">
              <a:lnSpc>
                <a:spcPct val="100000"/>
              </a:lnSpc>
              <a:buSzPts val="1400"/>
              <a:buFont typeface="Arial" panose="020B0604020202020204" pitchFamily="34" charset="0"/>
              <a:buChar char="•"/>
            </a:pPr>
            <a:r>
              <a:rPr lang="en-US" sz="1400"/>
              <a:t>Handles millions of requests per second.</a:t>
            </a:r>
          </a:p>
          <a:p>
            <a:pPr marL="882650" lvl="1" indent="-285750">
              <a:lnSpc>
                <a:spcPct val="100000"/>
              </a:lnSpc>
              <a:buSzPts val="1400"/>
              <a:buFont typeface="Arial" panose="020B0604020202020204" pitchFamily="34" charset="0"/>
              <a:buChar char="•"/>
            </a:pPr>
            <a:r>
              <a:rPr lang="en-US" sz="1400"/>
              <a:t>Built-in replication across AZs.</a:t>
            </a:r>
          </a:p>
          <a:p>
            <a:pPr marL="882650" lvl="1" indent="-285750">
              <a:lnSpc>
                <a:spcPct val="100000"/>
              </a:lnSpc>
              <a:buSzPts val="1400"/>
              <a:buFont typeface="Arial" panose="020B0604020202020204" pitchFamily="34" charset="0"/>
              <a:buChar char="•"/>
            </a:pPr>
            <a:r>
              <a:rPr lang="en-US" sz="1400"/>
              <a:t>Event-driven with DynamoDB Streams.</a:t>
            </a:r>
          </a:p>
          <a:p>
            <a:pPr marL="425450" indent="-285750" algn="l">
              <a:lnSpc>
                <a:spcPct val="100000"/>
              </a:lnSpc>
              <a:buSzPts val="1400"/>
              <a:buFont typeface="Arial" panose="020B0604020202020204" pitchFamily="34" charset="0"/>
              <a:buChar char="•"/>
            </a:pPr>
            <a:r>
              <a:rPr lang="en-US" sz="1400"/>
              <a:t>Read/Write Capacity Modes</a:t>
            </a:r>
          </a:p>
          <a:p>
            <a:pPr marL="882650" lvl="1" indent="-285750">
              <a:lnSpc>
                <a:spcPct val="100000"/>
              </a:lnSpc>
              <a:buSzPts val="1400"/>
              <a:buFont typeface="Arial" panose="020B0604020202020204" pitchFamily="34" charset="0"/>
              <a:buChar char="•"/>
            </a:pPr>
            <a:r>
              <a:rPr lang="en-US" sz="1400"/>
              <a:t>Provisioned Mode: Define RCUs/WCUs (cost-optimized for predictable traffic).</a:t>
            </a:r>
          </a:p>
          <a:p>
            <a:pPr marL="882650" lvl="1" indent="-285750">
              <a:lnSpc>
                <a:spcPct val="100000"/>
              </a:lnSpc>
              <a:buSzPts val="1400"/>
              <a:buFont typeface="Arial" panose="020B0604020202020204" pitchFamily="34" charset="0"/>
              <a:buChar char="•"/>
            </a:pPr>
            <a:r>
              <a:rPr lang="en-US" sz="1400"/>
              <a:t>On-Demand Mode: Auto scales with request load (best for unpredictable workloads).</a:t>
            </a:r>
            <a:endParaRPr lang="en-IN" sz="1100"/>
          </a:p>
        </p:txBody>
      </p:sp>
      <p:sp>
        <p:nvSpPr>
          <p:cNvPr id="656" name="Google Shape;656;p38">
            <a:extLst>
              <a:ext uri="{FF2B5EF4-FFF2-40B4-BE49-F238E27FC236}">
                <a16:creationId xmlns:a16="http://schemas.microsoft.com/office/drawing/2014/main" id="{F369B78D-76E2-B8C2-132B-9B969A259BC7}"/>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DynamoDB</a:t>
            </a:r>
          </a:p>
        </p:txBody>
      </p:sp>
      <p:sp>
        <p:nvSpPr>
          <p:cNvPr id="657" name="Google Shape;657;p38">
            <a:extLst>
              <a:ext uri="{FF2B5EF4-FFF2-40B4-BE49-F238E27FC236}">
                <a16:creationId xmlns:a16="http://schemas.microsoft.com/office/drawing/2014/main" id="{BB5852FF-0405-5877-DE35-4C7D0D372A3A}"/>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61E13377-C123-964C-AB4E-10F85430CC0F}"/>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480550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31E011E3-32E7-8ACD-D468-4F08E1E1DA89}"/>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46D763E9-3263-A312-FB5D-C772188B2CC3}"/>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20</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F5C43999-B98D-32D4-0F44-309908133836}"/>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In-memory cache (fully managed).</a:t>
            </a:r>
          </a:p>
          <a:p>
            <a:pPr marL="425450" indent="-285750" algn="l">
              <a:lnSpc>
                <a:spcPct val="100000"/>
              </a:lnSpc>
              <a:buSzPts val="1400"/>
              <a:buFont typeface="Arial" panose="020B0604020202020204" pitchFamily="34" charset="0"/>
              <a:buChar char="•"/>
            </a:pPr>
            <a:r>
              <a:rPr lang="en-US" sz="1400"/>
              <a:t>Reduces read times from milliseconds → microseconds.</a:t>
            </a:r>
          </a:p>
          <a:p>
            <a:pPr marL="425450" indent="-285750" algn="l">
              <a:lnSpc>
                <a:spcPct val="100000"/>
              </a:lnSpc>
              <a:buSzPts val="1400"/>
              <a:buFont typeface="Arial" panose="020B0604020202020204" pitchFamily="34" charset="0"/>
              <a:buChar char="•"/>
            </a:pPr>
            <a:r>
              <a:rPr lang="en-US" sz="1400"/>
              <a:t>Use case: gaming, real-time bidding, shopping carts.</a:t>
            </a:r>
            <a:endParaRPr lang="en-IN" sz="1100"/>
          </a:p>
        </p:txBody>
      </p:sp>
      <p:sp>
        <p:nvSpPr>
          <p:cNvPr id="656" name="Google Shape;656;p38">
            <a:extLst>
              <a:ext uri="{FF2B5EF4-FFF2-40B4-BE49-F238E27FC236}">
                <a16:creationId xmlns:a16="http://schemas.microsoft.com/office/drawing/2014/main" id="{3E5DDF06-FFA4-6C65-350F-1050039C026F}"/>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DynamoDB Accelerator (DAX)</a:t>
            </a:r>
          </a:p>
        </p:txBody>
      </p:sp>
      <p:sp>
        <p:nvSpPr>
          <p:cNvPr id="657" name="Google Shape;657;p38">
            <a:extLst>
              <a:ext uri="{FF2B5EF4-FFF2-40B4-BE49-F238E27FC236}">
                <a16:creationId xmlns:a16="http://schemas.microsoft.com/office/drawing/2014/main" id="{8A0303AB-4E9F-76C5-AC93-176BAF8D7F6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F7AC8A43-04A2-BCFC-8F2B-1822303BBFEF}"/>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147405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A42150F3-24A1-63EA-67EB-63FF6DC7EA8A}"/>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25D3F605-3938-F61E-D737-A12D009C7F24}"/>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21</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44A0324B-BD7E-6514-ED1C-ADE1CAACB0B8}"/>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DynamoDB Streams capture item-level changes.</a:t>
            </a:r>
          </a:p>
          <a:p>
            <a:pPr marL="425450" indent="-285750" algn="l">
              <a:lnSpc>
                <a:spcPct val="100000"/>
              </a:lnSpc>
              <a:buSzPts val="1400"/>
              <a:buFont typeface="Arial" panose="020B0604020202020204" pitchFamily="34" charset="0"/>
              <a:buChar char="•"/>
            </a:pPr>
            <a:r>
              <a:rPr lang="en-US" sz="1400"/>
              <a:t>Triggers AWS Lambda, Kinesis, or analytics pipelines.</a:t>
            </a:r>
          </a:p>
          <a:p>
            <a:pPr marL="425450" indent="-285750" algn="l">
              <a:lnSpc>
                <a:spcPct val="100000"/>
              </a:lnSpc>
              <a:buSzPts val="1400"/>
              <a:buFont typeface="Arial" panose="020B0604020202020204" pitchFamily="34" charset="0"/>
              <a:buChar char="•"/>
            </a:pPr>
            <a:r>
              <a:rPr lang="en-US" sz="1400"/>
              <a:t>Use case: auditing, notifications, data pipelines.</a:t>
            </a:r>
            <a:endParaRPr lang="en-IN" sz="1100"/>
          </a:p>
        </p:txBody>
      </p:sp>
      <p:sp>
        <p:nvSpPr>
          <p:cNvPr id="656" name="Google Shape;656;p38">
            <a:extLst>
              <a:ext uri="{FF2B5EF4-FFF2-40B4-BE49-F238E27FC236}">
                <a16:creationId xmlns:a16="http://schemas.microsoft.com/office/drawing/2014/main" id="{605EB54C-F3C3-EF38-7C4F-8A6A4B6C5528}"/>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Stream Processing</a:t>
            </a:r>
          </a:p>
        </p:txBody>
      </p:sp>
      <p:sp>
        <p:nvSpPr>
          <p:cNvPr id="657" name="Google Shape;657;p38">
            <a:extLst>
              <a:ext uri="{FF2B5EF4-FFF2-40B4-BE49-F238E27FC236}">
                <a16:creationId xmlns:a16="http://schemas.microsoft.com/office/drawing/2014/main" id="{C4551E3A-5543-2D96-FDF7-0632816345A3}"/>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885ED929-1EA5-A08F-3999-7FA871C1D8BA}"/>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24063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5CD39DC7-1308-3724-E82B-BF483300779E}"/>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46BB697A-553B-664C-BC51-8165C9CE37D8}"/>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22</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C9DB178E-DD2C-7D8A-BE23-5EDA99098BAA}"/>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On-Demand Backups: User-triggered, long-term retention.</a:t>
            </a:r>
          </a:p>
          <a:p>
            <a:pPr marL="425450" indent="-285750" algn="l">
              <a:lnSpc>
                <a:spcPct val="100000"/>
              </a:lnSpc>
              <a:buSzPts val="1400"/>
              <a:buFont typeface="Arial" panose="020B0604020202020204" pitchFamily="34" charset="0"/>
              <a:buChar char="•"/>
            </a:pPr>
            <a:r>
              <a:rPr lang="en-US" sz="1400"/>
              <a:t>PITR: Restores data within last 35 days.</a:t>
            </a:r>
          </a:p>
          <a:p>
            <a:pPr marL="425450" indent="-285750" algn="l">
              <a:lnSpc>
                <a:spcPct val="100000"/>
              </a:lnSpc>
              <a:buSzPts val="1400"/>
              <a:buFont typeface="Arial" panose="020B0604020202020204" pitchFamily="34" charset="0"/>
              <a:buChar char="•"/>
            </a:pPr>
            <a:r>
              <a:rPr lang="en-US" sz="1400"/>
              <a:t>Supports compliance &amp; DR readiness.</a:t>
            </a:r>
            <a:endParaRPr lang="en-IN" sz="1100"/>
          </a:p>
        </p:txBody>
      </p:sp>
      <p:sp>
        <p:nvSpPr>
          <p:cNvPr id="656" name="Google Shape;656;p38">
            <a:extLst>
              <a:ext uri="{FF2B5EF4-FFF2-40B4-BE49-F238E27FC236}">
                <a16:creationId xmlns:a16="http://schemas.microsoft.com/office/drawing/2014/main" id="{E0FB2D28-3A0C-6FD1-77AC-E6AAEEF9F6D0}"/>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Backups for Disaster Recovery</a:t>
            </a:r>
          </a:p>
        </p:txBody>
      </p:sp>
      <p:sp>
        <p:nvSpPr>
          <p:cNvPr id="657" name="Google Shape;657;p38">
            <a:extLst>
              <a:ext uri="{FF2B5EF4-FFF2-40B4-BE49-F238E27FC236}">
                <a16:creationId xmlns:a16="http://schemas.microsoft.com/office/drawing/2014/main" id="{BCACC652-C919-EF2B-0AF8-F8845869757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7F1E0118-F6FA-A993-A379-6491DDB4C1FB}"/>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633189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3">
          <a:extLst>
            <a:ext uri="{FF2B5EF4-FFF2-40B4-BE49-F238E27FC236}">
              <a16:creationId xmlns:a16="http://schemas.microsoft.com/office/drawing/2014/main" id="{0BBA2155-B725-F9B3-F1FD-A7684DB7DBF0}"/>
            </a:ext>
          </a:extLst>
        </p:cNvPr>
        <p:cNvGrpSpPr/>
        <p:nvPr/>
      </p:nvGrpSpPr>
      <p:grpSpPr>
        <a:xfrm>
          <a:off x="0" y="0"/>
          <a:ext cx="0" cy="0"/>
          <a:chOff x="0" y="0"/>
          <a:chExt cx="0" cy="0"/>
        </a:xfrm>
      </p:grpSpPr>
      <p:sp>
        <p:nvSpPr>
          <p:cNvPr id="904" name="Google Shape;904;p63">
            <a:extLst>
              <a:ext uri="{FF2B5EF4-FFF2-40B4-BE49-F238E27FC236}">
                <a16:creationId xmlns:a16="http://schemas.microsoft.com/office/drawing/2014/main" id="{A3027C17-09A5-9B86-322B-61955B6D02C5}"/>
              </a:ext>
            </a:extLst>
          </p:cNvPr>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sp>
        <p:nvSpPr>
          <p:cNvPr id="905" name="Google Shape;905;p63">
            <a:extLst>
              <a:ext uri="{FF2B5EF4-FFF2-40B4-BE49-F238E27FC236}">
                <a16:creationId xmlns:a16="http://schemas.microsoft.com/office/drawing/2014/main" id="{CD036593-5CEA-E490-E80A-75C2A8508740}"/>
              </a:ext>
            </a:extLst>
          </p:cNvPr>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100"/>
              <a:buNone/>
            </a:pPr>
            <a:r>
              <a:rPr lang="en-IN" sz="2800">
                <a:solidFill>
                  <a:schemeClr val="lt1"/>
                </a:solidFill>
                <a:latin typeface="Calibri"/>
                <a:ea typeface="Calibri"/>
                <a:cs typeface="Calibri"/>
                <a:sym typeface="Calibri"/>
              </a:rPr>
              <a:t>Specialised Databases</a:t>
            </a:r>
            <a:endParaRPr sz="2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339050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95196502-6E70-6419-2764-6CB052ED711A}"/>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13709984-1B11-8489-1B0C-B788E23C6AC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24</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861EC147-E048-8986-7B6C-44F94E49BAAF}"/>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MongoDB-compatible.</a:t>
            </a:r>
          </a:p>
          <a:p>
            <a:pPr marL="425450" indent="-285750" algn="l">
              <a:lnSpc>
                <a:spcPct val="100000"/>
              </a:lnSpc>
              <a:buSzPts val="1400"/>
              <a:buFont typeface="Arial" panose="020B0604020202020204" pitchFamily="34" charset="0"/>
              <a:buChar char="•"/>
            </a:pPr>
            <a:r>
              <a:rPr lang="en-US" sz="1400"/>
              <a:t>Ideal for semi-structured JSON data.</a:t>
            </a:r>
          </a:p>
          <a:p>
            <a:pPr marL="425450" indent="-285750" algn="l">
              <a:lnSpc>
                <a:spcPct val="100000"/>
              </a:lnSpc>
              <a:buSzPts val="1400"/>
              <a:buFont typeface="Arial" panose="020B0604020202020204" pitchFamily="34" charset="0"/>
              <a:buChar char="•"/>
            </a:pPr>
            <a:r>
              <a:rPr lang="en-US" sz="1400"/>
              <a:t>Use cases: product catalogs, CMS, profile stores.</a:t>
            </a:r>
            <a:endParaRPr lang="en-IN" sz="1100"/>
          </a:p>
        </p:txBody>
      </p:sp>
      <p:sp>
        <p:nvSpPr>
          <p:cNvPr id="656" name="Google Shape;656;p38">
            <a:extLst>
              <a:ext uri="{FF2B5EF4-FFF2-40B4-BE49-F238E27FC236}">
                <a16:creationId xmlns:a16="http://schemas.microsoft.com/office/drawing/2014/main" id="{08DCD7FF-86EB-24DD-F760-D3A6B1E3BC6E}"/>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err="1">
                <a:solidFill>
                  <a:schemeClr val="lt1"/>
                </a:solidFill>
                <a:latin typeface="Proxima Nova"/>
                <a:ea typeface="Proxima Nova"/>
                <a:cs typeface="Proxima Nova"/>
                <a:sym typeface="Proxima Nova"/>
              </a:rPr>
              <a:t>DocumentDB</a:t>
            </a:r>
            <a:endParaRPr lang="en-IN" sz="2340">
              <a:solidFill>
                <a:schemeClr val="lt1"/>
              </a:solidFill>
              <a:latin typeface="Proxima Nova"/>
              <a:ea typeface="Proxima Nova"/>
              <a:cs typeface="Proxima Nova"/>
              <a:sym typeface="Proxima Nova"/>
            </a:endParaRPr>
          </a:p>
        </p:txBody>
      </p:sp>
      <p:sp>
        <p:nvSpPr>
          <p:cNvPr id="657" name="Google Shape;657;p38">
            <a:extLst>
              <a:ext uri="{FF2B5EF4-FFF2-40B4-BE49-F238E27FC236}">
                <a16:creationId xmlns:a16="http://schemas.microsoft.com/office/drawing/2014/main" id="{C95DF894-0453-CB7D-42FC-E18239C4966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9754CCA8-3EA0-6A5E-388B-493434EFFDBB}"/>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283090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3E1298C2-51DC-51DD-E94B-00E73A50E084}"/>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6B5850B9-BE10-F358-CC87-0A38A5E2B50F}"/>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25</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9AC18F8F-1972-9F49-F576-CDCCC23B4B6F}"/>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Graph database, supports Gremlin (Property Graph) and SPARQL (RDF).</a:t>
            </a:r>
          </a:p>
          <a:p>
            <a:pPr marL="425450" indent="-285750" algn="l">
              <a:lnSpc>
                <a:spcPct val="100000"/>
              </a:lnSpc>
              <a:buSzPts val="1400"/>
              <a:buFont typeface="Arial" panose="020B0604020202020204" pitchFamily="34" charset="0"/>
              <a:buChar char="•"/>
            </a:pPr>
            <a:r>
              <a:rPr lang="en-US" sz="1400"/>
              <a:t>Optimized for relationships.</a:t>
            </a:r>
          </a:p>
          <a:p>
            <a:pPr marL="425450" indent="-285750" algn="l">
              <a:lnSpc>
                <a:spcPct val="100000"/>
              </a:lnSpc>
              <a:buSzPts val="1400"/>
              <a:buFont typeface="Arial" panose="020B0604020202020204" pitchFamily="34" charset="0"/>
              <a:buChar char="•"/>
            </a:pPr>
            <a:r>
              <a:rPr lang="en-US" sz="1400"/>
              <a:t>Use cases: fraud detection, recommendation engines, knowledge graphs.</a:t>
            </a:r>
            <a:endParaRPr lang="en-IN" sz="1100"/>
          </a:p>
        </p:txBody>
      </p:sp>
      <p:sp>
        <p:nvSpPr>
          <p:cNvPr id="656" name="Google Shape;656;p38">
            <a:extLst>
              <a:ext uri="{FF2B5EF4-FFF2-40B4-BE49-F238E27FC236}">
                <a16:creationId xmlns:a16="http://schemas.microsoft.com/office/drawing/2014/main" id="{EA2EE74B-188E-D1B7-8299-BF7703F12833}"/>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Neptune</a:t>
            </a:r>
          </a:p>
        </p:txBody>
      </p:sp>
      <p:sp>
        <p:nvSpPr>
          <p:cNvPr id="657" name="Google Shape;657;p38">
            <a:extLst>
              <a:ext uri="{FF2B5EF4-FFF2-40B4-BE49-F238E27FC236}">
                <a16:creationId xmlns:a16="http://schemas.microsoft.com/office/drawing/2014/main" id="{729BA044-CA78-86B9-2308-2A7EFB813F96}"/>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4FFFEA45-F0BE-4914-0ADB-B3D08CFD834C}"/>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0548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86DD1B4D-CDDD-625E-B410-4E047B427F58}"/>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DADC7C29-EEEA-8691-0077-09DC06F593A6}"/>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26</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8519DCA7-31F7-741D-8E69-397F1AADC0BE}"/>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Managed Apache Cassandra service.</a:t>
            </a:r>
          </a:p>
          <a:p>
            <a:pPr marL="425450" indent="-285750" algn="l">
              <a:lnSpc>
                <a:spcPct val="100000"/>
              </a:lnSpc>
              <a:buSzPts val="1400"/>
              <a:buFont typeface="Arial" panose="020B0604020202020204" pitchFamily="34" charset="0"/>
              <a:buChar char="•"/>
            </a:pPr>
            <a:r>
              <a:rPr lang="en-US" sz="1400"/>
              <a:t>Linearly scalable, high availability.</a:t>
            </a:r>
          </a:p>
          <a:p>
            <a:pPr marL="425450" indent="-285750" algn="l">
              <a:lnSpc>
                <a:spcPct val="100000"/>
              </a:lnSpc>
              <a:buSzPts val="1400"/>
              <a:buFont typeface="Arial" panose="020B0604020202020204" pitchFamily="34" charset="0"/>
              <a:buChar char="•"/>
            </a:pPr>
            <a:r>
              <a:rPr lang="en-US" sz="1400"/>
              <a:t>Use cases: IoT telemetry, time-series workloads.</a:t>
            </a:r>
            <a:endParaRPr lang="en-IN" sz="1100"/>
          </a:p>
        </p:txBody>
      </p:sp>
      <p:sp>
        <p:nvSpPr>
          <p:cNvPr id="656" name="Google Shape;656;p38">
            <a:extLst>
              <a:ext uri="{FF2B5EF4-FFF2-40B4-BE49-F238E27FC236}">
                <a16:creationId xmlns:a16="http://schemas.microsoft.com/office/drawing/2014/main" id="{80FDF52D-2FCB-289F-1C02-542B44A512BE}"/>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Keyspaces</a:t>
            </a:r>
          </a:p>
        </p:txBody>
      </p:sp>
      <p:sp>
        <p:nvSpPr>
          <p:cNvPr id="657" name="Google Shape;657;p38">
            <a:extLst>
              <a:ext uri="{FF2B5EF4-FFF2-40B4-BE49-F238E27FC236}">
                <a16:creationId xmlns:a16="http://schemas.microsoft.com/office/drawing/2014/main" id="{C694D9E1-0F46-FCBD-A1BF-4E467CA98CB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8717F584-4ACE-F70D-1842-E3E5C4585C11}"/>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509322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50F21AE8-3F3E-B3FC-2C3E-432052896DB2}"/>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0C6F7A51-7561-4FC4-0A0C-91902E2D34EE}"/>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27</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1C3501FF-4760-4A84-CC2F-0B44211F4A7C}"/>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Purpose-built time-series DB.</a:t>
            </a:r>
          </a:p>
          <a:p>
            <a:pPr marL="425450" indent="-285750" algn="l">
              <a:lnSpc>
                <a:spcPct val="100000"/>
              </a:lnSpc>
              <a:buSzPts val="1400"/>
              <a:buFont typeface="Arial" panose="020B0604020202020204" pitchFamily="34" charset="0"/>
              <a:buChar char="•"/>
            </a:pPr>
            <a:r>
              <a:rPr lang="en-US" sz="1400"/>
              <a:t>Stores trillions of events daily.</a:t>
            </a:r>
          </a:p>
          <a:p>
            <a:pPr marL="425450" indent="-285750" algn="l">
              <a:lnSpc>
                <a:spcPct val="100000"/>
              </a:lnSpc>
              <a:buSzPts val="1400"/>
              <a:buFont typeface="Arial" panose="020B0604020202020204" pitchFamily="34" charset="0"/>
              <a:buChar char="•"/>
            </a:pPr>
            <a:r>
              <a:rPr lang="en-US" sz="1400"/>
              <a:t>Built-in analytics functions (time-window queries).</a:t>
            </a:r>
          </a:p>
          <a:p>
            <a:pPr marL="425450" indent="-285750" algn="l">
              <a:lnSpc>
                <a:spcPct val="100000"/>
              </a:lnSpc>
              <a:buSzPts val="1400"/>
              <a:buFont typeface="Arial" panose="020B0604020202020204" pitchFamily="34" charset="0"/>
              <a:buChar char="•"/>
            </a:pPr>
            <a:r>
              <a:rPr lang="en-US" sz="1400"/>
              <a:t>Use cases: IoT sensors, DevOps metrics, monitoring.</a:t>
            </a:r>
            <a:endParaRPr lang="en-IN" sz="1100"/>
          </a:p>
        </p:txBody>
      </p:sp>
      <p:sp>
        <p:nvSpPr>
          <p:cNvPr id="656" name="Google Shape;656;p38">
            <a:extLst>
              <a:ext uri="{FF2B5EF4-FFF2-40B4-BE49-F238E27FC236}">
                <a16:creationId xmlns:a16="http://schemas.microsoft.com/office/drawing/2014/main" id="{0118070D-0104-73BD-8408-162D1DFD124D}"/>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Timestream</a:t>
            </a:r>
          </a:p>
        </p:txBody>
      </p:sp>
      <p:sp>
        <p:nvSpPr>
          <p:cNvPr id="657" name="Google Shape;657;p38">
            <a:extLst>
              <a:ext uri="{FF2B5EF4-FFF2-40B4-BE49-F238E27FC236}">
                <a16:creationId xmlns:a16="http://schemas.microsoft.com/office/drawing/2014/main" id="{0586CABC-D762-18C7-AAE8-B62FDA7A1422}"/>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5546BCDF-C0E0-0322-1283-C211078ABA81}"/>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816569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03">
          <a:extLst>
            <a:ext uri="{FF2B5EF4-FFF2-40B4-BE49-F238E27FC236}">
              <a16:creationId xmlns:a16="http://schemas.microsoft.com/office/drawing/2014/main" id="{B4D7CEB6-A174-4347-6739-31A43CEC7A7B}"/>
            </a:ext>
          </a:extLst>
        </p:cNvPr>
        <p:cNvGrpSpPr/>
        <p:nvPr/>
      </p:nvGrpSpPr>
      <p:grpSpPr>
        <a:xfrm>
          <a:off x="0" y="0"/>
          <a:ext cx="0" cy="0"/>
          <a:chOff x="0" y="0"/>
          <a:chExt cx="0" cy="0"/>
        </a:xfrm>
      </p:grpSpPr>
      <p:sp>
        <p:nvSpPr>
          <p:cNvPr id="904" name="Google Shape;904;p63">
            <a:extLst>
              <a:ext uri="{FF2B5EF4-FFF2-40B4-BE49-F238E27FC236}">
                <a16:creationId xmlns:a16="http://schemas.microsoft.com/office/drawing/2014/main" id="{47038702-F03D-47DC-01F3-C9CD40850C43}"/>
              </a:ext>
            </a:extLst>
          </p:cNvPr>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28</a:t>
            </a:fld>
            <a:endParaRPr sz="900">
              <a:latin typeface="Proxima Nova"/>
              <a:ea typeface="Proxima Nova"/>
              <a:cs typeface="Proxima Nova"/>
              <a:sym typeface="Proxima Nova"/>
            </a:endParaRPr>
          </a:p>
        </p:txBody>
      </p:sp>
      <p:sp>
        <p:nvSpPr>
          <p:cNvPr id="905" name="Google Shape;905;p63">
            <a:extLst>
              <a:ext uri="{FF2B5EF4-FFF2-40B4-BE49-F238E27FC236}">
                <a16:creationId xmlns:a16="http://schemas.microsoft.com/office/drawing/2014/main" id="{27EEF902-DAA0-6D91-E9CB-4F594CFEF3FE}"/>
              </a:ext>
            </a:extLst>
          </p:cNvPr>
          <p:cNvSpPr txBox="1"/>
          <p:nvPr/>
        </p:nvSpPr>
        <p:spPr>
          <a:xfrm>
            <a:off x="2099169" y="2310150"/>
            <a:ext cx="4945662" cy="523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100"/>
              <a:buNone/>
            </a:pPr>
            <a:r>
              <a:rPr lang="en-IN" sz="2800">
                <a:solidFill>
                  <a:schemeClr val="lt1"/>
                </a:solidFill>
                <a:latin typeface="Calibri"/>
                <a:ea typeface="Calibri"/>
                <a:cs typeface="Calibri"/>
                <a:sym typeface="Calibri"/>
              </a:rPr>
              <a:t>Analytics and Data Processing</a:t>
            </a:r>
            <a:endParaRPr sz="2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726620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74DE1220-C391-0770-51C6-25EC354BBF9E}"/>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07BB5AE6-6AA5-A250-499C-BCD8002BFAAD}"/>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29</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AD3C77BE-8948-855E-EA73-112C85680F46}"/>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Serverless SQL queries on S3 data.</a:t>
            </a:r>
          </a:p>
          <a:p>
            <a:pPr marL="425450" indent="-285750" algn="l">
              <a:lnSpc>
                <a:spcPct val="100000"/>
              </a:lnSpc>
              <a:buSzPts val="1400"/>
              <a:buFont typeface="Arial" panose="020B0604020202020204" pitchFamily="34" charset="0"/>
              <a:buChar char="•"/>
            </a:pPr>
            <a:r>
              <a:rPr lang="en-US" sz="1400"/>
              <a:t>Supports standard SQL (Presto engine).</a:t>
            </a:r>
          </a:p>
          <a:p>
            <a:pPr marL="425450" indent="-285750" algn="l">
              <a:lnSpc>
                <a:spcPct val="100000"/>
              </a:lnSpc>
              <a:buSzPts val="1400"/>
              <a:buFont typeface="Arial" panose="020B0604020202020204" pitchFamily="34" charset="0"/>
              <a:buChar char="•"/>
            </a:pPr>
            <a:r>
              <a:rPr lang="en-US" sz="1400"/>
              <a:t>Pay only per query scanned.</a:t>
            </a:r>
          </a:p>
          <a:p>
            <a:pPr marL="425450" indent="-285750" algn="l">
              <a:lnSpc>
                <a:spcPct val="100000"/>
              </a:lnSpc>
              <a:buSzPts val="1400"/>
              <a:buFont typeface="Arial" panose="020B0604020202020204" pitchFamily="34" charset="0"/>
              <a:buChar char="•"/>
            </a:pPr>
            <a:r>
              <a:rPr lang="en-US" sz="1400"/>
              <a:t>Use cases: ad-hoc analytics, log queries.</a:t>
            </a:r>
            <a:endParaRPr lang="en-IN" sz="1100"/>
          </a:p>
        </p:txBody>
      </p:sp>
      <p:sp>
        <p:nvSpPr>
          <p:cNvPr id="656" name="Google Shape;656;p38">
            <a:extLst>
              <a:ext uri="{FF2B5EF4-FFF2-40B4-BE49-F238E27FC236}">
                <a16:creationId xmlns:a16="http://schemas.microsoft.com/office/drawing/2014/main" id="{12AADBEE-3287-CE80-E6BE-042D2A4EEE59}"/>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Athena</a:t>
            </a:r>
          </a:p>
        </p:txBody>
      </p:sp>
      <p:sp>
        <p:nvSpPr>
          <p:cNvPr id="657" name="Google Shape;657;p38">
            <a:extLst>
              <a:ext uri="{FF2B5EF4-FFF2-40B4-BE49-F238E27FC236}">
                <a16:creationId xmlns:a16="http://schemas.microsoft.com/office/drawing/2014/main" id="{61CA4DED-14A1-55AC-4701-6C15AB4EF973}"/>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26236F46-E8E8-EF06-778F-2E5D25B449FA}"/>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757842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196388F0-8D96-AD9D-8C67-DCEF9039DF36}"/>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BB8D0693-264E-B66F-957F-66A8FD759567}"/>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30</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C1F4A4C4-5471-ACBF-4FAD-02049CFBDAF0}"/>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Managed Hadoop, Spark, Hive, Presto.</a:t>
            </a:r>
          </a:p>
          <a:p>
            <a:pPr marL="425450" indent="-285750" algn="l">
              <a:lnSpc>
                <a:spcPct val="100000"/>
              </a:lnSpc>
              <a:buSzPts val="1400"/>
              <a:buFont typeface="Arial" panose="020B0604020202020204" pitchFamily="34" charset="0"/>
              <a:buChar char="•"/>
            </a:pPr>
            <a:r>
              <a:rPr lang="en-US" sz="1400"/>
              <a:t>Scales clusters up/down.</a:t>
            </a:r>
          </a:p>
          <a:p>
            <a:pPr marL="425450" indent="-285750" algn="l">
              <a:lnSpc>
                <a:spcPct val="100000"/>
              </a:lnSpc>
              <a:buSzPts val="1400"/>
              <a:buFont typeface="Arial" panose="020B0604020202020204" pitchFamily="34" charset="0"/>
              <a:buChar char="•"/>
            </a:pPr>
            <a:r>
              <a:rPr lang="en-US" sz="1400"/>
              <a:t>Use cases: big data, machine learning, ETL workloads.</a:t>
            </a:r>
            <a:endParaRPr lang="en-IN" sz="1100"/>
          </a:p>
        </p:txBody>
      </p:sp>
      <p:sp>
        <p:nvSpPr>
          <p:cNvPr id="656" name="Google Shape;656;p38">
            <a:extLst>
              <a:ext uri="{FF2B5EF4-FFF2-40B4-BE49-F238E27FC236}">
                <a16:creationId xmlns:a16="http://schemas.microsoft.com/office/drawing/2014/main" id="{59B0482C-187E-BCAD-8314-CAD0DF0041F7}"/>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EMR</a:t>
            </a:r>
          </a:p>
        </p:txBody>
      </p:sp>
      <p:sp>
        <p:nvSpPr>
          <p:cNvPr id="657" name="Google Shape;657;p38">
            <a:extLst>
              <a:ext uri="{FF2B5EF4-FFF2-40B4-BE49-F238E27FC236}">
                <a16:creationId xmlns:a16="http://schemas.microsoft.com/office/drawing/2014/main" id="{9A26D768-5041-ED91-6DC1-6AF89DE848D9}"/>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086CFC85-5EED-375A-B442-13DC579FDA2D}"/>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918531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62889D4C-D92C-8AD3-BFE4-97CB30268D4F}"/>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656FF2EE-CA33-DD26-2146-2AC125196FF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31</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BAB6EE85-099E-94DC-24BE-5AC2D1F1D52A}"/>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Cloud-native BI tool.</a:t>
            </a:r>
          </a:p>
          <a:p>
            <a:pPr marL="425450" indent="-285750" algn="l">
              <a:lnSpc>
                <a:spcPct val="100000"/>
              </a:lnSpc>
              <a:buSzPts val="1400"/>
              <a:buFont typeface="Arial" panose="020B0604020202020204" pitchFamily="34" charset="0"/>
              <a:buChar char="•"/>
            </a:pPr>
            <a:r>
              <a:rPr lang="en-US" sz="1400"/>
              <a:t>ML-powered insights.</a:t>
            </a:r>
          </a:p>
          <a:p>
            <a:pPr marL="425450" indent="-285750" algn="l">
              <a:lnSpc>
                <a:spcPct val="100000"/>
              </a:lnSpc>
              <a:buSzPts val="1400"/>
              <a:buFont typeface="Arial" panose="020B0604020202020204" pitchFamily="34" charset="0"/>
              <a:buChar char="•"/>
            </a:pPr>
            <a:r>
              <a:rPr lang="en-US" sz="1400"/>
              <a:t>Pay-per-session pricing.</a:t>
            </a:r>
          </a:p>
          <a:p>
            <a:pPr marL="425450" indent="-285750" algn="l">
              <a:lnSpc>
                <a:spcPct val="100000"/>
              </a:lnSpc>
              <a:buSzPts val="1400"/>
              <a:buFont typeface="Arial" panose="020B0604020202020204" pitchFamily="34" charset="0"/>
              <a:buChar char="•"/>
            </a:pPr>
            <a:r>
              <a:rPr lang="en-US" sz="1400"/>
              <a:t>Use cases: dashboards, data exploration.</a:t>
            </a:r>
            <a:endParaRPr lang="en-IN" sz="1100"/>
          </a:p>
        </p:txBody>
      </p:sp>
      <p:sp>
        <p:nvSpPr>
          <p:cNvPr id="656" name="Google Shape;656;p38">
            <a:extLst>
              <a:ext uri="{FF2B5EF4-FFF2-40B4-BE49-F238E27FC236}">
                <a16:creationId xmlns:a16="http://schemas.microsoft.com/office/drawing/2014/main" id="{7AAF1C4D-4FF4-0199-AF9A-59583AD893BA}"/>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a:t>
            </a:r>
            <a:r>
              <a:rPr lang="en-IN" sz="2340" err="1">
                <a:solidFill>
                  <a:schemeClr val="lt1"/>
                </a:solidFill>
                <a:latin typeface="Proxima Nova"/>
                <a:ea typeface="Proxima Nova"/>
                <a:cs typeface="Proxima Nova"/>
                <a:sym typeface="Proxima Nova"/>
              </a:rPr>
              <a:t>QuickSight</a:t>
            </a:r>
            <a:endParaRPr lang="en-IN" sz="2340">
              <a:solidFill>
                <a:schemeClr val="lt1"/>
              </a:solidFill>
              <a:latin typeface="Proxima Nova"/>
              <a:ea typeface="Proxima Nova"/>
              <a:cs typeface="Proxima Nova"/>
              <a:sym typeface="Proxima Nova"/>
            </a:endParaRPr>
          </a:p>
        </p:txBody>
      </p:sp>
      <p:sp>
        <p:nvSpPr>
          <p:cNvPr id="657" name="Google Shape;657;p38">
            <a:extLst>
              <a:ext uri="{FF2B5EF4-FFF2-40B4-BE49-F238E27FC236}">
                <a16:creationId xmlns:a16="http://schemas.microsoft.com/office/drawing/2014/main" id="{D81D380C-C06F-A029-29F8-4048384BFBB0}"/>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D35AC800-2502-7822-3498-17F8BBE845B9}"/>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830783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E2F572AF-0CCF-815A-7F5F-629799B3F80C}"/>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0D1B246E-5452-7CF7-F219-A600141F8715}"/>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32</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94AD6302-A22A-8D4A-E6C2-FECFF4062FC9}"/>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Serverless ETL &amp; Data Catalog.</a:t>
            </a:r>
          </a:p>
          <a:p>
            <a:pPr marL="425450" indent="-285750" algn="l">
              <a:lnSpc>
                <a:spcPct val="100000"/>
              </a:lnSpc>
              <a:buSzPts val="1400"/>
              <a:buFont typeface="Arial" panose="020B0604020202020204" pitchFamily="34" charset="0"/>
              <a:buChar char="•"/>
            </a:pPr>
            <a:r>
              <a:rPr lang="en-US" sz="1400"/>
              <a:t>Integrates with S3, Athena, Redshift.</a:t>
            </a:r>
          </a:p>
          <a:p>
            <a:pPr marL="425450" indent="-285750" algn="l">
              <a:lnSpc>
                <a:spcPct val="100000"/>
              </a:lnSpc>
              <a:buSzPts val="1400"/>
              <a:buFont typeface="Arial" panose="020B0604020202020204" pitchFamily="34" charset="0"/>
              <a:buChar char="•"/>
            </a:pPr>
            <a:r>
              <a:rPr lang="en-US" sz="1400"/>
              <a:t>Use cases: cleaning, preparing, transforming datasets.</a:t>
            </a:r>
            <a:endParaRPr lang="en-IN" sz="1100"/>
          </a:p>
        </p:txBody>
      </p:sp>
      <p:sp>
        <p:nvSpPr>
          <p:cNvPr id="656" name="Google Shape;656;p38">
            <a:extLst>
              <a:ext uri="{FF2B5EF4-FFF2-40B4-BE49-F238E27FC236}">
                <a16:creationId xmlns:a16="http://schemas.microsoft.com/office/drawing/2014/main" id="{46BA5370-EB99-B170-0FEA-FE4E3FFBCF55}"/>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AWS Glue</a:t>
            </a:r>
          </a:p>
        </p:txBody>
      </p:sp>
      <p:sp>
        <p:nvSpPr>
          <p:cNvPr id="657" name="Google Shape;657;p38">
            <a:extLst>
              <a:ext uri="{FF2B5EF4-FFF2-40B4-BE49-F238E27FC236}">
                <a16:creationId xmlns:a16="http://schemas.microsoft.com/office/drawing/2014/main" id="{2B86263A-9B9D-7F81-D28D-D2A8069BD1E5}"/>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C84BFE28-135F-6D25-1B59-828611E6118C}"/>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0432096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AE285D1B-F354-B010-081C-B8D9F603B063}"/>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860D083C-77A3-90AA-3996-13CA206B6403}"/>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33</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537D0A3D-D095-DA32-0854-45A469D30CD0}"/>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Builds data lakes on S3.</a:t>
            </a:r>
          </a:p>
          <a:p>
            <a:pPr marL="425450" indent="-285750" algn="l">
              <a:lnSpc>
                <a:spcPct val="100000"/>
              </a:lnSpc>
              <a:buSzPts val="1400"/>
              <a:buFont typeface="Arial" panose="020B0604020202020204" pitchFamily="34" charset="0"/>
              <a:buChar char="•"/>
            </a:pPr>
            <a:r>
              <a:rPr lang="en-US" sz="1400"/>
              <a:t>Simplifies ingestion, security, governance.</a:t>
            </a:r>
          </a:p>
          <a:p>
            <a:pPr marL="425450" indent="-285750" algn="l">
              <a:lnSpc>
                <a:spcPct val="100000"/>
              </a:lnSpc>
              <a:buSzPts val="1400"/>
              <a:buFont typeface="Arial" panose="020B0604020202020204" pitchFamily="34" charset="0"/>
              <a:buChar char="•"/>
            </a:pPr>
            <a:r>
              <a:rPr lang="en-US" sz="1400"/>
              <a:t>Centralized data catalog + permissions.</a:t>
            </a:r>
            <a:endParaRPr lang="en-IN" sz="1100"/>
          </a:p>
        </p:txBody>
      </p:sp>
      <p:sp>
        <p:nvSpPr>
          <p:cNvPr id="656" name="Google Shape;656;p38">
            <a:extLst>
              <a:ext uri="{FF2B5EF4-FFF2-40B4-BE49-F238E27FC236}">
                <a16:creationId xmlns:a16="http://schemas.microsoft.com/office/drawing/2014/main" id="{0FED272C-942D-EFCE-2979-AD51DB276159}"/>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AWS Lake Formation</a:t>
            </a:r>
          </a:p>
        </p:txBody>
      </p:sp>
      <p:sp>
        <p:nvSpPr>
          <p:cNvPr id="657" name="Google Shape;657;p38">
            <a:extLst>
              <a:ext uri="{FF2B5EF4-FFF2-40B4-BE49-F238E27FC236}">
                <a16:creationId xmlns:a16="http://schemas.microsoft.com/office/drawing/2014/main" id="{6D176A1A-347D-70DD-CDE7-92B947C8290F}"/>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9FFC9DF1-3C2F-2CB7-6153-BFB504DA971E}"/>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930146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3F690B84-5F41-A5A7-7F73-F73BD60ADEBE}"/>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9A7AA9EB-7C17-4638-7F1A-212C6167B00E}"/>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34</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1C335CD6-8678-DE59-F3BC-EBCB0FD579FD}"/>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indent="-285750" algn="l">
              <a:lnSpc>
                <a:spcPct val="100000"/>
              </a:lnSpc>
              <a:buSzPts val="1400"/>
              <a:buFont typeface="Arial" panose="020B0604020202020204" pitchFamily="34" charset="0"/>
              <a:buChar char="•"/>
            </a:pPr>
            <a:r>
              <a:rPr lang="en-US" sz="1400"/>
              <a:t>Managed Kafka.</a:t>
            </a:r>
          </a:p>
          <a:p>
            <a:pPr marL="425450" indent="-285750" algn="l">
              <a:lnSpc>
                <a:spcPct val="100000"/>
              </a:lnSpc>
              <a:buSzPts val="1400"/>
              <a:buFont typeface="Arial" panose="020B0604020202020204" pitchFamily="34" charset="0"/>
              <a:buChar char="•"/>
            </a:pPr>
            <a:r>
              <a:rPr lang="en-US" sz="1400"/>
              <a:t>Durable, scalable event streaming.</a:t>
            </a:r>
          </a:p>
          <a:p>
            <a:pPr marL="425450" indent="-285750" algn="l">
              <a:lnSpc>
                <a:spcPct val="100000"/>
              </a:lnSpc>
              <a:buSzPts val="1400"/>
              <a:buFont typeface="Arial" panose="020B0604020202020204" pitchFamily="34" charset="0"/>
              <a:buChar char="•"/>
            </a:pPr>
            <a:r>
              <a:rPr lang="en-US" sz="1400"/>
              <a:t>Use cases: streaming analytics, event-driven apps, IoT pipelines.</a:t>
            </a:r>
            <a:endParaRPr lang="en-IN" sz="1100"/>
          </a:p>
        </p:txBody>
      </p:sp>
      <p:sp>
        <p:nvSpPr>
          <p:cNvPr id="656" name="Google Shape;656;p38">
            <a:extLst>
              <a:ext uri="{FF2B5EF4-FFF2-40B4-BE49-F238E27FC236}">
                <a16:creationId xmlns:a16="http://schemas.microsoft.com/office/drawing/2014/main" id="{4F834C18-0535-5F57-15BF-E4B2F5F8BE4E}"/>
              </a:ext>
            </a:extLst>
          </p:cNvPr>
          <p:cNvSpPr txBox="1"/>
          <p:nvPr/>
        </p:nvSpPr>
        <p:spPr>
          <a:xfrm>
            <a:off x="385994" y="126216"/>
            <a:ext cx="525166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Amazon MSK</a:t>
            </a:r>
          </a:p>
        </p:txBody>
      </p:sp>
      <p:sp>
        <p:nvSpPr>
          <p:cNvPr id="657" name="Google Shape;657;p38">
            <a:extLst>
              <a:ext uri="{FF2B5EF4-FFF2-40B4-BE49-F238E27FC236}">
                <a16:creationId xmlns:a16="http://schemas.microsoft.com/office/drawing/2014/main" id="{F9F733BF-353F-FC5F-DBFC-17CB73740A58}"/>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6F72D9B7-E20D-5261-6538-545B896A9967}"/>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4038382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6" name="Google Shape;646;p37"/>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Database Types in AWS</a:t>
            </a:r>
            <a:endParaRPr sz="1800">
              <a:solidFill>
                <a:schemeClr val="dk1"/>
              </a:solidFill>
              <a:latin typeface="Calibri"/>
              <a:ea typeface="Calibri"/>
              <a:cs typeface="Calibri"/>
              <a:sym typeface="Calibri"/>
            </a:endParaRPr>
          </a:p>
        </p:txBody>
      </p:sp>
      <p:sp>
        <p:nvSpPr>
          <p:cNvPr id="647" name="Google Shape;647;p37"/>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
        <p:nvSpPr>
          <p:cNvPr id="649" name="Google Shape;649;p37"/>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35</a:t>
            </a:fld>
            <a:endParaRPr sz="900">
              <a:solidFill>
                <a:srgbClr val="FF0000"/>
              </a:solidFill>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6C833799-0B1E-EB47-9E42-CCBA242C6555}"/>
              </a:ext>
            </a:extLst>
          </p:cNvPr>
          <p:cNvGraphicFramePr>
            <a:graphicFrameLocks noGrp="1"/>
          </p:cNvGraphicFramePr>
          <p:nvPr/>
        </p:nvGraphicFramePr>
        <p:xfrm>
          <a:off x="1010652" y="1112570"/>
          <a:ext cx="7067692" cy="3269270"/>
        </p:xfrm>
        <a:graphic>
          <a:graphicData uri="http://schemas.openxmlformats.org/drawingml/2006/table">
            <a:tbl>
              <a:tblPr>
                <a:tableStyleId>{284E427A-3D55-4303-BF80-6455036E1DE7}</a:tableStyleId>
              </a:tblPr>
              <a:tblGrid>
                <a:gridCol w="1766923">
                  <a:extLst>
                    <a:ext uri="{9D8B030D-6E8A-4147-A177-3AD203B41FA5}">
                      <a16:colId xmlns:a16="http://schemas.microsoft.com/office/drawing/2014/main" val="2642370630"/>
                    </a:ext>
                  </a:extLst>
                </a:gridCol>
                <a:gridCol w="1766923">
                  <a:extLst>
                    <a:ext uri="{9D8B030D-6E8A-4147-A177-3AD203B41FA5}">
                      <a16:colId xmlns:a16="http://schemas.microsoft.com/office/drawing/2014/main" val="1008725282"/>
                    </a:ext>
                  </a:extLst>
                </a:gridCol>
                <a:gridCol w="1766923">
                  <a:extLst>
                    <a:ext uri="{9D8B030D-6E8A-4147-A177-3AD203B41FA5}">
                      <a16:colId xmlns:a16="http://schemas.microsoft.com/office/drawing/2014/main" val="2698226521"/>
                    </a:ext>
                  </a:extLst>
                </a:gridCol>
                <a:gridCol w="1766923">
                  <a:extLst>
                    <a:ext uri="{9D8B030D-6E8A-4147-A177-3AD203B41FA5}">
                      <a16:colId xmlns:a16="http://schemas.microsoft.com/office/drawing/2014/main" val="531208088"/>
                    </a:ext>
                  </a:extLst>
                </a:gridCol>
              </a:tblGrid>
              <a:tr h="142459">
                <a:tc>
                  <a:txBody>
                    <a:bodyPr/>
                    <a:lstStyle/>
                    <a:p>
                      <a:pPr>
                        <a:buNone/>
                      </a:pPr>
                      <a:r>
                        <a:rPr lang="en-IN" sz="700" b="1"/>
                        <a:t>Category</a:t>
                      </a:r>
                    </a:p>
                  </a:txBody>
                  <a:tcPr marL="42738" marR="42738" marT="21369" marB="21369" anchor="ctr"/>
                </a:tc>
                <a:tc>
                  <a:txBody>
                    <a:bodyPr/>
                    <a:lstStyle/>
                    <a:p>
                      <a:pPr>
                        <a:buNone/>
                      </a:pPr>
                      <a:r>
                        <a:rPr lang="en-IN" sz="700" b="1"/>
                        <a:t>AWS Service(s)</a:t>
                      </a:r>
                    </a:p>
                  </a:txBody>
                  <a:tcPr marL="42738" marR="42738" marT="21369" marB="21369" anchor="ctr"/>
                </a:tc>
                <a:tc>
                  <a:txBody>
                    <a:bodyPr/>
                    <a:lstStyle/>
                    <a:p>
                      <a:pPr>
                        <a:buNone/>
                      </a:pPr>
                      <a:r>
                        <a:rPr lang="en-IN" sz="700" b="1"/>
                        <a:t>Description</a:t>
                      </a:r>
                    </a:p>
                  </a:txBody>
                  <a:tcPr marL="42738" marR="42738" marT="21369" marB="21369" anchor="ctr"/>
                </a:tc>
                <a:tc>
                  <a:txBody>
                    <a:bodyPr/>
                    <a:lstStyle/>
                    <a:p>
                      <a:pPr>
                        <a:buNone/>
                      </a:pPr>
                      <a:r>
                        <a:rPr lang="en-IN" sz="700" b="1"/>
                        <a:t>Use Case</a:t>
                      </a:r>
                    </a:p>
                  </a:txBody>
                  <a:tcPr marL="42738" marR="42738" marT="21369" marB="21369" anchor="ctr"/>
                </a:tc>
                <a:extLst>
                  <a:ext uri="{0D108BD9-81ED-4DB2-BD59-A6C34878D82A}">
                    <a16:rowId xmlns:a16="http://schemas.microsoft.com/office/drawing/2014/main" val="1725171423"/>
                  </a:ext>
                </a:extLst>
              </a:tr>
              <a:tr h="441623">
                <a:tc rowSpan="2">
                  <a:txBody>
                    <a:bodyPr/>
                    <a:lstStyle/>
                    <a:p>
                      <a:pPr>
                        <a:buNone/>
                      </a:pPr>
                      <a:r>
                        <a:rPr lang="en-IN" sz="700" b="1"/>
                        <a:t>Relational (SQL)</a:t>
                      </a:r>
                      <a:endParaRPr lang="en-IN" sz="700"/>
                    </a:p>
                  </a:txBody>
                  <a:tcPr marL="42738" marR="42738" marT="21369" marB="21369" anchor="ctr"/>
                </a:tc>
                <a:tc>
                  <a:txBody>
                    <a:bodyPr/>
                    <a:lstStyle/>
                    <a:p>
                      <a:pPr>
                        <a:buNone/>
                      </a:pPr>
                      <a:r>
                        <a:rPr lang="en-IN" sz="700"/>
                        <a:t>Amazon RDS (MySQL, PostgreSQL, MariaDB, SQL Server, Oracle)</a:t>
                      </a:r>
                    </a:p>
                  </a:txBody>
                  <a:tcPr marL="42738" marR="42738" marT="21369" marB="21369" anchor="ctr"/>
                </a:tc>
                <a:tc>
                  <a:txBody>
                    <a:bodyPr/>
                    <a:lstStyle/>
                    <a:p>
                      <a:pPr>
                        <a:buNone/>
                      </a:pPr>
                      <a:r>
                        <a:rPr lang="en-IN" sz="700"/>
                        <a:t>Managed relational DB</a:t>
                      </a:r>
                    </a:p>
                  </a:txBody>
                  <a:tcPr marL="42738" marR="42738" marT="21369" marB="21369" anchor="ctr"/>
                </a:tc>
                <a:tc>
                  <a:txBody>
                    <a:bodyPr/>
                    <a:lstStyle/>
                    <a:p>
                      <a:pPr>
                        <a:buNone/>
                      </a:pPr>
                      <a:r>
                        <a:rPr lang="en-IN" sz="700"/>
                        <a:t>OLTP, ERP, CRM apps</a:t>
                      </a:r>
                    </a:p>
                  </a:txBody>
                  <a:tcPr marL="42738" marR="42738" marT="21369" marB="21369" anchor="ctr"/>
                </a:tc>
                <a:extLst>
                  <a:ext uri="{0D108BD9-81ED-4DB2-BD59-A6C34878D82A}">
                    <a16:rowId xmlns:a16="http://schemas.microsoft.com/office/drawing/2014/main" val="2419626313"/>
                  </a:ext>
                </a:extLst>
              </a:tr>
              <a:tr h="441623">
                <a:tc vMerge="1">
                  <a:txBody>
                    <a:bodyPr/>
                    <a:lstStyle/>
                    <a:p>
                      <a:pPr>
                        <a:buNone/>
                      </a:pPr>
                      <a:endParaRPr lang="en-IN" sz="700"/>
                    </a:p>
                  </a:txBody>
                  <a:tcPr marL="42738" marR="42738" marT="21369" marB="21369" anchor="ctr"/>
                </a:tc>
                <a:tc>
                  <a:txBody>
                    <a:bodyPr/>
                    <a:lstStyle/>
                    <a:p>
                      <a:pPr>
                        <a:buNone/>
                      </a:pPr>
                      <a:r>
                        <a:rPr lang="en-IN" sz="700"/>
                        <a:t>Amazon Aurora (MySQL &amp; PostgreSQL-compatible)</a:t>
                      </a:r>
                    </a:p>
                  </a:txBody>
                  <a:tcPr marL="42738" marR="42738" marT="21369" marB="21369" anchor="ctr"/>
                </a:tc>
                <a:tc>
                  <a:txBody>
                    <a:bodyPr/>
                    <a:lstStyle/>
                    <a:p>
                      <a:pPr>
                        <a:buNone/>
                      </a:pPr>
                      <a:r>
                        <a:rPr lang="en-IN" sz="700"/>
                        <a:t>Cloud-native relational DB, high-performance</a:t>
                      </a:r>
                    </a:p>
                  </a:txBody>
                  <a:tcPr marL="42738" marR="42738" marT="21369" marB="21369" anchor="ctr"/>
                </a:tc>
                <a:tc>
                  <a:txBody>
                    <a:bodyPr/>
                    <a:lstStyle/>
                    <a:p>
                      <a:pPr>
                        <a:buNone/>
                      </a:pPr>
                      <a:r>
                        <a:rPr lang="en-IN" sz="700"/>
                        <a:t>High-availability OLTP, SaaS apps</a:t>
                      </a:r>
                    </a:p>
                  </a:txBody>
                  <a:tcPr marL="42738" marR="42738" marT="21369" marB="21369" anchor="ctr"/>
                </a:tc>
                <a:extLst>
                  <a:ext uri="{0D108BD9-81ED-4DB2-BD59-A6C34878D82A}">
                    <a16:rowId xmlns:a16="http://schemas.microsoft.com/office/drawing/2014/main" val="692401163"/>
                  </a:ext>
                </a:extLst>
              </a:tr>
              <a:tr h="242180">
                <a:tc>
                  <a:txBody>
                    <a:bodyPr/>
                    <a:lstStyle/>
                    <a:p>
                      <a:pPr>
                        <a:buNone/>
                      </a:pPr>
                      <a:r>
                        <a:rPr lang="en-IN" sz="700" b="1"/>
                        <a:t>Key-Value / NoSQL</a:t>
                      </a:r>
                      <a:endParaRPr lang="en-IN" sz="700"/>
                    </a:p>
                  </a:txBody>
                  <a:tcPr marL="42738" marR="42738" marT="21369" marB="21369" anchor="ctr"/>
                </a:tc>
                <a:tc>
                  <a:txBody>
                    <a:bodyPr/>
                    <a:lstStyle/>
                    <a:p>
                      <a:pPr>
                        <a:buNone/>
                      </a:pPr>
                      <a:r>
                        <a:rPr lang="en-IN" sz="700"/>
                        <a:t>Amazon DynamoDB</a:t>
                      </a:r>
                    </a:p>
                  </a:txBody>
                  <a:tcPr marL="42738" marR="42738" marT="21369" marB="21369" anchor="ctr"/>
                </a:tc>
                <a:tc>
                  <a:txBody>
                    <a:bodyPr/>
                    <a:lstStyle/>
                    <a:p>
                      <a:pPr>
                        <a:buNone/>
                      </a:pPr>
                      <a:r>
                        <a:rPr lang="en-IN" sz="700"/>
                        <a:t>Fully managed, serverless, NoSQL</a:t>
                      </a:r>
                    </a:p>
                  </a:txBody>
                  <a:tcPr marL="42738" marR="42738" marT="21369" marB="21369" anchor="ctr"/>
                </a:tc>
                <a:tc>
                  <a:txBody>
                    <a:bodyPr/>
                    <a:lstStyle/>
                    <a:p>
                      <a:pPr>
                        <a:buNone/>
                      </a:pPr>
                      <a:r>
                        <a:rPr lang="en-IN" sz="700"/>
                        <a:t>Gaming, IoT, high-traffic apps</a:t>
                      </a:r>
                    </a:p>
                  </a:txBody>
                  <a:tcPr marL="42738" marR="42738" marT="21369" marB="21369" anchor="ctr"/>
                </a:tc>
                <a:extLst>
                  <a:ext uri="{0D108BD9-81ED-4DB2-BD59-A6C34878D82A}">
                    <a16:rowId xmlns:a16="http://schemas.microsoft.com/office/drawing/2014/main" val="2066396008"/>
                  </a:ext>
                </a:extLst>
              </a:tr>
              <a:tr h="341902">
                <a:tc>
                  <a:txBody>
                    <a:bodyPr/>
                    <a:lstStyle/>
                    <a:p>
                      <a:pPr>
                        <a:buNone/>
                      </a:pPr>
                      <a:r>
                        <a:rPr lang="en-IN" sz="700" b="1"/>
                        <a:t>In-Memory</a:t>
                      </a:r>
                      <a:endParaRPr lang="en-IN" sz="700"/>
                    </a:p>
                  </a:txBody>
                  <a:tcPr marL="42738" marR="42738" marT="21369" marB="21369" anchor="ctr"/>
                </a:tc>
                <a:tc>
                  <a:txBody>
                    <a:bodyPr/>
                    <a:lstStyle/>
                    <a:p>
                      <a:pPr>
                        <a:buNone/>
                      </a:pPr>
                      <a:r>
                        <a:rPr lang="en-IN" sz="700"/>
                        <a:t>Amazon ElastiCache (Redis, Memcached)</a:t>
                      </a:r>
                    </a:p>
                  </a:txBody>
                  <a:tcPr marL="42738" marR="42738" marT="21369" marB="21369" anchor="ctr"/>
                </a:tc>
                <a:tc>
                  <a:txBody>
                    <a:bodyPr/>
                    <a:lstStyle/>
                    <a:p>
                      <a:pPr>
                        <a:buNone/>
                      </a:pPr>
                      <a:r>
                        <a:rPr lang="en-IN" sz="700"/>
                        <a:t>Sub-millisecond caching</a:t>
                      </a:r>
                    </a:p>
                  </a:txBody>
                  <a:tcPr marL="42738" marR="42738" marT="21369" marB="21369" anchor="ctr"/>
                </a:tc>
                <a:tc>
                  <a:txBody>
                    <a:bodyPr/>
                    <a:lstStyle/>
                    <a:p>
                      <a:pPr>
                        <a:buNone/>
                      </a:pPr>
                      <a:r>
                        <a:rPr lang="en-US" sz="700"/>
                        <a:t>Session store, caching, real-time leaderboard</a:t>
                      </a:r>
                    </a:p>
                  </a:txBody>
                  <a:tcPr marL="42738" marR="42738" marT="21369" marB="21369" anchor="ctr"/>
                </a:tc>
                <a:extLst>
                  <a:ext uri="{0D108BD9-81ED-4DB2-BD59-A6C34878D82A}">
                    <a16:rowId xmlns:a16="http://schemas.microsoft.com/office/drawing/2014/main" val="1861980291"/>
                  </a:ext>
                </a:extLst>
              </a:tr>
              <a:tr h="341902">
                <a:tc>
                  <a:txBody>
                    <a:bodyPr/>
                    <a:lstStyle/>
                    <a:p>
                      <a:pPr>
                        <a:buNone/>
                      </a:pPr>
                      <a:r>
                        <a:rPr lang="en-IN" sz="700" b="1"/>
                        <a:t>Document</a:t>
                      </a:r>
                      <a:endParaRPr lang="en-IN" sz="700"/>
                    </a:p>
                  </a:txBody>
                  <a:tcPr marL="42738" marR="42738" marT="21369" marB="21369" anchor="ctr"/>
                </a:tc>
                <a:tc>
                  <a:txBody>
                    <a:bodyPr/>
                    <a:lstStyle/>
                    <a:p>
                      <a:pPr>
                        <a:buNone/>
                      </a:pPr>
                      <a:r>
                        <a:rPr lang="en-IN" sz="700"/>
                        <a:t>Amazon DocumentDB (MongoDB-compatible)</a:t>
                      </a:r>
                    </a:p>
                  </a:txBody>
                  <a:tcPr marL="42738" marR="42738" marT="21369" marB="21369" anchor="ctr"/>
                </a:tc>
                <a:tc>
                  <a:txBody>
                    <a:bodyPr/>
                    <a:lstStyle/>
                    <a:p>
                      <a:pPr>
                        <a:buNone/>
                      </a:pPr>
                      <a:r>
                        <a:rPr lang="en-IN" sz="700"/>
                        <a:t>Scalable document database</a:t>
                      </a:r>
                    </a:p>
                  </a:txBody>
                  <a:tcPr marL="42738" marR="42738" marT="21369" marB="21369" anchor="ctr"/>
                </a:tc>
                <a:tc>
                  <a:txBody>
                    <a:bodyPr/>
                    <a:lstStyle/>
                    <a:p>
                      <a:pPr>
                        <a:buNone/>
                      </a:pPr>
                      <a:r>
                        <a:rPr lang="en-IN" sz="700"/>
                        <a:t>Content management, catalogs</a:t>
                      </a:r>
                    </a:p>
                  </a:txBody>
                  <a:tcPr marL="42738" marR="42738" marT="21369" marB="21369" anchor="ctr"/>
                </a:tc>
                <a:extLst>
                  <a:ext uri="{0D108BD9-81ED-4DB2-BD59-A6C34878D82A}">
                    <a16:rowId xmlns:a16="http://schemas.microsoft.com/office/drawing/2014/main" val="1963900968"/>
                  </a:ext>
                </a:extLst>
              </a:tr>
              <a:tr h="242180">
                <a:tc>
                  <a:txBody>
                    <a:bodyPr/>
                    <a:lstStyle/>
                    <a:p>
                      <a:pPr>
                        <a:buNone/>
                      </a:pPr>
                      <a:r>
                        <a:rPr lang="en-IN" sz="700" b="1"/>
                        <a:t>Graph</a:t>
                      </a:r>
                      <a:endParaRPr lang="en-IN" sz="700"/>
                    </a:p>
                  </a:txBody>
                  <a:tcPr marL="42738" marR="42738" marT="21369" marB="21369" anchor="ctr"/>
                </a:tc>
                <a:tc>
                  <a:txBody>
                    <a:bodyPr/>
                    <a:lstStyle/>
                    <a:p>
                      <a:pPr>
                        <a:buNone/>
                      </a:pPr>
                      <a:r>
                        <a:rPr lang="en-IN" sz="700"/>
                        <a:t>Amazon Neptune</a:t>
                      </a:r>
                    </a:p>
                  </a:txBody>
                  <a:tcPr marL="42738" marR="42738" marT="21369" marB="21369" anchor="ctr"/>
                </a:tc>
                <a:tc>
                  <a:txBody>
                    <a:bodyPr/>
                    <a:lstStyle/>
                    <a:p>
                      <a:pPr>
                        <a:buNone/>
                      </a:pPr>
                      <a:r>
                        <a:rPr lang="en-IN" sz="700"/>
                        <a:t>Managed graph database</a:t>
                      </a:r>
                    </a:p>
                  </a:txBody>
                  <a:tcPr marL="42738" marR="42738" marT="21369" marB="21369" anchor="ctr"/>
                </a:tc>
                <a:tc>
                  <a:txBody>
                    <a:bodyPr/>
                    <a:lstStyle/>
                    <a:p>
                      <a:pPr>
                        <a:buNone/>
                      </a:pPr>
                      <a:r>
                        <a:rPr lang="en-IN" sz="700"/>
                        <a:t>Social networks, fraud detection</a:t>
                      </a:r>
                    </a:p>
                  </a:txBody>
                  <a:tcPr marL="42738" marR="42738" marT="21369" marB="21369" anchor="ctr"/>
                </a:tc>
                <a:extLst>
                  <a:ext uri="{0D108BD9-81ED-4DB2-BD59-A6C34878D82A}">
                    <a16:rowId xmlns:a16="http://schemas.microsoft.com/office/drawing/2014/main" val="1886522348"/>
                  </a:ext>
                </a:extLst>
              </a:tr>
              <a:tr h="242180">
                <a:tc>
                  <a:txBody>
                    <a:bodyPr/>
                    <a:lstStyle/>
                    <a:p>
                      <a:pPr>
                        <a:buNone/>
                      </a:pPr>
                      <a:r>
                        <a:rPr lang="en-IN" sz="700" b="1"/>
                        <a:t>Time-Series</a:t>
                      </a:r>
                      <a:endParaRPr lang="en-IN" sz="700"/>
                    </a:p>
                  </a:txBody>
                  <a:tcPr marL="42738" marR="42738" marT="21369" marB="21369" anchor="ctr"/>
                </a:tc>
                <a:tc>
                  <a:txBody>
                    <a:bodyPr/>
                    <a:lstStyle/>
                    <a:p>
                      <a:pPr>
                        <a:buNone/>
                      </a:pPr>
                      <a:r>
                        <a:rPr lang="en-IN" sz="700"/>
                        <a:t>Amazon Timestream</a:t>
                      </a:r>
                    </a:p>
                  </a:txBody>
                  <a:tcPr marL="42738" marR="42738" marT="21369" marB="21369" anchor="ctr"/>
                </a:tc>
                <a:tc>
                  <a:txBody>
                    <a:bodyPr/>
                    <a:lstStyle/>
                    <a:p>
                      <a:pPr>
                        <a:buNone/>
                      </a:pPr>
                      <a:r>
                        <a:rPr lang="en-IN" sz="700"/>
                        <a:t>Time-stamped data storage</a:t>
                      </a:r>
                    </a:p>
                  </a:txBody>
                  <a:tcPr marL="42738" marR="42738" marT="21369" marB="21369" anchor="ctr"/>
                </a:tc>
                <a:tc>
                  <a:txBody>
                    <a:bodyPr/>
                    <a:lstStyle/>
                    <a:p>
                      <a:pPr>
                        <a:buNone/>
                      </a:pPr>
                      <a:r>
                        <a:rPr lang="en-IN" sz="700"/>
                        <a:t>IoT telemetry, monitoring, metrics</a:t>
                      </a:r>
                    </a:p>
                  </a:txBody>
                  <a:tcPr marL="42738" marR="42738" marT="21369" marB="21369" anchor="ctr"/>
                </a:tc>
                <a:extLst>
                  <a:ext uri="{0D108BD9-81ED-4DB2-BD59-A6C34878D82A}">
                    <a16:rowId xmlns:a16="http://schemas.microsoft.com/office/drawing/2014/main" val="2791093384"/>
                  </a:ext>
                </a:extLst>
              </a:tr>
              <a:tr h="242180">
                <a:tc>
                  <a:txBody>
                    <a:bodyPr/>
                    <a:lstStyle/>
                    <a:p>
                      <a:pPr>
                        <a:buNone/>
                      </a:pPr>
                      <a:r>
                        <a:rPr lang="en-IN" sz="700" b="1"/>
                        <a:t>Ledger</a:t>
                      </a:r>
                      <a:endParaRPr lang="en-IN" sz="700"/>
                    </a:p>
                  </a:txBody>
                  <a:tcPr marL="42738" marR="42738" marT="21369" marB="21369" anchor="ctr"/>
                </a:tc>
                <a:tc>
                  <a:txBody>
                    <a:bodyPr/>
                    <a:lstStyle/>
                    <a:p>
                      <a:pPr>
                        <a:buNone/>
                      </a:pPr>
                      <a:r>
                        <a:rPr lang="en-IN" sz="700"/>
                        <a:t>Amazon QLDB</a:t>
                      </a:r>
                    </a:p>
                  </a:txBody>
                  <a:tcPr marL="42738" marR="42738" marT="21369" marB="21369" anchor="ctr"/>
                </a:tc>
                <a:tc>
                  <a:txBody>
                    <a:bodyPr/>
                    <a:lstStyle/>
                    <a:p>
                      <a:pPr>
                        <a:buNone/>
                      </a:pPr>
                      <a:r>
                        <a:rPr lang="en-IN" sz="700"/>
                        <a:t>Immutable transaction log</a:t>
                      </a:r>
                    </a:p>
                  </a:txBody>
                  <a:tcPr marL="42738" marR="42738" marT="21369" marB="21369" anchor="ctr"/>
                </a:tc>
                <a:tc>
                  <a:txBody>
                    <a:bodyPr/>
                    <a:lstStyle/>
                    <a:p>
                      <a:pPr>
                        <a:buNone/>
                      </a:pPr>
                      <a:r>
                        <a:rPr lang="en-IN" sz="700"/>
                        <a:t>Supply chain, financial apps</a:t>
                      </a:r>
                    </a:p>
                  </a:txBody>
                  <a:tcPr marL="42738" marR="42738" marT="21369" marB="21369" anchor="ctr"/>
                </a:tc>
                <a:extLst>
                  <a:ext uri="{0D108BD9-81ED-4DB2-BD59-A6C34878D82A}">
                    <a16:rowId xmlns:a16="http://schemas.microsoft.com/office/drawing/2014/main" val="3479798893"/>
                  </a:ext>
                </a:extLst>
              </a:tr>
              <a:tr h="242180">
                <a:tc>
                  <a:txBody>
                    <a:bodyPr/>
                    <a:lstStyle/>
                    <a:p>
                      <a:pPr>
                        <a:buNone/>
                      </a:pPr>
                      <a:r>
                        <a:rPr lang="en-IN" sz="700" b="1"/>
                        <a:t>Wide-Column</a:t>
                      </a:r>
                      <a:endParaRPr lang="en-IN" sz="700"/>
                    </a:p>
                  </a:txBody>
                  <a:tcPr marL="42738" marR="42738" marT="21369" marB="21369" anchor="ctr"/>
                </a:tc>
                <a:tc>
                  <a:txBody>
                    <a:bodyPr/>
                    <a:lstStyle/>
                    <a:p>
                      <a:pPr>
                        <a:buNone/>
                      </a:pPr>
                      <a:r>
                        <a:rPr lang="en-IN" sz="700"/>
                        <a:t>Amazon Keyspaces (Apache Cassandra)</a:t>
                      </a:r>
                    </a:p>
                  </a:txBody>
                  <a:tcPr marL="42738" marR="42738" marT="21369" marB="21369" anchor="ctr"/>
                </a:tc>
                <a:tc>
                  <a:txBody>
                    <a:bodyPr/>
                    <a:lstStyle/>
                    <a:p>
                      <a:pPr>
                        <a:buNone/>
                      </a:pPr>
                      <a:r>
                        <a:rPr lang="en-IN" sz="700"/>
                        <a:t>Managed Cassandra</a:t>
                      </a:r>
                    </a:p>
                  </a:txBody>
                  <a:tcPr marL="42738" marR="42738" marT="21369" marB="21369" anchor="ctr"/>
                </a:tc>
                <a:tc>
                  <a:txBody>
                    <a:bodyPr/>
                    <a:lstStyle/>
                    <a:p>
                      <a:pPr>
                        <a:buNone/>
                      </a:pPr>
                      <a:r>
                        <a:rPr lang="en-IN" sz="700"/>
                        <a:t>IoT scale-out workloads</a:t>
                      </a:r>
                    </a:p>
                  </a:txBody>
                  <a:tcPr marL="42738" marR="42738" marT="21369" marB="21369" anchor="ctr"/>
                </a:tc>
                <a:extLst>
                  <a:ext uri="{0D108BD9-81ED-4DB2-BD59-A6C34878D82A}">
                    <a16:rowId xmlns:a16="http://schemas.microsoft.com/office/drawing/2014/main" val="2200253153"/>
                  </a:ext>
                </a:extLst>
              </a:tr>
              <a:tr h="341902">
                <a:tc>
                  <a:txBody>
                    <a:bodyPr/>
                    <a:lstStyle/>
                    <a:p>
                      <a:pPr>
                        <a:buNone/>
                      </a:pPr>
                      <a:r>
                        <a:rPr lang="en-IN" sz="700" b="1"/>
                        <a:t>Search/Analytics</a:t>
                      </a:r>
                      <a:endParaRPr lang="en-IN" sz="700"/>
                    </a:p>
                  </a:txBody>
                  <a:tcPr marL="42738" marR="42738" marT="21369" marB="21369" anchor="ctr"/>
                </a:tc>
                <a:tc>
                  <a:txBody>
                    <a:bodyPr/>
                    <a:lstStyle/>
                    <a:p>
                      <a:pPr>
                        <a:buNone/>
                      </a:pPr>
                      <a:r>
                        <a:rPr lang="en-IN" sz="700"/>
                        <a:t>Amazon OpenSearch (formerly Elasticsearch)</a:t>
                      </a:r>
                    </a:p>
                  </a:txBody>
                  <a:tcPr marL="42738" marR="42738" marT="21369" marB="21369" anchor="ctr"/>
                </a:tc>
                <a:tc>
                  <a:txBody>
                    <a:bodyPr/>
                    <a:lstStyle/>
                    <a:p>
                      <a:pPr>
                        <a:buNone/>
                      </a:pPr>
                      <a:r>
                        <a:rPr lang="en-IN" sz="700"/>
                        <a:t>Search, log analytics</a:t>
                      </a:r>
                    </a:p>
                  </a:txBody>
                  <a:tcPr marL="42738" marR="42738" marT="21369" marB="21369" anchor="ctr"/>
                </a:tc>
                <a:tc>
                  <a:txBody>
                    <a:bodyPr/>
                    <a:lstStyle/>
                    <a:p>
                      <a:pPr>
                        <a:buNone/>
                      </a:pPr>
                      <a:r>
                        <a:rPr lang="en-IN" sz="700"/>
                        <a:t>Full-text search, observability</a:t>
                      </a:r>
                    </a:p>
                  </a:txBody>
                  <a:tcPr marL="42738" marR="42738" marT="21369" marB="21369" anchor="ctr"/>
                </a:tc>
                <a:extLst>
                  <a:ext uri="{0D108BD9-81ED-4DB2-BD59-A6C34878D82A}">
                    <a16:rowId xmlns:a16="http://schemas.microsoft.com/office/drawing/2014/main" val="417024459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03">
          <a:extLst>
            <a:ext uri="{FF2B5EF4-FFF2-40B4-BE49-F238E27FC236}">
              <a16:creationId xmlns:a16="http://schemas.microsoft.com/office/drawing/2014/main" id="{05A41F73-8BCE-B2F6-F718-31E644867171}"/>
            </a:ext>
          </a:extLst>
        </p:cNvPr>
        <p:cNvGrpSpPr/>
        <p:nvPr/>
      </p:nvGrpSpPr>
      <p:grpSpPr>
        <a:xfrm>
          <a:off x="0" y="0"/>
          <a:ext cx="0" cy="0"/>
          <a:chOff x="0" y="0"/>
          <a:chExt cx="0" cy="0"/>
        </a:xfrm>
      </p:grpSpPr>
      <p:sp>
        <p:nvSpPr>
          <p:cNvPr id="904" name="Google Shape;904;p63">
            <a:extLst>
              <a:ext uri="{FF2B5EF4-FFF2-40B4-BE49-F238E27FC236}">
                <a16:creationId xmlns:a16="http://schemas.microsoft.com/office/drawing/2014/main" id="{7E354535-CB4F-F934-C3DF-07B1CED0CC4E}"/>
              </a:ext>
            </a:extLst>
          </p:cNvPr>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36</a:t>
            </a:fld>
            <a:endParaRPr sz="900">
              <a:latin typeface="Proxima Nova"/>
              <a:ea typeface="Proxima Nova"/>
              <a:cs typeface="Proxima Nova"/>
              <a:sym typeface="Proxima Nova"/>
            </a:endParaRPr>
          </a:p>
        </p:txBody>
      </p:sp>
      <p:sp>
        <p:nvSpPr>
          <p:cNvPr id="905" name="Google Shape;905;p63">
            <a:extLst>
              <a:ext uri="{FF2B5EF4-FFF2-40B4-BE49-F238E27FC236}">
                <a16:creationId xmlns:a16="http://schemas.microsoft.com/office/drawing/2014/main" id="{1512A14B-6A19-6D0C-F1FC-81F05F4D78D6}"/>
              </a:ext>
            </a:extLst>
          </p:cNvPr>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100"/>
              <a:buNone/>
            </a:pPr>
            <a:r>
              <a:rPr lang="en-IN" sz="2800">
                <a:solidFill>
                  <a:schemeClr val="lt1"/>
                </a:solidFill>
                <a:latin typeface="Calibri"/>
                <a:ea typeface="Calibri"/>
                <a:cs typeface="Calibri"/>
                <a:sym typeface="Calibri"/>
              </a:rPr>
              <a:t>Poll Questions</a:t>
            </a:r>
            <a:endParaRPr sz="2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553422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A5737AB1-CA09-DB4D-293A-0EF65BC87466}"/>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100B6F9E-2E30-53DF-1EC8-00FDF271CA36}"/>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37</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F4E9CE90-CD45-9F81-1458-C4D6358FB988}"/>
              </a:ext>
            </a:extLst>
          </p:cNvPr>
          <p:cNvSpPr txBox="1">
            <a:spLocks noGrp="1"/>
          </p:cNvSpPr>
          <p:nvPr>
            <p:ph type="body" idx="1"/>
          </p:nvPr>
        </p:nvSpPr>
        <p:spPr>
          <a:xfrm>
            <a:off x="783772" y="1180773"/>
            <a:ext cx="7617708" cy="3673110"/>
          </a:xfrm>
          <a:prstGeom prst="rect">
            <a:avLst/>
          </a:prstGeom>
          <a:noFill/>
          <a:ln>
            <a:noFill/>
          </a:ln>
        </p:spPr>
        <p:txBody>
          <a:bodyPr spcFirstLastPara="1" wrap="square" lIns="91425" tIns="45700" rIns="91425" bIns="45700" anchor="t" anchorCtr="0">
            <a:noAutofit/>
          </a:bodyPr>
          <a:lstStyle/>
          <a:p>
            <a:pPr marL="228600" indent="0" algn="l"/>
            <a:r>
              <a:rPr lang="en-US" sz="1400" b="1"/>
              <a:t>An online learning platform uses Amazon RDS to store student activity data. The </a:t>
            </a:r>
            <a:r>
              <a:rPr lang="en-US" sz="1400" b="1" err="1"/>
              <a:t>organisation</a:t>
            </a:r>
            <a:r>
              <a:rPr lang="en-US" sz="1400" b="1"/>
              <a:t> has implemented read replicas for the RDS database and set up the application so that all read queries go to the replicas and all writes go to the primary database in order to improve performance. However, students complain that when they refresh the page after making changes to their discussion forum postings, the changed text is not instantly visible. What is the most likely cause of this issue?</a:t>
            </a:r>
          </a:p>
          <a:p>
            <a:pPr marL="228600" indent="0" algn="l"/>
            <a:endParaRPr lang="en-US" sz="1400" b="1"/>
          </a:p>
          <a:p>
            <a:pPr marL="571500" indent="-342900" algn="l">
              <a:buFont typeface="+mj-lt"/>
              <a:buAutoNum type="alphaUcPeriod"/>
            </a:pPr>
            <a:r>
              <a:rPr lang="en-US" sz="1400"/>
              <a:t>There is a delay in queries due to the read replicas' experiencing high CPU consumption. </a:t>
            </a:r>
          </a:p>
          <a:p>
            <a:pPr marL="571500" indent="-342900" algn="l">
              <a:buFont typeface="+mj-lt"/>
              <a:buAutoNum type="alphaUcPeriod"/>
            </a:pPr>
            <a:r>
              <a:rPr lang="en-US" sz="1400"/>
              <a:t>The application is reading from a read replica, but replication to the replica is asynchronous, leading to replication lag.</a:t>
            </a:r>
          </a:p>
          <a:p>
            <a:pPr marL="571500" indent="-342900" algn="l">
              <a:buFont typeface="+mj-lt"/>
              <a:buAutoNum type="alphaUcPeriod"/>
            </a:pPr>
            <a:r>
              <a:rPr lang="en-US" sz="1400"/>
              <a:t>Updates are being throttled as the RDS instance type used for the replicas is smaller than the primary.</a:t>
            </a:r>
          </a:p>
          <a:p>
            <a:pPr marL="571500" indent="-342900" algn="l">
              <a:buFont typeface="+mj-lt"/>
              <a:buAutoNum type="alphaUcPeriod"/>
            </a:pPr>
            <a:r>
              <a:rPr lang="en-US" sz="1400"/>
              <a:t>The RDS database has reached its maximum connection limit, causing write queries to be dropped.</a:t>
            </a:r>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D28893CF-C921-894E-683A-CC3168B392F5}"/>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50292832-D659-C32A-A22C-062823F0D57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016EF668-5AC9-456C-C46D-2AC517AF5413}"/>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455541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30760947-DA8F-6466-1FF8-D4C2FD08DDA3}"/>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2AA05BF6-BF9B-0F43-856D-F3FDDF9B2B60}"/>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38</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5DBDAD60-63A1-9519-0470-E65A0A5283DF}"/>
              </a:ext>
            </a:extLst>
          </p:cNvPr>
          <p:cNvSpPr txBox="1">
            <a:spLocks noGrp="1"/>
          </p:cNvSpPr>
          <p:nvPr>
            <p:ph type="body" idx="1"/>
          </p:nvPr>
        </p:nvSpPr>
        <p:spPr>
          <a:xfrm>
            <a:off x="783772" y="1180773"/>
            <a:ext cx="7617708" cy="3673110"/>
          </a:xfrm>
          <a:prstGeom prst="rect">
            <a:avLst/>
          </a:prstGeom>
          <a:noFill/>
          <a:ln>
            <a:noFill/>
          </a:ln>
        </p:spPr>
        <p:txBody>
          <a:bodyPr spcFirstLastPara="1" wrap="square" lIns="91425" tIns="45700" rIns="91425" bIns="45700" anchor="t" anchorCtr="0">
            <a:noAutofit/>
          </a:bodyPr>
          <a:lstStyle/>
          <a:p>
            <a:pPr marL="228600" indent="0" algn="l"/>
            <a:r>
              <a:rPr lang="en-US" sz="1400" b="1"/>
              <a:t>An online learning platform uses Amazon RDS to store student activity data. The </a:t>
            </a:r>
            <a:r>
              <a:rPr lang="en-US" sz="1400" b="1" err="1"/>
              <a:t>organisation</a:t>
            </a:r>
            <a:r>
              <a:rPr lang="en-US" sz="1400" b="1"/>
              <a:t> has implemented read replicas for the RDS database and set up the application so that all read queries go to the replicas and all writes go to the primary database in order to improve performance. However, students complain that when they refresh the page after making changes to their discussion forum postings, the changed text is not instantly visible. What is the most likely cause of this issue?</a:t>
            </a:r>
          </a:p>
          <a:p>
            <a:pPr marL="228600" indent="0" algn="l"/>
            <a:endParaRPr lang="en-US" sz="1400" b="1"/>
          </a:p>
          <a:p>
            <a:pPr marL="571500" indent="-342900" algn="l">
              <a:buFont typeface="+mj-lt"/>
              <a:buAutoNum type="alphaUcPeriod"/>
            </a:pPr>
            <a:r>
              <a:rPr lang="en-US" sz="1400"/>
              <a:t>There is a delay in queries due to the read replicas' experiencing high CPU consumption. </a:t>
            </a:r>
          </a:p>
          <a:p>
            <a:pPr marL="571500" indent="-342900" algn="l">
              <a:buFont typeface="+mj-lt"/>
              <a:buAutoNum type="alphaUcPeriod"/>
            </a:pPr>
            <a:r>
              <a:rPr lang="en-US" sz="1400" b="1"/>
              <a:t>The application is reading from a read replica, but replication to the replica is asynchronous, leading to replication lag.</a:t>
            </a:r>
          </a:p>
          <a:p>
            <a:pPr marL="571500" indent="-342900" algn="l">
              <a:buFont typeface="+mj-lt"/>
              <a:buAutoNum type="alphaUcPeriod"/>
            </a:pPr>
            <a:r>
              <a:rPr lang="en-US" sz="1400"/>
              <a:t>Updates are being throttled as the RDS instance type used for the replicas is smaller than the primary.</a:t>
            </a:r>
          </a:p>
          <a:p>
            <a:pPr marL="571500" indent="-342900" algn="l">
              <a:buFont typeface="+mj-lt"/>
              <a:buAutoNum type="alphaUcPeriod"/>
            </a:pPr>
            <a:r>
              <a:rPr lang="en-US" sz="1400"/>
              <a:t>The RDS database has reached its maximum connection limit, causing write queries to be dropped.</a:t>
            </a:r>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C768A126-4E38-14E5-9ECF-352D532DF199}"/>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9CD03A99-922D-5733-EBE7-3EDFD8EF9750}"/>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5B2E06D7-1057-5B78-1FF0-72FD94B10A04}"/>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3887429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FAC5C33D-7FD4-87D0-A159-700F38540EBD}"/>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864837E2-F7E2-3C16-DE2A-0B1C9B967FBD}"/>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39</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0297CED6-4E59-AFBD-E8E9-00393745CE47}"/>
              </a:ext>
            </a:extLst>
          </p:cNvPr>
          <p:cNvSpPr txBox="1">
            <a:spLocks noGrp="1"/>
          </p:cNvSpPr>
          <p:nvPr>
            <p:ph type="body" idx="1"/>
          </p:nvPr>
        </p:nvSpPr>
        <p:spPr>
          <a:xfrm>
            <a:off x="501888" y="1292514"/>
            <a:ext cx="8222725" cy="3216285"/>
          </a:xfrm>
          <a:prstGeom prst="rect">
            <a:avLst/>
          </a:prstGeom>
          <a:noFill/>
          <a:ln>
            <a:noFill/>
          </a:ln>
        </p:spPr>
        <p:txBody>
          <a:bodyPr spcFirstLastPara="1" wrap="square" lIns="91425" tIns="45700" rIns="91425" bIns="45700" anchor="t" anchorCtr="0">
            <a:noAutofit/>
          </a:bodyPr>
          <a:lstStyle/>
          <a:p>
            <a:pPr marL="228600" indent="0" algn="l"/>
            <a:r>
              <a:rPr lang="en-US" sz="1400" b="1"/>
              <a:t>An application requires a highly available relational database with an initial storage capacity of 4 TB. Every day, the database will expand by 4 GB. At least three read replicas will be needed to manage database reads in order to accommodate anticipated load. As an Solution </a:t>
            </a:r>
            <a:r>
              <a:rPr lang="en-US" sz="1400" b="1" err="1"/>
              <a:t>Arcitect</a:t>
            </a:r>
            <a:r>
              <a:rPr lang="en-US" sz="1400" b="1"/>
              <a:t> which service you should choose?</a:t>
            </a:r>
          </a:p>
          <a:p>
            <a:pPr marL="228600" indent="0" algn="l"/>
            <a:endParaRPr lang="en-US" sz="1400" b="1"/>
          </a:p>
          <a:p>
            <a:pPr marL="571500" indent="-342900" algn="l">
              <a:buFont typeface="+mj-lt"/>
              <a:buAutoNum type="alphaUcPeriod"/>
            </a:pPr>
            <a:r>
              <a:rPr lang="en-US" sz="1400"/>
              <a:t>Amazon DynamoDB</a:t>
            </a:r>
          </a:p>
          <a:p>
            <a:pPr marL="571500" indent="-342900" algn="l">
              <a:buFont typeface="+mj-lt"/>
              <a:buAutoNum type="alphaUcPeriod"/>
            </a:pPr>
            <a:r>
              <a:rPr lang="en-US" sz="1400"/>
              <a:t>Amazon S3</a:t>
            </a:r>
          </a:p>
          <a:p>
            <a:pPr marL="571500" indent="-342900" algn="l">
              <a:buFont typeface="+mj-lt"/>
              <a:buAutoNum type="alphaUcPeriod"/>
            </a:pPr>
            <a:r>
              <a:rPr lang="en-US" sz="1400"/>
              <a:t>Amazon Aurora</a:t>
            </a:r>
          </a:p>
          <a:p>
            <a:pPr marL="571500" indent="-342900" algn="l">
              <a:buFont typeface="+mj-lt"/>
              <a:buAutoNum type="alphaUcPeriod"/>
            </a:pPr>
            <a:r>
              <a:rPr lang="en-US" sz="1400"/>
              <a:t>Amazon Redshift</a:t>
            </a:r>
          </a:p>
          <a:p>
            <a:pPr marL="571500" indent="-342900" algn="l">
              <a:buFont typeface="+mj-lt"/>
              <a:buAutoNum type="alphaUcPeriod"/>
            </a:pPr>
            <a:endParaRPr lang="en-US" sz="1400"/>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2A974453-0C0F-F9BA-999D-6F57E4D0423A}"/>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2</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C39ED09A-E718-50A4-1C6B-780AEFE85D42}"/>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00504574-E23B-7AD3-9AAB-CD9555088691}"/>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412707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C1F4C182-8D6D-8B6E-52D9-F056930B6D4E}"/>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EEB27AFE-5CF7-631B-13C8-596A9D999080}"/>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40</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7D82EBD6-3AC3-F26C-DF6F-7E60983122EB}"/>
              </a:ext>
            </a:extLst>
          </p:cNvPr>
          <p:cNvSpPr txBox="1">
            <a:spLocks noGrp="1"/>
          </p:cNvSpPr>
          <p:nvPr>
            <p:ph type="body" idx="1"/>
          </p:nvPr>
        </p:nvSpPr>
        <p:spPr>
          <a:xfrm>
            <a:off x="501888" y="1292514"/>
            <a:ext cx="8222725" cy="3216285"/>
          </a:xfrm>
          <a:prstGeom prst="rect">
            <a:avLst/>
          </a:prstGeom>
          <a:noFill/>
          <a:ln>
            <a:noFill/>
          </a:ln>
        </p:spPr>
        <p:txBody>
          <a:bodyPr spcFirstLastPara="1" wrap="square" lIns="91425" tIns="45700" rIns="91425" bIns="45700" anchor="t" anchorCtr="0">
            <a:noAutofit/>
          </a:bodyPr>
          <a:lstStyle/>
          <a:p>
            <a:pPr marL="228600" indent="0" algn="l"/>
            <a:r>
              <a:rPr lang="en-US" sz="1400" b="1"/>
              <a:t>An application requires a highly available relational database with an initial storage capacity of 4 TB. Every day, the database will expand by 4 GB. At least three read replicas will be needed to manage database reads in order to accommodate anticipated load. As an Solution </a:t>
            </a:r>
            <a:r>
              <a:rPr lang="en-US" sz="1400" b="1" err="1"/>
              <a:t>Arcitect</a:t>
            </a:r>
            <a:r>
              <a:rPr lang="en-US" sz="1400" b="1"/>
              <a:t> which service you should choose?</a:t>
            </a:r>
          </a:p>
          <a:p>
            <a:pPr marL="228600" indent="0" algn="l"/>
            <a:endParaRPr lang="en-US" sz="1400" b="1"/>
          </a:p>
          <a:p>
            <a:pPr marL="571500" indent="-342900" algn="l">
              <a:buFont typeface="+mj-lt"/>
              <a:buAutoNum type="alphaUcPeriod"/>
            </a:pPr>
            <a:r>
              <a:rPr lang="en-US" sz="1400"/>
              <a:t>Amazon DynamoDB</a:t>
            </a:r>
          </a:p>
          <a:p>
            <a:pPr marL="571500" indent="-342900" algn="l">
              <a:buFont typeface="+mj-lt"/>
              <a:buAutoNum type="alphaUcPeriod"/>
            </a:pPr>
            <a:r>
              <a:rPr lang="en-US" sz="1400"/>
              <a:t>Amazon S3</a:t>
            </a:r>
          </a:p>
          <a:p>
            <a:pPr marL="571500" indent="-342900" algn="l">
              <a:buFont typeface="+mj-lt"/>
              <a:buAutoNum type="alphaUcPeriod"/>
            </a:pPr>
            <a:r>
              <a:rPr lang="en-US" sz="1400" b="1"/>
              <a:t>Amazon Aurora</a:t>
            </a:r>
          </a:p>
          <a:p>
            <a:pPr marL="571500" indent="-342900" algn="l">
              <a:buFont typeface="+mj-lt"/>
              <a:buAutoNum type="alphaUcPeriod"/>
            </a:pPr>
            <a:r>
              <a:rPr lang="en-US" sz="1400"/>
              <a:t>Amazon Redshift</a:t>
            </a:r>
          </a:p>
          <a:p>
            <a:pPr marL="571500" indent="-342900" algn="l">
              <a:buFont typeface="+mj-lt"/>
              <a:buAutoNum type="alphaUcPeriod"/>
            </a:pPr>
            <a:endParaRPr lang="en-US" sz="1400"/>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CD28D156-3615-BB7D-A75C-221F3EAE4C56}"/>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2</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575CF003-DA7F-546A-CB18-D990EAEBCFE5}"/>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84CA1602-0932-7188-311F-2A331CF6D61E}"/>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305586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3411D090-555D-367B-CCF8-70DF74193816}"/>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1DA3A8B6-C96F-EC1A-0420-8D8B93B51777}"/>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41</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B0EF169E-3831-C015-6340-D7FE294F1B4B}"/>
              </a:ext>
            </a:extLst>
          </p:cNvPr>
          <p:cNvSpPr txBox="1">
            <a:spLocks noGrp="1"/>
          </p:cNvSpPr>
          <p:nvPr>
            <p:ph type="body" idx="1"/>
          </p:nvPr>
        </p:nvSpPr>
        <p:spPr>
          <a:xfrm>
            <a:off x="385994" y="1292514"/>
            <a:ext cx="8400496" cy="3216285"/>
          </a:xfrm>
          <a:prstGeom prst="rect">
            <a:avLst/>
          </a:prstGeom>
          <a:noFill/>
          <a:ln>
            <a:noFill/>
          </a:ln>
        </p:spPr>
        <p:txBody>
          <a:bodyPr spcFirstLastPara="1" wrap="square" lIns="91425" tIns="45700" rIns="91425" bIns="45700" anchor="t" anchorCtr="0">
            <a:noAutofit/>
          </a:bodyPr>
          <a:lstStyle/>
          <a:p>
            <a:pPr marL="228600" indent="0" algn="l"/>
            <a:r>
              <a:rPr lang="en-US" sz="1400" b="1"/>
              <a:t>As a solution architect of ecommerce company asked, you to building a new shopping platform that will be hosted on AWS. The platform will use stateless web servers running behind an Elastic Load Balancer. Because the servers are stateless, the user session state (shopping cart contents, login tokens, etc.) must be stored in a shared, highly accessible data store that any web server in the fleet can rapidly access The solution must support low-latency reads and writes and remain available even if a server fails. Which AWS services are suitable for storing this session state data? (Select TWO.)</a:t>
            </a:r>
          </a:p>
          <a:p>
            <a:pPr marL="571500" indent="-342900" algn="l">
              <a:buFont typeface="+mj-lt"/>
              <a:buAutoNum type="alphaUcPeriod"/>
            </a:pPr>
            <a:r>
              <a:rPr lang="en-US" sz="1400"/>
              <a:t>Amazon CloudWatch </a:t>
            </a:r>
          </a:p>
          <a:p>
            <a:pPr marL="571500" indent="-342900" algn="l">
              <a:buFont typeface="+mj-lt"/>
              <a:buAutoNum type="alphaUcPeriod"/>
            </a:pPr>
            <a:r>
              <a:rPr lang="en-US" sz="1400" err="1"/>
              <a:t>AmazonDynamoDB</a:t>
            </a:r>
            <a:endParaRPr lang="en-US" sz="1400"/>
          </a:p>
          <a:p>
            <a:pPr marL="571500" indent="-342900" algn="l">
              <a:buFont typeface="+mj-lt"/>
              <a:buAutoNum type="alphaUcPeriod"/>
            </a:pPr>
            <a:r>
              <a:rPr lang="en-US" sz="1400"/>
              <a:t>Elastic Load Balancing</a:t>
            </a:r>
          </a:p>
          <a:p>
            <a:pPr marL="571500" indent="-342900" algn="l">
              <a:buFont typeface="+mj-lt"/>
              <a:buAutoNum type="alphaUcPeriod"/>
            </a:pPr>
            <a:r>
              <a:rPr lang="en-US" sz="1400"/>
              <a:t>Amazon </a:t>
            </a:r>
            <a:r>
              <a:rPr lang="en-US" sz="1400" err="1"/>
              <a:t>ElastiCache</a:t>
            </a:r>
            <a:endParaRPr lang="en-US" sz="1400"/>
          </a:p>
          <a:p>
            <a:pPr marL="571500" indent="-342900" algn="l">
              <a:buFont typeface="+mj-lt"/>
              <a:buAutoNum type="alphaUcPeriod"/>
            </a:pPr>
            <a:r>
              <a:rPr lang="en-US" sz="1400"/>
              <a:t>AWS Storage Gateway</a:t>
            </a:r>
          </a:p>
        </p:txBody>
      </p:sp>
      <p:sp>
        <p:nvSpPr>
          <p:cNvPr id="646" name="Google Shape;646;p37">
            <a:extLst>
              <a:ext uri="{FF2B5EF4-FFF2-40B4-BE49-F238E27FC236}">
                <a16:creationId xmlns:a16="http://schemas.microsoft.com/office/drawing/2014/main" id="{252F9E4C-32D7-7D45-1A1C-D4A1BC04B955}"/>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3</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2B1A3A72-B655-D7FF-626F-1D6EBCCF3D6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B52FA2D6-BF9B-1EF6-E52D-F8DEFA986968}"/>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0995650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650D6DF5-CD23-2225-6E83-86DE3192FAB3}"/>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6EECB986-BE9B-C6B1-117D-11FBE93E2571}"/>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42</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5559A43A-BA19-61A5-0873-B68085F15458}"/>
              </a:ext>
            </a:extLst>
          </p:cNvPr>
          <p:cNvSpPr txBox="1">
            <a:spLocks noGrp="1"/>
          </p:cNvSpPr>
          <p:nvPr>
            <p:ph type="body" idx="1"/>
          </p:nvPr>
        </p:nvSpPr>
        <p:spPr>
          <a:xfrm>
            <a:off x="385994" y="1292514"/>
            <a:ext cx="8400496" cy="3216285"/>
          </a:xfrm>
          <a:prstGeom prst="rect">
            <a:avLst/>
          </a:prstGeom>
          <a:noFill/>
          <a:ln>
            <a:noFill/>
          </a:ln>
        </p:spPr>
        <p:txBody>
          <a:bodyPr spcFirstLastPara="1" wrap="square" lIns="91425" tIns="45700" rIns="91425" bIns="45700" anchor="t" anchorCtr="0">
            <a:noAutofit/>
          </a:bodyPr>
          <a:lstStyle/>
          <a:p>
            <a:pPr marL="228600" indent="0" algn="l"/>
            <a:r>
              <a:rPr lang="en-US" sz="1400" b="1"/>
              <a:t>As a solution architect of ecommerce company asked, you to building a new shopping platform that will be hosted on AWS. The platform will use stateless web servers running behind an Elastic Load Balancer. Because the servers are stateless, the user session state (shopping cart contents, login tokens, etc.) must be stored in a shared, highly accessible data store that any web server in the fleet can rapidly access The solution must support low-latency reads and writes and remain available even if a server fails. Which AWS services are suitable for storing this session state data? (Select TWO.)</a:t>
            </a:r>
          </a:p>
          <a:p>
            <a:pPr marL="571500" indent="-342900" algn="l">
              <a:buFont typeface="+mj-lt"/>
              <a:buAutoNum type="alphaUcPeriod"/>
            </a:pPr>
            <a:r>
              <a:rPr lang="en-US" sz="1400"/>
              <a:t>Amazon CloudWatch </a:t>
            </a:r>
          </a:p>
          <a:p>
            <a:pPr marL="571500" indent="-342900" algn="l">
              <a:buFont typeface="+mj-lt"/>
              <a:buAutoNum type="alphaUcPeriod"/>
            </a:pPr>
            <a:r>
              <a:rPr lang="en-US" sz="1400" b="1" err="1"/>
              <a:t>AmazonDynamoDB</a:t>
            </a:r>
            <a:endParaRPr lang="en-US" sz="1400" b="1"/>
          </a:p>
          <a:p>
            <a:pPr marL="571500" indent="-342900" algn="l">
              <a:buFont typeface="+mj-lt"/>
              <a:buAutoNum type="alphaUcPeriod"/>
            </a:pPr>
            <a:r>
              <a:rPr lang="en-US" sz="1400"/>
              <a:t>Elastic Load Balancing</a:t>
            </a:r>
          </a:p>
          <a:p>
            <a:pPr marL="571500" indent="-342900" algn="l">
              <a:buFont typeface="+mj-lt"/>
              <a:buAutoNum type="alphaUcPeriod"/>
            </a:pPr>
            <a:r>
              <a:rPr lang="en-US" sz="1400" b="1"/>
              <a:t>Amazon </a:t>
            </a:r>
            <a:r>
              <a:rPr lang="en-US" sz="1400" b="1" err="1"/>
              <a:t>ElastiCache</a:t>
            </a:r>
            <a:endParaRPr lang="en-US" sz="1400" b="1"/>
          </a:p>
          <a:p>
            <a:pPr marL="571500" indent="-342900" algn="l">
              <a:buFont typeface="+mj-lt"/>
              <a:buAutoNum type="alphaUcPeriod"/>
            </a:pPr>
            <a:r>
              <a:rPr lang="en-US" sz="1400"/>
              <a:t>AWS Storage Gateway</a:t>
            </a:r>
          </a:p>
        </p:txBody>
      </p:sp>
      <p:sp>
        <p:nvSpPr>
          <p:cNvPr id="646" name="Google Shape;646;p37">
            <a:extLst>
              <a:ext uri="{FF2B5EF4-FFF2-40B4-BE49-F238E27FC236}">
                <a16:creationId xmlns:a16="http://schemas.microsoft.com/office/drawing/2014/main" id="{C4A58BF7-96CC-0A9F-4018-387B571E291A}"/>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3</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70E95F41-A454-2E73-E1BC-B170E2AACFE2}"/>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FECA416F-AB6D-9E1E-E707-923926E7986E}"/>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5026753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FC4E9647-8BC8-37C7-941A-2E0CF9B2E771}"/>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AA61AF69-BEB5-0C9F-5EF6-E1E260104974}"/>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43</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56BAC43E-1C9A-826D-0A95-3D352EEFA02B}"/>
              </a:ext>
            </a:extLst>
          </p:cNvPr>
          <p:cNvSpPr txBox="1">
            <a:spLocks noGrp="1"/>
          </p:cNvSpPr>
          <p:nvPr>
            <p:ph type="body" idx="1"/>
          </p:nvPr>
        </p:nvSpPr>
        <p:spPr>
          <a:xfrm>
            <a:off x="570640" y="1292514"/>
            <a:ext cx="8112721" cy="3216285"/>
          </a:xfrm>
          <a:prstGeom prst="rect">
            <a:avLst/>
          </a:prstGeom>
          <a:noFill/>
          <a:ln>
            <a:noFill/>
          </a:ln>
        </p:spPr>
        <p:txBody>
          <a:bodyPr spcFirstLastPara="1" wrap="square" lIns="91425" tIns="45700" rIns="91425" bIns="45700" anchor="t" anchorCtr="0">
            <a:noAutofit/>
          </a:bodyPr>
          <a:lstStyle/>
          <a:p>
            <a:pPr marL="228600" indent="0" algn="l"/>
            <a:r>
              <a:rPr lang="en-US" sz="1400" b="1" dirty="0"/>
              <a:t>Exam results for students are stored by a university as CSV files on Amazon S3. Professors want to run ad hoc SQL queries to see how many of this data passed and how many failed, without needing to set up or manage any servers or databases. Which service should they use?</a:t>
            </a:r>
          </a:p>
          <a:p>
            <a:pPr marL="571500" indent="-342900" algn="l">
              <a:buFont typeface="+mj-lt"/>
              <a:buAutoNum type="alphaUcPeriod"/>
            </a:pPr>
            <a:r>
              <a:rPr lang="en-US" sz="1400" dirty="0"/>
              <a:t>Amazon DynamoDB </a:t>
            </a:r>
          </a:p>
          <a:p>
            <a:pPr marL="571500" indent="-342900" algn="l">
              <a:buFont typeface="+mj-lt"/>
              <a:buAutoNum type="alphaUcPeriod"/>
            </a:pPr>
            <a:r>
              <a:rPr lang="en-US" sz="1400" dirty="0"/>
              <a:t>AWS Glue </a:t>
            </a:r>
          </a:p>
          <a:p>
            <a:pPr marL="571500" indent="-342900" algn="l">
              <a:buFont typeface="+mj-lt"/>
              <a:buAutoNum type="alphaUcPeriod"/>
            </a:pPr>
            <a:r>
              <a:rPr lang="en-US" sz="1400" dirty="0"/>
              <a:t>Amazon Redshift </a:t>
            </a:r>
          </a:p>
          <a:p>
            <a:pPr marL="571500" indent="-342900" algn="l">
              <a:buFont typeface="+mj-lt"/>
              <a:buAutoNum type="alphaUcPeriod"/>
            </a:pPr>
            <a:r>
              <a:rPr lang="en-US" sz="1400" dirty="0"/>
              <a:t>Amazon Athena</a:t>
            </a:r>
          </a:p>
        </p:txBody>
      </p:sp>
      <p:sp>
        <p:nvSpPr>
          <p:cNvPr id="646" name="Google Shape;646;p37">
            <a:extLst>
              <a:ext uri="{FF2B5EF4-FFF2-40B4-BE49-F238E27FC236}">
                <a16:creationId xmlns:a16="http://schemas.microsoft.com/office/drawing/2014/main" id="{F4EA36FF-81F2-3BAE-3CCD-84C21AF537A4}"/>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4</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28741E8B-C7A8-DCE9-F434-736E5FF6BE0E}"/>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77A3A320-F15F-04C4-0C29-8CFFD9AAB84D}"/>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476121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351EC233-C5C9-4756-D5AC-AC7A16DAAF22}"/>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083DE956-CE2C-B811-5DD9-0F5488AFF03F}"/>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44</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531FC5A3-E96C-9558-4FDB-6361C9C6165F}"/>
              </a:ext>
            </a:extLst>
          </p:cNvPr>
          <p:cNvSpPr txBox="1">
            <a:spLocks noGrp="1"/>
          </p:cNvSpPr>
          <p:nvPr>
            <p:ph type="body" idx="1"/>
          </p:nvPr>
        </p:nvSpPr>
        <p:spPr>
          <a:xfrm>
            <a:off x="570640" y="1292514"/>
            <a:ext cx="8112721" cy="3216285"/>
          </a:xfrm>
          <a:prstGeom prst="rect">
            <a:avLst/>
          </a:prstGeom>
          <a:noFill/>
          <a:ln>
            <a:noFill/>
          </a:ln>
        </p:spPr>
        <p:txBody>
          <a:bodyPr spcFirstLastPara="1" wrap="square" lIns="91425" tIns="45700" rIns="91425" bIns="45700" anchor="t" anchorCtr="0">
            <a:noAutofit/>
          </a:bodyPr>
          <a:lstStyle/>
          <a:p>
            <a:pPr marL="228600" indent="0" algn="l"/>
            <a:r>
              <a:rPr lang="en-US" sz="1400" b="1"/>
              <a:t>Exam results for students are stored by a university as CSV files on Amazon S3. Professors want to </a:t>
            </a:r>
            <a:r>
              <a:rPr lang="en-US" sz="1400" b="1" err="1"/>
              <a:t>runvad</a:t>
            </a:r>
            <a:r>
              <a:rPr lang="en-US" sz="1400" b="1"/>
              <a:t> hoc SQL queries to see how many of this data passed and how many failed, without needing to set up or manage any servers or databases. Which service should they use?</a:t>
            </a:r>
          </a:p>
          <a:p>
            <a:pPr marL="571500" indent="-342900" algn="l">
              <a:buFont typeface="+mj-lt"/>
              <a:buAutoNum type="alphaUcPeriod"/>
            </a:pPr>
            <a:r>
              <a:rPr lang="en-US" sz="1400"/>
              <a:t>Amazon DynamoDB </a:t>
            </a:r>
          </a:p>
          <a:p>
            <a:pPr marL="571500" indent="-342900" algn="l">
              <a:buFont typeface="+mj-lt"/>
              <a:buAutoNum type="alphaUcPeriod"/>
            </a:pPr>
            <a:r>
              <a:rPr lang="en-US" sz="1400"/>
              <a:t>AWS Glue </a:t>
            </a:r>
          </a:p>
          <a:p>
            <a:pPr marL="571500" indent="-342900" algn="l">
              <a:buFont typeface="+mj-lt"/>
              <a:buAutoNum type="alphaUcPeriod"/>
            </a:pPr>
            <a:r>
              <a:rPr lang="en-US" sz="1400"/>
              <a:t>Amazon Redshift </a:t>
            </a:r>
          </a:p>
          <a:p>
            <a:pPr marL="571500" indent="-342900" algn="l">
              <a:buFont typeface="+mj-lt"/>
              <a:buAutoNum type="alphaUcPeriod"/>
            </a:pPr>
            <a:r>
              <a:rPr lang="en-US" sz="1400" b="1"/>
              <a:t>Amazon Athena</a:t>
            </a:r>
          </a:p>
        </p:txBody>
      </p:sp>
      <p:sp>
        <p:nvSpPr>
          <p:cNvPr id="646" name="Google Shape;646;p37">
            <a:extLst>
              <a:ext uri="{FF2B5EF4-FFF2-40B4-BE49-F238E27FC236}">
                <a16:creationId xmlns:a16="http://schemas.microsoft.com/office/drawing/2014/main" id="{87263185-8A94-B12F-3A81-E2C6EB1A7BCD}"/>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4</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AE2AE2B4-21F7-C046-12BE-86B5C1FCD1A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A2D34792-8AA0-4F13-D4E6-B3FC7CEFAFF7}"/>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8925352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0FB96B0E-6EC2-67B2-D05E-1FCA654CDB8C}"/>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DBF9C53A-357C-6FE8-6E0F-970AC4A755E6}"/>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45</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FFD8E35D-2234-46CA-787A-C0A6B44F80CD}"/>
              </a:ext>
            </a:extLst>
          </p:cNvPr>
          <p:cNvSpPr txBox="1">
            <a:spLocks noGrp="1"/>
          </p:cNvSpPr>
          <p:nvPr>
            <p:ph type="body" idx="1"/>
          </p:nvPr>
        </p:nvSpPr>
        <p:spPr>
          <a:xfrm>
            <a:off x="495014" y="1292514"/>
            <a:ext cx="8387729"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retail company stores customer transaction data in Amazon S3. As the company's </a:t>
            </a:r>
            <a:r>
              <a:rPr lang="en-US" sz="1400" b="1" err="1"/>
              <a:t>devops</a:t>
            </a:r>
            <a:r>
              <a:rPr lang="en-US" sz="1400" b="1"/>
              <a:t> engineer, you have been assigned by the analytics team to create an ETL pipeline that will clean, process, and catalog this data so that SQL tools may be used to query it later. The team prefers a serverless, managed service that avoids manual infrastructure setup. Which AWS service should you suggest?</a:t>
            </a:r>
          </a:p>
          <a:p>
            <a:pPr marL="571500" indent="-342900" algn="l">
              <a:buFont typeface="+mj-lt"/>
              <a:buAutoNum type="alphaUcPeriod"/>
            </a:pPr>
            <a:r>
              <a:rPr lang="en-US" sz="1400"/>
              <a:t>Kinesis Data Streams </a:t>
            </a:r>
          </a:p>
          <a:p>
            <a:pPr marL="571500" indent="-342900" algn="l">
              <a:buFont typeface="+mj-lt"/>
              <a:buAutoNum type="alphaUcPeriod"/>
            </a:pPr>
            <a:r>
              <a:rPr lang="en-US" sz="1400"/>
              <a:t>AWS Glue </a:t>
            </a:r>
          </a:p>
          <a:p>
            <a:pPr marL="571500" indent="-342900" algn="l">
              <a:buFont typeface="+mj-lt"/>
              <a:buAutoNum type="alphaUcPeriod"/>
            </a:pPr>
            <a:r>
              <a:rPr lang="en-US" sz="1400"/>
              <a:t>Amazon Redshift </a:t>
            </a:r>
          </a:p>
          <a:p>
            <a:pPr marL="571500" indent="-342900" algn="l">
              <a:buFont typeface="+mj-lt"/>
              <a:buAutoNum type="alphaUcPeriod"/>
            </a:pPr>
            <a:r>
              <a:rPr lang="en-US" sz="1400"/>
              <a:t>Amazon </a:t>
            </a:r>
            <a:r>
              <a:rPr lang="en-US" sz="1400" err="1"/>
              <a:t>Quicksight</a:t>
            </a:r>
            <a:endParaRPr lang="en-US" sz="1400"/>
          </a:p>
        </p:txBody>
      </p:sp>
      <p:sp>
        <p:nvSpPr>
          <p:cNvPr id="646" name="Google Shape;646;p37">
            <a:extLst>
              <a:ext uri="{FF2B5EF4-FFF2-40B4-BE49-F238E27FC236}">
                <a16:creationId xmlns:a16="http://schemas.microsoft.com/office/drawing/2014/main" id="{5C62CDFF-8D3C-D194-476A-68697C53685E}"/>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5</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0A3DC825-D291-1053-15D9-8F8DC5191DAE}"/>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0B265874-BF2B-9406-2C15-3AEFC5D6717C}"/>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3064058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904276C7-3D93-B5DF-4097-1B2FBE0D5871}"/>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814F6B5F-5455-860E-A7EF-741C622E738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46</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0E22A102-8B41-4F46-38D2-EA63F472C643}"/>
              </a:ext>
            </a:extLst>
          </p:cNvPr>
          <p:cNvSpPr txBox="1">
            <a:spLocks noGrp="1"/>
          </p:cNvSpPr>
          <p:nvPr>
            <p:ph type="body" idx="1"/>
          </p:nvPr>
        </p:nvSpPr>
        <p:spPr>
          <a:xfrm>
            <a:off x="495014" y="1292514"/>
            <a:ext cx="8387729"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retail company stores customer transaction data in Amazon S3. As the company's </a:t>
            </a:r>
            <a:r>
              <a:rPr lang="en-US" sz="1400" b="1" err="1"/>
              <a:t>devops</a:t>
            </a:r>
            <a:r>
              <a:rPr lang="en-US" sz="1400" b="1"/>
              <a:t> engineer, you have been assigned by the analytics team to create an ETL pipeline that will clean, process, and catalog this data so that SQL tools may be used to query it later. The team prefers a serverless, managed service that avoids manual infrastructure setup. Which AWS service should you suggest?</a:t>
            </a:r>
          </a:p>
          <a:p>
            <a:pPr marL="228600" indent="0" algn="l"/>
            <a:endParaRPr lang="en-US" sz="1400" b="1"/>
          </a:p>
          <a:p>
            <a:pPr marL="571500" indent="-342900" algn="l">
              <a:buFont typeface="+mj-lt"/>
              <a:buAutoNum type="alphaUcPeriod"/>
            </a:pPr>
            <a:r>
              <a:rPr lang="en-US" sz="1400"/>
              <a:t>Kinesis Data Streams </a:t>
            </a:r>
          </a:p>
          <a:p>
            <a:pPr marL="571500" indent="-342900" algn="l">
              <a:buFont typeface="+mj-lt"/>
              <a:buAutoNum type="alphaUcPeriod"/>
            </a:pPr>
            <a:r>
              <a:rPr lang="en-US" sz="1400" b="1"/>
              <a:t>AWS Glue </a:t>
            </a:r>
          </a:p>
          <a:p>
            <a:pPr marL="571500" indent="-342900" algn="l">
              <a:buFont typeface="+mj-lt"/>
              <a:buAutoNum type="alphaUcPeriod"/>
            </a:pPr>
            <a:r>
              <a:rPr lang="en-US" sz="1400"/>
              <a:t>Amazon Redshift </a:t>
            </a:r>
          </a:p>
          <a:p>
            <a:pPr marL="571500" indent="-342900" algn="l">
              <a:buFont typeface="+mj-lt"/>
              <a:buAutoNum type="alphaUcPeriod"/>
            </a:pPr>
            <a:r>
              <a:rPr lang="en-US" sz="1400"/>
              <a:t>Amazon </a:t>
            </a:r>
            <a:r>
              <a:rPr lang="en-US" sz="1400" err="1"/>
              <a:t>Quicksight</a:t>
            </a:r>
            <a:endParaRPr lang="en-US" sz="1400"/>
          </a:p>
        </p:txBody>
      </p:sp>
      <p:sp>
        <p:nvSpPr>
          <p:cNvPr id="646" name="Google Shape;646;p37">
            <a:extLst>
              <a:ext uri="{FF2B5EF4-FFF2-40B4-BE49-F238E27FC236}">
                <a16:creationId xmlns:a16="http://schemas.microsoft.com/office/drawing/2014/main" id="{D2426D7B-5781-FF5F-9CF6-66AE031EAF89}"/>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5</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C41025B5-9D92-59F4-D33F-D3C77ED659B6}"/>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17DDB4BB-2CC6-1CCC-DB78-00A6DD3C5D23}"/>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1041275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5C30A5C0-F3D1-73E1-89DB-4AD26821A278}"/>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4B6F74F2-1ECC-42DA-7728-79056C509839}"/>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47</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4FEF2F72-17D2-DE31-55CC-A17C1EA0FF6A}"/>
              </a:ext>
            </a:extLst>
          </p:cNvPr>
          <p:cNvSpPr txBox="1">
            <a:spLocks noGrp="1"/>
          </p:cNvSpPr>
          <p:nvPr>
            <p:ph type="body" idx="1"/>
          </p:nvPr>
        </p:nvSpPr>
        <p:spPr>
          <a:xfrm>
            <a:off x="407344" y="1292514"/>
            <a:ext cx="8296644" cy="3415557"/>
          </a:xfrm>
          <a:prstGeom prst="rect">
            <a:avLst/>
          </a:prstGeom>
          <a:noFill/>
          <a:ln>
            <a:noFill/>
          </a:ln>
        </p:spPr>
        <p:txBody>
          <a:bodyPr spcFirstLastPara="1" wrap="square" lIns="91425" tIns="45700" rIns="91425" bIns="45700" anchor="t" anchorCtr="0">
            <a:noAutofit/>
          </a:bodyPr>
          <a:lstStyle/>
          <a:p>
            <a:pPr marL="228600" indent="0" algn="l"/>
            <a:r>
              <a:rPr lang="en-US" sz="1400" b="1"/>
              <a:t>A financial firm uses Amazon Redshift as its core data warehouse for compliance reporting. Since the data is business-critical, management has instructed you as the Solutions Architect to design a disaster recovery (DR) strategy. What should you do, that ensures data availability even if the entire AWS Region hosting the Redshift cluster becomes unavailable? </a:t>
            </a:r>
          </a:p>
          <a:p>
            <a:pPr marL="228600" indent="0" algn="l"/>
            <a:endParaRPr lang="en-US" sz="1400" b="1"/>
          </a:p>
          <a:p>
            <a:pPr marL="571500" indent="-342900" algn="l">
              <a:buFont typeface="+mj-lt"/>
              <a:buAutoNum type="alphaUcPeriod"/>
            </a:pPr>
            <a:r>
              <a:rPr lang="en-US" sz="1400"/>
              <a:t>For the Redshift cluster to replicate data across Availability Zones automatically, enable Multi AZ.</a:t>
            </a:r>
          </a:p>
          <a:p>
            <a:pPr marL="571500" indent="-342900" algn="l">
              <a:buFont typeface="+mj-lt"/>
              <a:buAutoNum type="alphaUcPeriod"/>
            </a:pPr>
            <a:r>
              <a:rPr lang="en-US" sz="1400"/>
              <a:t>Create a read replica of the Redshift cluster in another AWS Region to serve as a disaster recovery standby</a:t>
            </a:r>
          </a:p>
          <a:p>
            <a:pPr marL="571500" indent="-342900" algn="l">
              <a:buFont typeface="+mj-lt"/>
              <a:buAutoNum type="alphaUcPeriod"/>
            </a:pPr>
            <a:r>
              <a:rPr lang="en-US" sz="1400"/>
              <a:t>Enable automated snapshots and configure Redshift to automatically copy snapshots to another AWS Region</a:t>
            </a:r>
          </a:p>
          <a:p>
            <a:pPr marL="571500" indent="-342900" algn="l">
              <a:buFont typeface="+mj-lt"/>
              <a:buAutoNum type="alphaUcPeriod"/>
            </a:pPr>
            <a:r>
              <a:rPr lang="en-US" sz="1400"/>
              <a:t>Take manual snapshots periodically and download them to on premises storage for restoration if needed.</a:t>
            </a:r>
          </a:p>
        </p:txBody>
      </p:sp>
      <p:sp>
        <p:nvSpPr>
          <p:cNvPr id="646" name="Google Shape;646;p37">
            <a:extLst>
              <a:ext uri="{FF2B5EF4-FFF2-40B4-BE49-F238E27FC236}">
                <a16:creationId xmlns:a16="http://schemas.microsoft.com/office/drawing/2014/main" id="{8BEA1F91-60B5-9802-EDCB-39DC8E380A0A}"/>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6</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652154DE-DC6F-D3AD-028E-71487805CCAF}"/>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11E4311C-E086-0D01-7405-C8BE61EAA84C}"/>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6423962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4C5BC75E-8E15-CD55-0D90-920AE935E0D2}"/>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D4451EE0-DD98-D9CF-69F8-B819590249D8}"/>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48</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3B039813-112E-7477-5B54-0F67EE92343F}"/>
              </a:ext>
            </a:extLst>
          </p:cNvPr>
          <p:cNvSpPr txBox="1">
            <a:spLocks noGrp="1"/>
          </p:cNvSpPr>
          <p:nvPr>
            <p:ph type="body" idx="1"/>
          </p:nvPr>
        </p:nvSpPr>
        <p:spPr>
          <a:xfrm>
            <a:off x="407344" y="1292514"/>
            <a:ext cx="8296644" cy="3415557"/>
          </a:xfrm>
          <a:prstGeom prst="rect">
            <a:avLst/>
          </a:prstGeom>
          <a:noFill/>
          <a:ln>
            <a:noFill/>
          </a:ln>
        </p:spPr>
        <p:txBody>
          <a:bodyPr spcFirstLastPara="1" wrap="square" lIns="91425" tIns="45700" rIns="91425" bIns="45700" anchor="t" anchorCtr="0">
            <a:noAutofit/>
          </a:bodyPr>
          <a:lstStyle/>
          <a:p>
            <a:pPr marL="228600" indent="0" algn="l"/>
            <a:r>
              <a:rPr lang="en-US" sz="1400" b="1"/>
              <a:t>A financial firm uses Amazon Redshift as its core data warehouse for compliance reporting. Since the data is business-critical, management has instructed you as the Solutions Architect to design a disaster recovery (DR) strategy. What should you do, that ensures data availability even if the entire AWS Region hosting the Redshift cluster becomes unavailable? </a:t>
            </a:r>
          </a:p>
          <a:p>
            <a:pPr marL="228600" indent="0" algn="l"/>
            <a:endParaRPr lang="en-US" sz="1400" b="1"/>
          </a:p>
          <a:p>
            <a:pPr marL="571500" indent="-342900" algn="l">
              <a:buFont typeface="+mj-lt"/>
              <a:buAutoNum type="alphaUcPeriod"/>
            </a:pPr>
            <a:r>
              <a:rPr lang="en-US" sz="1400"/>
              <a:t>For the Redshift cluster to replicate data across Availability Zones automatically, enable Multi AZ.</a:t>
            </a:r>
          </a:p>
          <a:p>
            <a:pPr marL="571500" indent="-342900" algn="l">
              <a:buFont typeface="+mj-lt"/>
              <a:buAutoNum type="alphaUcPeriod"/>
            </a:pPr>
            <a:r>
              <a:rPr lang="en-US" sz="1400"/>
              <a:t>Create a read replica of the Redshift cluster in another AWS Region to serve as a disaster recovery standby</a:t>
            </a:r>
          </a:p>
          <a:p>
            <a:pPr marL="571500" indent="-342900" algn="l">
              <a:buFont typeface="+mj-lt"/>
              <a:buAutoNum type="alphaUcPeriod"/>
            </a:pPr>
            <a:r>
              <a:rPr lang="en-US" sz="1400" b="1"/>
              <a:t>Enable automated snapshots and configure Redshift to automatically copy snapshots to another AWS Region</a:t>
            </a:r>
          </a:p>
          <a:p>
            <a:pPr marL="571500" indent="-342900" algn="l">
              <a:buFont typeface="+mj-lt"/>
              <a:buAutoNum type="alphaUcPeriod"/>
            </a:pPr>
            <a:r>
              <a:rPr lang="en-US" sz="1400"/>
              <a:t>Take manual snapshots periodically and download them to on premises storage for restoration if needed.</a:t>
            </a:r>
          </a:p>
        </p:txBody>
      </p:sp>
      <p:sp>
        <p:nvSpPr>
          <p:cNvPr id="646" name="Google Shape;646;p37">
            <a:extLst>
              <a:ext uri="{FF2B5EF4-FFF2-40B4-BE49-F238E27FC236}">
                <a16:creationId xmlns:a16="http://schemas.microsoft.com/office/drawing/2014/main" id="{054D240B-7C6B-46BB-0C42-AB3082BD9CF1}"/>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6</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1C9694CC-9B30-8F08-6C46-33990D0389C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52949530-6ACA-BF5B-80E8-B56647D7B140}"/>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4925512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0</TotalTime>
  <Words>2436</Words>
  <Application>Microsoft Office PowerPoint</Application>
  <PresentationFormat>On-screen Show (16:9)</PresentationFormat>
  <Paragraphs>336</Paragraphs>
  <Slides>48</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Wingdings 3</vt:lpstr>
      <vt:lpstr>Calibri</vt:lpstr>
      <vt:lpstr>Proxima Nova</vt:lpstr>
      <vt:lpstr>Century Gothic</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Syed Rumaan Pasha</dc:creator>
  <cp:lastModifiedBy>john test</cp:lastModifiedBy>
  <cp:revision>22</cp:revision>
  <dcterms:modified xsi:type="dcterms:W3CDTF">2026-07-04T06:22:01Z</dcterms:modified>
</cp:coreProperties>
</file>