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6"/>
  </p:notesMasterIdLst>
  <p:sldIdLst>
    <p:sldId id="256" r:id="rId2"/>
    <p:sldId id="259" r:id="rId3"/>
    <p:sldId id="900" r:id="rId4"/>
    <p:sldId id="260" r:id="rId5"/>
    <p:sldId id="296" r:id="rId6"/>
    <p:sldId id="297" r:id="rId7"/>
    <p:sldId id="298" r:id="rId8"/>
    <p:sldId id="299" r:id="rId9"/>
    <p:sldId id="323" r:id="rId10"/>
    <p:sldId id="324" r:id="rId11"/>
    <p:sldId id="901" r:id="rId12"/>
    <p:sldId id="902" r:id="rId13"/>
    <p:sldId id="903" r:id="rId14"/>
    <p:sldId id="904" r:id="rId15"/>
    <p:sldId id="905" r:id="rId16"/>
    <p:sldId id="300" r:id="rId17"/>
    <p:sldId id="301" r:id="rId18"/>
    <p:sldId id="906" r:id="rId19"/>
    <p:sldId id="907" r:id="rId20"/>
    <p:sldId id="908" r:id="rId21"/>
    <p:sldId id="909" r:id="rId22"/>
    <p:sldId id="910" r:id="rId23"/>
    <p:sldId id="911" r:id="rId24"/>
    <p:sldId id="912" r:id="rId25"/>
    <p:sldId id="914" r:id="rId26"/>
    <p:sldId id="913" r:id="rId27"/>
    <p:sldId id="915" r:id="rId28"/>
    <p:sldId id="916" r:id="rId29"/>
    <p:sldId id="917" r:id="rId30"/>
    <p:sldId id="918" r:id="rId31"/>
    <p:sldId id="919" r:id="rId32"/>
    <p:sldId id="920" r:id="rId33"/>
    <p:sldId id="285" r:id="rId34"/>
    <p:sldId id="286" r:id="rId35"/>
  </p:sldIdLst>
  <p:sldSz cx="9144000" cy="5143500" type="screen16x9"/>
  <p:notesSz cx="6858000" cy="9144000"/>
  <p:embeddedFontLst>
    <p:embeddedFont>
      <p:font typeface="Consolas" panose="020B0609020204030204" pitchFamily="49" charset="0"/>
      <p:regular r:id="rId37"/>
      <p:bold r:id="rId38"/>
      <p:italic r:id="rId39"/>
      <p:boldItalic r:id="rId40"/>
    </p:embeddedFont>
    <p:embeddedFont>
      <p:font typeface="Proxima Nova" panose="020B0604020202020204"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39BA7-0A50-152B-CC95-962FC045A7A4}" v="51" dt="2025-09-13T11:44:51.831"/>
    <p1510:client id="{96E02818-7A2A-4F98-9899-237D3BF0D279}" v="102" dt="2025-09-12T09:54:19.779"/>
    <p1510:client id="{E34EADB0-7C36-4F09-8359-CED1AA4AB890}" v="15" dt="2025-09-12T06:13:21.27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274cb2ecf7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113A226C-D5E4-380E-39DB-16199F45E614}"/>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55C495C3-8545-1C33-AA64-EE663415FA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04409074-5728-7DEB-DC9C-D63B74869A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5255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274cb2ecf7f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A5113A14-ECCB-80D7-969A-57A18FF331D8}"/>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A79CD110-996C-BAD4-A747-6F67B547B4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BCB8167D-714B-56AF-0402-C8FE25609B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7954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868C2462-ED6D-BDFA-E21C-5FC642D8A0F5}"/>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DB05BFA3-7850-F4E1-10A3-76ABCF1450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A8A00212-050E-2DE9-56F1-9A7F3EC92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0880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1DB2F197-1075-6935-59C2-6F9D5EBFF763}"/>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732B1395-939B-87EF-C9C0-0BDB70F9E2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4A01104B-2AFD-56AF-1B23-AE8448F676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8793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C7A78D7B-F8AA-19CB-5EDD-158D3D7F307D}"/>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688A3057-7865-7156-ACDA-4667F7318B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7774FCE4-AE86-4FF7-54C1-A9C83EE761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9312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011BCE5D-B56C-9A66-91E8-924D8A8B58BC}"/>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11B9074B-6715-3AC6-50FC-6B3D3A11B89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10B6FDFE-1E81-E941-D146-EC491C0787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0472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6E4E445A-6157-1AEF-6D2D-E5AE854F5051}"/>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91327E3D-7AE9-BF31-1797-EE416B3FB5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6023DD4A-BCFD-6ACD-31A9-ED6B5198EB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4043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069EDA93-808F-C9FB-5D72-96F168ED1303}"/>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E34629EE-E55C-3620-9271-B0556F026B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A0237005-1FC0-AF5E-991F-B84E85D5BD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9505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101FE626-38AF-11E6-7C07-20459A59CED2}"/>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EF8DFE90-AEA8-4468-6D31-5DB9277C65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78743019-BAD5-B189-2F11-1A4889D7EE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7626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AEDCEA99-E24D-C48F-8D59-1F7BE97422B9}"/>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238876DF-C19D-DD56-65BF-DE7A82573D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FF0D0BBF-3AC4-88F2-FCFC-B32D969BF2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2051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C83F28D7-6AC2-08DE-21C3-3226D2A517AD}"/>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2091EBE0-F687-B27F-C1EC-6802C882CE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03506EF2-0E99-7BCA-4A9A-40751BF1B2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9359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9693AA42-34BF-13D6-4F17-75ADC1B5797C}"/>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745358CD-50B9-BFE8-A51C-59752D4C5E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E1E44A93-48E0-0686-CCD5-F5DF5B9A7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50147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26F6527A-2AEA-20AB-62AE-C2BF77405E1F}"/>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CFCE8904-46D3-4A1C-6498-E7528EE0122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8BD141F6-A78A-8544-ECDC-F1F2D988B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8735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E3CB7282-E454-50BB-A770-BEE941C7E720}"/>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66C5B4B4-53B9-E1DB-76CE-A28E031EE8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F4633E81-1A26-53A1-E855-725E947734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1949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79641FA1-2117-AC2B-777D-81E61E8A1629}"/>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D0235790-DD2D-359E-B517-A9530CE8E88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839B885B-9B85-F3B4-9862-A854A501C3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0010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ADF8E9FD-CEAE-5846-44B6-CE871966B091}"/>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DC342228-A013-55C2-9329-414E5F72A2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7F05AAA4-AC98-07F3-C8B7-FF8E91AF02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028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7A71A03B-62AE-27B9-E6B3-E0A36EFC172A}"/>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B20EEAD5-5CF1-CBB5-FF93-AFE29706EA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99FA967A-1CD2-544E-204E-A7C9EC66F5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07190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6BBDC7B3-5097-53D1-E87F-D0E8B3813603}"/>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AAF8BB43-B0E7-4672-3A0B-C99DA262C9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85451D42-3CA4-B2F7-B30A-6825DD6CC0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305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6A0D9574-533B-C95B-DCF6-3AA9E76C26DA}"/>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E636F92E-D183-3DD6-372F-02F69790FA5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7731B7F3-EB41-3DF8-E091-93B6757A11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2030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0256ACE6-4421-720C-EA46-38491385AFE6}"/>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AFFCF685-FD27-D7C9-77B7-AF15B2B598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C2F9AEE1-D424-75CB-BBF5-C9661AB4D0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82426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8CC1FE48-0D14-7562-0FA7-8490588F7D61}"/>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E310A2C1-B4A3-2740-A039-8866FE4F75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08EBB779-6CB5-8CCB-3771-B36D9C53F3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0630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0E1B52BE-027B-1F5B-7B2E-A74D0C461CAA}"/>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6328DA7D-5CAF-3072-2D84-11B8F17ACE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4DC5ABB0-BCA5-3D7E-E48F-436A8B7F87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44008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80430901-73F2-8956-D3AA-1E2B016C33CD}"/>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54C01AC4-92B8-05E1-1D11-4347F917B9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2BDBE3EF-A1C5-204C-14F5-CE17285AE4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7728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7C43F4A5-326F-C6C0-5D4D-E96855A0FAEC}"/>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E079D83B-554D-2A06-23CD-DA843A553A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3A04195D-D9CB-D086-12E7-8D98D765A2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1685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681DC660-E955-3835-EB50-0020C1340D54}"/>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DAACDAC9-BA54-701A-5D32-E848170350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872AFFE3-E375-0ECC-E1BF-89C7440CB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2859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0F422A06-858F-99B7-4DC4-B6B19A74C2CE}"/>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F2DDFE05-8885-B705-2491-00797C61E5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DCFB2A10-367B-1DBC-D9CF-F705D7586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78818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EB0B1CA4-2B8D-7567-4400-7E83E450C2C3}"/>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47883337-C28A-2BE5-EFB4-228E067C53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1041F951-6178-05D5-81B6-B6154F0795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9135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963732EB-979E-977A-4D48-93E73E6C10F6}"/>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FDEE672A-1573-53BF-EE2E-A32FA78007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3DB3C7C8-56FE-279E-9871-3D5B1AD1A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49673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04CFD6DF-A52E-6961-F493-D26C2346ED96}"/>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7FBC822C-6FA9-8B2A-A957-FEA3E85586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B132E122-F214-41B5-5BED-255E2F0A8D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4474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74cb2ecf7f_0_4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9" name="Google Shape;909;g274cb2ecf7f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E8FA-7E89-6DFB-34B6-37352573BE9E}"/>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0A5B98E6-3D74-C296-B84B-24DC298E9D1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BCBDBD-E67F-0839-8860-8311AB00078B}"/>
              </a:ext>
            </a:extLst>
          </p:cNvPr>
          <p:cNvSpPr>
            <a:spLocks noGrp="1"/>
          </p:cNvSpPr>
          <p:nvPr>
            <p:ph type="dt" sz="half" idx="10"/>
          </p:nvPr>
        </p:nvSpPr>
        <p:spPr/>
        <p:txBody>
          <a:bodyPr/>
          <a:lstStyle/>
          <a:p>
            <a:fld id="{BD7E3D2F-B2E8-4AD5-B579-C643785865FE}" type="datetimeFigureOut">
              <a:rPr lang="en-IN" smtClean="0"/>
              <a:t>04-07-2026</a:t>
            </a:fld>
            <a:endParaRPr lang="en-IN"/>
          </a:p>
        </p:txBody>
      </p:sp>
      <p:sp>
        <p:nvSpPr>
          <p:cNvPr id="5" name="Footer Placeholder 4">
            <a:extLst>
              <a:ext uri="{FF2B5EF4-FFF2-40B4-BE49-F238E27FC236}">
                <a16:creationId xmlns:a16="http://schemas.microsoft.com/office/drawing/2014/main" id="{4172B593-A9D1-0BB8-7543-B1A8469D56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65D004-2E20-8D55-E152-198580D1154F}"/>
              </a:ext>
            </a:extLst>
          </p:cNvPr>
          <p:cNvSpPr>
            <a:spLocks noGrp="1"/>
          </p:cNvSpPr>
          <p:nvPr>
            <p:ph type="sldNum" sz="quarter" idx="12"/>
          </p:nvPr>
        </p:nvSpPr>
        <p:spPr/>
        <p:txBody>
          <a:bodyPr/>
          <a:lstStyle/>
          <a:p>
            <a:fld id="{FBB51B5D-A99F-4779-98D6-093C2274D576}" type="slidenum">
              <a:rPr lang="en-IN" smtClean="0"/>
              <a:t>‹#›</a:t>
            </a:fld>
            <a:endParaRPr lang="en-IN"/>
          </a:p>
        </p:txBody>
      </p:sp>
    </p:spTree>
    <p:extLst>
      <p:ext uri="{BB962C8B-B14F-4D97-AF65-F5344CB8AC3E}">
        <p14:creationId xmlns:p14="http://schemas.microsoft.com/office/powerpoint/2010/main" val="2936308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50F4B-06D7-D7A5-CADE-D3723AAFC5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0045FF-3CC5-C017-732C-90DBE33710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410CF4-5842-11C3-5F70-03E87BCA263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9E7D057-C623-E7BD-1688-6C05D4FD55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7A6853-C40A-8406-2090-21373C9EB42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3083311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D6E9-80AE-4274-5D40-E19725E352CE}"/>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BD69BA-684B-3E96-2CD7-88CCBA230E31}"/>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72E1E3-6303-2376-9350-5857B715B80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D836DA8-A247-AD1D-5A0A-B77C0A9223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1310E6-3423-BA50-ACF2-9F02BE99DE4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26461675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5F7B-1C76-7EE6-1B3B-4256FE793B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54429C-CAA1-A89A-EAB0-5E759879521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025190-3F6F-C725-0BA8-46743519A666}"/>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43094B-2E9A-30A9-2C4B-ACAC1612A85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63F5E7C-B66E-F7C2-EF18-8E8271A525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112E15-638F-B64F-898E-5FBCA64683D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5326726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63D37-11EC-26AD-898F-9F31E548ECEB}"/>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040494-AEF6-4ABD-7394-EB1FC0BE3BD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C967AFA-0C6B-B1F0-D4DD-BA70D87423B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188860-FACB-F563-8F1C-2F597A4BEFA1}"/>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85A4346-3747-62D0-50B1-1FEF2415F03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CAA49C-EEAB-B04E-9489-6EB33315F464}"/>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F1B4CE3E-F3CA-144D-B15E-D7837C63422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7AE7A4A-3226-B3CC-81D5-4B8D1F8CB8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3283134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E32A-141C-BD2D-57C6-17B67F4B7C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ACD182-AEA7-0738-C726-18EE3ABAA607}"/>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005B6027-4D53-30B4-D5E5-FAE70D9F32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A248FF-C901-D53C-70EF-D8EEA38F934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47878854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F4AF13-8822-5CD8-0841-A14C97B06D9B}"/>
              </a:ext>
            </a:extLst>
          </p:cNvPr>
          <p:cNvSpPr>
            <a:spLocks noGrp="1"/>
          </p:cNvSpPr>
          <p:nvPr>
            <p:ph type="dt" sz="half" idx="10"/>
          </p:nvPr>
        </p:nvSpPr>
        <p:spPr/>
        <p:txBody>
          <a:bodyPr/>
          <a:lstStyle/>
          <a:p>
            <a:fld id="{BD7E3D2F-B2E8-4AD5-B579-C643785865FE}" type="datetimeFigureOut">
              <a:rPr lang="en-IN" smtClean="0"/>
              <a:t>04-07-2026</a:t>
            </a:fld>
            <a:endParaRPr lang="en-IN"/>
          </a:p>
        </p:txBody>
      </p:sp>
      <p:sp>
        <p:nvSpPr>
          <p:cNvPr id="3" name="Footer Placeholder 2">
            <a:extLst>
              <a:ext uri="{FF2B5EF4-FFF2-40B4-BE49-F238E27FC236}">
                <a16:creationId xmlns:a16="http://schemas.microsoft.com/office/drawing/2014/main" id="{42A2182F-B0F2-7367-D403-AF183EC0187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A2AC97-7FD7-95D2-D900-624B800A8DAC}"/>
              </a:ext>
            </a:extLst>
          </p:cNvPr>
          <p:cNvSpPr>
            <a:spLocks noGrp="1"/>
          </p:cNvSpPr>
          <p:nvPr>
            <p:ph type="sldNum" sz="quarter" idx="12"/>
          </p:nvPr>
        </p:nvSpPr>
        <p:spPr/>
        <p:txBody>
          <a:bodyPr/>
          <a:lstStyle/>
          <a:p>
            <a:fld id="{FBB51B5D-A99F-4779-98D6-093C2274D576}" type="slidenum">
              <a:rPr lang="en-IN" smtClean="0"/>
              <a:t>‹#›</a:t>
            </a:fld>
            <a:endParaRPr lang="en-IN"/>
          </a:p>
        </p:txBody>
      </p:sp>
    </p:spTree>
    <p:extLst>
      <p:ext uri="{BB962C8B-B14F-4D97-AF65-F5344CB8AC3E}">
        <p14:creationId xmlns:p14="http://schemas.microsoft.com/office/powerpoint/2010/main" val="142311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E2EB6-B378-644A-65F7-A8E5B7BEEE4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F27332-610B-FF02-CE97-BD83C8801036}"/>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9EC3A0-D2FD-AC38-B694-D4FD437BE29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A63A977-D7EF-CA1F-9CD0-52189CAFC83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0D4EA96-E221-86CD-49AF-39C72BA4C3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C45C0C-4F95-3089-E4F0-BD6192EC44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8853112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CE073-3C95-A8A8-1E44-D944E0C4A69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1024A4-33E6-D29E-FFC7-64EE057A40A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DC077EB4-0626-8D5E-8C46-5BAFD58790E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34B0266-58F7-F9F6-984C-6C7BB34034C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C515668-FB9C-0F7D-81EB-5D3F13D65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4D288D-E129-55E2-C317-E4E2602CA0F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6915239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927F-354E-71D6-DA1D-09D851560F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ED0D22-F366-0E3B-8295-F381CD9AC2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823824-11D1-BA3C-96D6-5878269A8C6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48E7A85-21D1-A788-CC37-7F82C13989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3B019F-B4BE-4CB1-DABE-78CDCB34803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21916433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D16E54-E3CB-3A1B-4C0F-18E25A24DE83}"/>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77B93A-1ECB-3377-C479-2939A7CA96B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584B12-0974-A5A1-7ABF-D1554CC3808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D50B85F-2870-D0CF-5FF7-0916E61F8C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F22F04-A439-AE4F-2F77-3DBEED7A639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0027295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2 Line Title and Content">
  <p:cSld name="2_2 Line Title and Content">
    <p:spTree>
      <p:nvGrpSpPr>
        <p:cNvPr id="1" name="Shape 112"/>
        <p:cNvGrpSpPr/>
        <p:nvPr/>
      </p:nvGrpSpPr>
      <p:grpSpPr>
        <a:xfrm>
          <a:off x="0" y="0"/>
          <a:ext cx="0" cy="0"/>
          <a:chOff x="0" y="0"/>
          <a:chExt cx="0" cy="0"/>
        </a:xfrm>
      </p:grpSpPr>
      <p:sp>
        <p:nvSpPr>
          <p:cNvPr id="113" name="Google Shape;113;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114" name="Google Shape;114;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marL="0" marR="0" lvl="1"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marL="0" marR="0" lvl="2"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marL="0" marR="0" lvl="3"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marL="0" marR="0" lvl="4"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marL="0" marR="0" lvl="5"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marL="0" marR="0" lvl="6"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marL="0" marR="0" lvl="7"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marL="0" marR="0" lvl="8"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IN"/>
              <a:t>‹#›</a:t>
            </a:fld>
            <a:endParaRPr/>
          </a:p>
        </p:txBody>
      </p:sp>
      <p:sp>
        <p:nvSpPr>
          <p:cNvPr id="115" name="Google Shape;115;p10"/>
          <p:cNvSpPr txBox="1">
            <a:spLocks noGrp="1"/>
          </p:cNvSpPr>
          <p:nvPr>
            <p:ph type="body" idx="1"/>
          </p:nvPr>
        </p:nvSpPr>
        <p:spPr>
          <a:xfrm>
            <a:off x="3303588" y="1816100"/>
            <a:ext cx="5265737" cy="26193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17" name="Google Shape;117;p10"/>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33889975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9"/>
        <p:cNvGrpSpPr/>
        <p:nvPr/>
      </p:nvGrpSpPr>
      <p:grpSpPr>
        <a:xfrm>
          <a:off x="0" y="0"/>
          <a:ext cx="0" cy="0"/>
          <a:chOff x="0" y="0"/>
          <a:chExt cx="0" cy="0"/>
        </a:xfrm>
      </p:grpSpPr>
      <p:sp>
        <p:nvSpPr>
          <p:cNvPr id="31" name="Google Shape;31;p4"/>
          <p:cNvSpPr txBox="1">
            <a:spLocks noGrp="1"/>
          </p:cNvSpPr>
          <p:nvPr>
            <p:ph type="title"/>
          </p:nvPr>
        </p:nvSpPr>
        <p:spPr>
          <a:xfrm>
            <a:off x="630238" y="544498"/>
            <a:ext cx="5990568" cy="5624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Proxima Nova"/>
                <a:ea typeface="Proxima Nova"/>
                <a:cs typeface="Proxima Nova"/>
                <a:sym typeface="Proxima Nova"/>
              </a:defRPr>
            </a:lvl1pPr>
            <a:lvl2pPr marL="0" lvl="1" indent="0" algn="r">
              <a:spcBef>
                <a:spcPts val="0"/>
              </a:spcBef>
              <a:buNone/>
              <a:defRPr sz="900" b="0" i="0" u="none" strike="noStrike" cap="none">
                <a:solidFill>
                  <a:schemeClr val="lt1"/>
                </a:solidFill>
                <a:latin typeface="Proxima Nova"/>
                <a:ea typeface="Proxima Nova"/>
                <a:cs typeface="Proxima Nova"/>
                <a:sym typeface="Proxima Nova"/>
              </a:defRPr>
            </a:lvl2pPr>
            <a:lvl3pPr marL="0" lvl="2" indent="0" algn="r">
              <a:spcBef>
                <a:spcPts val="0"/>
              </a:spcBef>
              <a:buNone/>
              <a:defRPr sz="900" b="0" i="0" u="none" strike="noStrike" cap="none">
                <a:solidFill>
                  <a:schemeClr val="lt1"/>
                </a:solidFill>
                <a:latin typeface="Proxima Nova"/>
                <a:ea typeface="Proxima Nova"/>
                <a:cs typeface="Proxima Nova"/>
                <a:sym typeface="Proxima Nova"/>
              </a:defRPr>
            </a:lvl3pPr>
            <a:lvl4pPr marL="0" lvl="3" indent="0" algn="r">
              <a:spcBef>
                <a:spcPts val="0"/>
              </a:spcBef>
              <a:buNone/>
              <a:defRPr sz="900" b="0" i="0" u="none" strike="noStrike" cap="none">
                <a:solidFill>
                  <a:schemeClr val="lt1"/>
                </a:solidFill>
                <a:latin typeface="Proxima Nova"/>
                <a:ea typeface="Proxima Nova"/>
                <a:cs typeface="Proxima Nova"/>
                <a:sym typeface="Proxima Nova"/>
              </a:defRPr>
            </a:lvl4pPr>
            <a:lvl5pPr marL="0" lvl="4" indent="0" algn="r">
              <a:spcBef>
                <a:spcPts val="0"/>
              </a:spcBef>
              <a:buNone/>
              <a:defRPr sz="900" b="0" i="0" u="none" strike="noStrike" cap="none">
                <a:solidFill>
                  <a:schemeClr val="lt1"/>
                </a:solidFill>
                <a:latin typeface="Proxima Nova"/>
                <a:ea typeface="Proxima Nova"/>
                <a:cs typeface="Proxima Nova"/>
                <a:sym typeface="Proxima Nova"/>
              </a:defRPr>
            </a:lvl5pPr>
            <a:lvl6pPr marL="0" lvl="5" indent="0" algn="r">
              <a:spcBef>
                <a:spcPts val="0"/>
              </a:spcBef>
              <a:buNone/>
              <a:defRPr sz="900" b="0" i="0" u="none" strike="noStrike" cap="none">
                <a:solidFill>
                  <a:schemeClr val="lt1"/>
                </a:solidFill>
                <a:latin typeface="Proxima Nova"/>
                <a:ea typeface="Proxima Nova"/>
                <a:cs typeface="Proxima Nova"/>
                <a:sym typeface="Proxima Nova"/>
              </a:defRPr>
            </a:lvl6pPr>
            <a:lvl7pPr marL="0" lvl="6" indent="0" algn="r">
              <a:spcBef>
                <a:spcPts val="0"/>
              </a:spcBef>
              <a:buNone/>
              <a:defRPr sz="900" b="0" i="0" u="none" strike="noStrike" cap="none">
                <a:solidFill>
                  <a:schemeClr val="lt1"/>
                </a:solidFill>
                <a:latin typeface="Proxima Nova"/>
                <a:ea typeface="Proxima Nova"/>
                <a:cs typeface="Proxima Nova"/>
                <a:sym typeface="Proxima Nova"/>
              </a:defRPr>
            </a:lvl7pPr>
            <a:lvl8pPr marL="0" lvl="7" indent="0" algn="r">
              <a:spcBef>
                <a:spcPts val="0"/>
              </a:spcBef>
              <a:buNone/>
              <a:defRPr sz="900" b="0" i="0" u="none" strike="noStrike" cap="none">
                <a:solidFill>
                  <a:schemeClr val="lt1"/>
                </a:solidFill>
                <a:latin typeface="Proxima Nova"/>
                <a:ea typeface="Proxima Nova"/>
                <a:cs typeface="Proxima Nova"/>
                <a:sym typeface="Proxima Nova"/>
              </a:defRPr>
            </a:lvl8pPr>
            <a:lvl9pPr marL="0" lvl="8" indent="0" algn="r">
              <a:spcBef>
                <a:spcPts val="0"/>
              </a:spcBef>
              <a:buNone/>
              <a:defRPr sz="9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182389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7E78D5-CD12-6563-7B5A-676C40C76D9C}"/>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46EBC4-086F-B729-08E4-B4A32049523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193A7A-179A-1CDF-4987-7A9521323CE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32C2BA86-18FC-4841-7475-F4E7698D57C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09264B-DE0E-A4CF-6B6B-DC9CD51EBFD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479118937"/>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34"/>
          <p:cNvSpPr txBox="1"/>
          <p:nvPr/>
        </p:nvSpPr>
        <p:spPr>
          <a:xfrm>
            <a:off x="555025" y="1417902"/>
            <a:ext cx="6895200" cy="1869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PCP Cloud Computing and DevOps</a:t>
            </a:r>
            <a:endParaRPr sz="4000" b="0" i="0" u="none" strike="noStrike" cap="none">
              <a:solidFill>
                <a:schemeClr val="dk1"/>
              </a:solidFill>
              <a:latin typeface="Proxima Nova"/>
              <a:ea typeface="Proxima Nova"/>
              <a:cs typeface="Proxima Nova"/>
              <a:sym typeface="Proxima Nova"/>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9" name="Google Shape;649;p37"/>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a:t>
            </a:fld>
            <a:endParaRPr sz="900">
              <a:solidFill>
                <a:srgbClr val="FF0000"/>
              </a:solidFill>
              <a:latin typeface="Proxima Nova"/>
              <a:ea typeface="Proxima Nova"/>
              <a:cs typeface="Proxima Nova"/>
              <a:sym typeface="Proxima Nova"/>
            </a:endParaRPr>
          </a:p>
        </p:txBody>
      </p:sp>
      <p:sp>
        <p:nvSpPr>
          <p:cNvPr id="645" name="Google Shape;645;p37"/>
          <p:cNvSpPr txBox="1">
            <a:spLocks noGrp="1"/>
          </p:cNvSpPr>
          <p:nvPr>
            <p:ph type="body" idx="1"/>
          </p:nvPr>
        </p:nvSpPr>
        <p:spPr>
          <a:xfrm>
            <a:off x="1441457" y="1292514"/>
            <a:ext cx="6054718" cy="2976349"/>
          </a:xfrm>
          <a:prstGeom prst="rect">
            <a:avLst/>
          </a:prstGeom>
          <a:noFill/>
          <a:ln>
            <a:noFill/>
          </a:ln>
        </p:spPr>
        <p:txBody>
          <a:bodyPr spcFirstLastPara="1" wrap="square" lIns="91425" tIns="45700" rIns="91425" bIns="45700" anchor="t" anchorCtr="0">
            <a:noAutofit/>
          </a:bodyPr>
          <a:lstStyle/>
          <a:p>
            <a:pPr marL="514350" indent="-285750" algn="l">
              <a:buFont typeface="Arial" panose="020B0604020202020204" pitchFamily="34" charset="0"/>
              <a:buChar char="•"/>
            </a:pPr>
            <a:r>
              <a:rPr lang="en-US" sz="1400" dirty="0"/>
              <a:t>Amazon EC2 provides secure, resizable compute capacity in the AWS Cloud, enabling you to launch virtual servers as needed, configure security and networking, and scale up or down to handle changes in requirements.</a:t>
            </a:r>
          </a:p>
          <a:p>
            <a:pPr marL="514350" indent="-285750" algn="l">
              <a:buFont typeface="Arial" panose="020B0604020202020204" pitchFamily="34" charset="0"/>
              <a:buChar char="•"/>
            </a:pPr>
            <a:r>
              <a:rPr lang="en-US" sz="1400" dirty="0"/>
              <a:t>Benefits include: no need to invest in hardware, fast deployment, pay-as-you-go pricing, tight integration with other AWS services.</a:t>
            </a:r>
          </a:p>
          <a:p>
            <a:pPr marL="514350" indent="-285750" algn="l">
              <a:buFont typeface="Arial" panose="020B0604020202020204" pitchFamily="34" charset="0"/>
              <a:buChar char="•"/>
            </a:pPr>
            <a:r>
              <a:rPr lang="en-US" sz="1400" dirty="0"/>
              <a:t>Use cases: web servers, batch processing, high-performance computing, big data, container hosts.</a:t>
            </a:r>
            <a:endParaRPr lang="en-IN" sz="1400" dirty="0"/>
          </a:p>
        </p:txBody>
      </p:sp>
      <p:sp>
        <p:nvSpPr>
          <p:cNvPr id="646" name="Google Shape;646;p37"/>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Amazon EC2 – Basics</a:t>
            </a:r>
            <a:endParaRPr sz="1800" dirty="0">
              <a:solidFill>
                <a:schemeClr val="dk1"/>
              </a:solidFill>
              <a:latin typeface="Calibri"/>
              <a:ea typeface="Calibri"/>
              <a:cs typeface="Calibri"/>
              <a:sym typeface="Calibri"/>
            </a:endParaRPr>
          </a:p>
        </p:txBody>
      </p:sp>
      <p:sp>
        <p:nvSpPr>
          <p:cNvPr id="647" name="Google Shape;647;p37"/>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8866245C-15B6-AFB5-CB52-EA097F7D3DE0}"/>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261DF08A-17B4-6B05-8676-47A6723A8E74}"/>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E3746F5B-CC02-7F6D-3B2A-ADE888C1501F}"/>
              </a:ext>
            </a:extLst>
          </p:cNvPr>
          <p:cNvSpPr txBox="1">
            <a:spLocks noGrp="1"/>
          </p:cNvSpPr>
          <p:nvPr>
            <p:ph type="body" idx="1"/>
          </p:nvPr>
        </p:nvSpPr>
        <p:spPr>
          <a:xfrm>
            <a:off x="1441457" y="1292514"/>
            <a:ext cx="6054718" cy="2976349"/>
          </a:xfrm>
          <a:prstGeom prst="rect">
            <a:avLst/>
          </a:prstGeom>
          <a:noFill/>
          <a:ln>
            <a:noFill/>
          </a:ln>
        </p:spPr>
        <p:txBody>
          <a:bodyPr spcFirstLastPara="1" wrap="square" lIns="91425" tIns="45700" rIns="91425" bIns="45700" anchor="t" anchorCtr="0">
            <a:noAutofit/>
          </a:bodyPr>
          <a:lstStyle/>
          <a:p>
            <a:pPr marL="514350" indent="-285750" algn="l">
              <a:buFont typeface="Arial" panose="020B0604020202020204" pitchFamily="34" charset="0"/>
              <a:buChar char="•"/>
            </a:pPr>
            <a:r>
              <a:rPr lang="en-US" sz="1400" dirty="0"/>
              <a:t>EC2 instance types are grouped in families based on compute, memory, storage, and network capacity</a:t>
            </a:r>
          </a:p>
          <a:p>
            <a:pPr marL="514350" indent="-285750" algn="l">
              <a:buFont typeface="Arial" panose="020B0604020202020204" pitchFamily="34" charset="0"/>
              <a:buChar char="•"/>
            </a:pPr>
            <a:r>
              <a:rPr lang="en-US" sz="1400" dirty="0"/>
              <a:t>Example families:</a:t>
            </a:r>
          </a:p>
          <a:p>
            <a:pPr marL="971550" lvl="1" indent="-285750">
              <a:buFont typeface="Arial" panose="020B0604020202020204" pitchFamily="34" charset="0"/>
              <a:buChar char="•"/>
            </a:pPr>
            <a:r>
              <a:rPr lang="en-US" sz="1400" dirty="0"/>
              <a:t>General Purpose (balance)</a:t>
            </a:r>
          </a:p>
          <a:p>
            <a:pPr marL="971550" lvl="1" indent="-285750">
              <a:buFont typeface="Arial" panose="020B0604020202020204" pitchFamily="34" charset="0"/>
              <a:buChar char="•"/>
            </a:pPr>
            <a:r>
              <a:rPr lang="en-US" sz="1400" dirty="0"/>
              <a:t>Compute Optimized</a:t>
            </a:r>
          </a:p>
          <a:p>
            <a:pPr marL="971550" lvl="1" indent="-285750">
              <a:buFont typeface="Arial" panose="020B0604020202020204" pitchFamily="34" charset="0"/>
              <a:buChar char="•"/>
            </a:pPr>
            <a:r>
              <a:rPr lang="en-US" sz="1400" dirty="0"/>
              <a:t>Memory Optimized</a:t>
            </a:r>
          </a:p>
          <a:p>
            <a:pPr marL="971550" lvl="1" indent="-285750">
              <a:buFont typeface="Arial" panose="020B0604020202020204" pitchFamily="34" charset="0"/>
              <a:buChar char="•"/>
            </a:pPr>
            <a:r>
              <a:rPr lang="en-US" sz="1400" dirty="0"/>
              <a:t>Accelerated Computing</a:t>
            </a:r>
          </a:p>
          <a:p>
            <a:pPr marL="971550" lvl="1" indent="-285750">
              <a:buFont typeface="Arial" panose="020B0604020202020204" pitchFamily="34" charset="0"/>
              <a:buChar char="•"/>
            </a:pPr>
            <a:r>
              <a:rPr lang="en-US" sz="1400" dirty="0"/>
              <a:t>Storage Optimized</a:t>
            </a:r>
          </a:p>
          <a:p>
            <a:pPr marL="514350" indent="-285750" algn="l">
              <a:buFont typeface="Arial" panose="020B0604020202020204" pitchFamily="34" charset="0"/>
              <a:buChar char="•"/>
            </a:pPr>
            <a:r>
              <a:rPr lang="en-US" sz="1400" dirty="0"/>
              <a:t>Choose the type that aligns with your application’s workload (CPU-heavy, memory-heavy, storage-intensive).</a:t>
            </a:r>
            <a:endParaRPr lang="en-IN" sz="1400" dirty="0"/>
          </a:p>
        </p:txBody>
      </p:sp>
      <p:sp>
        <p:nvSpPr>
          <p:cNvPr id="646" name="Google Shape;646;p37">
            <a:extLst>
              <a:ext uri="{FF2B5EF4-FFF2-40B4-BE49-F238E27FC236}">
                <a16:creationId xmlns:a16="http://schemas.microsoft.com/office/drawing/2014/main" id="{7A86D878-475D-3856-4568-FB90FB40F01D}"/>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EC2 – Instance Types</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3C244CCC-82F5-4099-DF36-6F230788B3F0}"/>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C095ACCB-FCF3-6C80-5645-94CB6A777978}"/>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145853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9" name="Google Shape;659;p38"/>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a:t>
            </a:fld>
            <a:endParaRPr sz="900">
              <a:solidFill>
                <a:srgbClr val="FF0000"/>
              </a:solidFill>
              <a:latin typeface="Proxima Nova"/>
              <a:ea typeface="Proxima Nova"/>
              <a:cs typeface="Proxima Nova"/>
              <a:sym typeface="Proxima Nova"/>
            </a:endParaRPr>
          </a:p>
        </p:txBody>
      </p:sp>
      <p:sp>
        <p:nvSpPr>
          <p:cNvPr id="655" name="Google Shape;655;p38"/>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On-Demand Instances: pay by the hour or second, no long-term commitment</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Reserved Instances (Standard &amp; Convertible): commit to 1- or 3-year term for significant discounts versus On-Demand</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Spot Instances: use spare EC2 capacity at deep discounts (up to ~90%) but can be interrupted</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Savings Plans: commit to a consistent $/hour usage across EC2, Lambda, Fargate, and receive discounted rates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When selecting a purchasing option, match your usage pattern: steady baseline workloads → RIs/Savings Plans, flexible workloads → On-Demand or Spot.</a:t>
            </a:r>
            <a:endParaRPr lang="en-IN" sz="1400" dirty="0"/>
          </a:p>
        </p:txBody>
      </p:sp>
      <p:sp>
        <p:nvSpPr>
          <p:cNvPr id="656" name="Google Shape;656;p38"/>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Purchasing Options</a:t>
            </a:r>
            <a:endParaRPr sz="1800" dirty="0">
              <a:solidFill>
                <a:schemeClr val="dk1"/>
              </a:solidFill>
              <a:latin typeface="Calibri"/>
              <a:ea typeface="Calibri"/>
              <a:cs typeface="Calibri"/>
              <a:sym typeface="Calibri"/>
            </a:endParaRPr>
          </a:p>
        </p:txBody>
      </p:sp>
      <p:sp>
        <p:nvSpPr>
          <p:cNvPr id="657" name="Google Shape;657;p38"/>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B996ED74-E696-23A9-4B35-D3C9355DF50F}"/>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1140DE72-EDF5-F036-2E21-6D896124A98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5</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E9E28932-5190-1466-B040-3B3937477C9E}"/>
              </a:ext>
            </a:extLst>
          </p:cNvPr>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A Security Group acts as a virtual firewall for EC2 instances, controlling inbound and outbound traffic at the instance level.</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You attach one or more security groups to an instance; each group has rules specifying allowed protocols, ports, and source/destination IP ranges.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Best practices:</a:t>
            </a:r>
          </a:p>
          <a:p>
            <a:pPr marL="882650" lvl="1" indent="-285750">
              <a:lnSpc>
                <a:spcPct val="100000"/>
              </a:lnSpc>
              <a:spcBef>
                <a:spcPts val="750"/>
              </a:spcBef>
              <a:buSzPts val="1400"/>
              <a:buFont typeface="Arial" panose="020B0604020202020204" pitchFamily="34" charset="0"/>
              <a:buChar char="•"/>
            </a:pPr>
            <a:r>
              <a:rPr lang="en-US" sz="1400" dirty="0"/>
              <a:t>Use least-privilege (only open required ports).</a:t>
            </a:r>
          </a:p>
          <a:p>
            <a:pPr marL="882650" lvl="1" indent="-285750">
              <a:lnSpc>
                <a:spcPct val="100000"/>
              </a:lnSpc>
              <a:spcBef>
                <a:spcPts val="750"/>
              </a:spcBef>
              <a:buSzPts val="1400"/>
              <a:buFont typeface="Arial" panose="020B0604020202020204" pitchFamily="34" charset="0"/>
              <a:buChar char="•"/>
            </a:pPr>
            <a:r>
              <a:rPr lang="en-US" sz="1400" dirty="0"/>
              <a:t>Restrict Admin access by source IP and enable MFA.</a:t>
            </a:r>
          </a:p>
          <a:p>
            <a:pPr marL="882650" lvl="1" indent="-285750">
              <a:lnSpc>
                <a:spcPct val="100000"/>
              </a:lnSpc>
              <a:spcBef>
                <a:spcPts val="750"/>
              </a:spcBef>
              <a:buSzPts val="1400"/>
              <a:buFont typeface="Arial" panose="020B0604020202020204" pitchFamily="34" charset="0"/>
              <a:buChar char="•"/>
            </a:pPr>
            <a:r>
              <a:rPr lang="en-US" sz="1400" dirty="0"/>
              <a:t>Regularly review and clean up unused rules.</a:t>
            </a:r>
            <a:endParaRPr lang="en-IN" sz="1400" dirty="0"/>
          </a:p>
        </p:txBody>
      </p:sp>
      <p:sp>
        <p:nvSpPr>
          <p:cNvPr id="656" name="Google Shape;656;p38">
            <a:extLst>
              <a:ext uri="{FF2B5EF4-FFF2-40B4-BE49-F238E27FC236}">
                <a16:creationId xmlns:a16="http://schemas.microsoft.com/office/drawing/2014/main" id="{BE529049-1B09-B200-6283-7A40195F5E3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Security Groups</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792068B0-4CCA-A95C-273B-00C05B1398C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FECF6978-B603-16C8-EDAB-4298843AA78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58605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964C1DC5-EC89-AF89-6164-613A6282A591}"/>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76DCD8B2-D4A4-95EF-18CE-3B640652046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6</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0188704B-BA6D-ADC7-F006-81E959837850}"/>
              </a:ext>
            </a:extLst>
          </p:cNvPr>
          <p:cNvSpPr txBox="1">
            <a:spLocks noGrp="1"/>
          </p:cNvSpPr>
          <p:nvPr>
            <p:ph type="body" idx="1"/>
          </p:nvPr>
        </p:nvSpPr>
        <p:spPr>
          <a:xfrm>
            <a:off x="813595" y="1338549"/>
            <a:ext cx="7516800" cy="3098539"/>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Private IP: assigned to an instance in a VPC subnet. Used for internal communication within a VPC; not accessible from the internet.</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Public IP: automatically assigned to instances in a public subnet; allows internet access but may change on restart.</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Elastic IP: static public IPv4 address you can allocate to your account and assign to an instance; remains constant even if instance is stopped and started.</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Use cases:</a:t>
            </a:r>
          </a:p>
          <a:p>
            <a:pPr marL="882650" lvl="1" indent="-285750">
              <a:lnSpc>
                <a:spcPct val="100000"/>
              </a:lnSpc>
              <a:spcBef>
                <a:spcPts val="750"/>
              </a:spcBef>
              <a:buSzPts val="1400"/>
              <a:buFont typeface="Arial" panose="020B0604020202020204" pitchFamily="34" charset="0"/>
              <a:buChar char="•"/>
            </a:pPr>
            <a:r>
              <a:rPr lang="en-US" sz="1400" dirty="0"/>
              <a:t>Private IPs for backend instances.</a:t>
            </a:r>
          </a:p>
          <a:p>
            <a:pPr marL="882650" lvl="1" indent="-285750">
              <a:lnSpc>
                <a:spcPct val="100000"/>
              </a:lnSpc>
              <a:spcBef>
                <a:spcPts val="750"/>
              </a:spcBef>
              <a:buSzPts val="1400"/>
              <a:buFont typeface="Arial" panose="020B0604020202020204" pitchFamily="34" charset="0"/>
              <a:buChar char="•"/>
            </a:pPr>
            <a:r>
              <a:rPr lang="en-US" sz="1400" dirty="0"/>
              <a:t>Public/Elastic IPs for internet-facing services.</a:t>
            </a:r>
          </a:p>
          <a:p>
            <a:pPr marL="882650" lvl="1" indent="-285750">
              <a:lnSpc>
                <a:spcPct val="100000"/>
              </a:lnSpc>
              <a:spcBef>
                <a:spcPts val="750"/>
              </a:spcBef>
              <a:buSzPts val="1400"/>
              <a:buFont typeface="Arial" panose="020B0604020202020204" pitchFamily="34" charset="0"/>
              <a:buChar char="•"/>
            </a:pPr>
            <a:r>
              <a:rPr lang="en-US" sz="1400" dirty="0"/>
              <a:t>Use Elastic IP when you need a fixed external address (e.g., DNS mapping, whitelisting).</a:t>
            </a:r>
            <a:endParaRPr lang="en-IN" sz="1400" dirty="0"/>
          </a:p>
        </p:txBody>
      </p:sp>
      <p:sp>
        <p:nvSpPr>
          <p:cNvPr id="656" name="Google Shape;656;p38">
            <a:extLst>
              <a:ext uri="{FF2B5EF4-FFF2-40B4-BE49-F238E27FC236}">
                <a16:creationId xmlns:a16="http://schemas.microsoft.com/office/drawing/2014/main" id="{D710CD27-F6F3-42E5-BF95-D474FC7347A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Public, Private &amp; Elastic IPs</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41842FE-AE4C-702F-FF14-5AF3A6DE9E8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11AB327E-4660-9B62-D1B5-AA519F5BFAB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49169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CA97C161-B209-9534-5915-C9D02487172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1FB76D98-21E5-B596-0D05-F1A13385E87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7</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2EF4FC44-30F7-0A6A-E465-12A4A3098038}"/>
              </a:ext>
            </a:extLst>
          </p:cNvPr>
          <p:cNvSpPr txBox="1">
            <a:spLocks noGrp="1"/>
          </p:cNvSpPr>
          <p:nvPr>
            <p:ph type="body" idx="1"/>
          </p:nvPr>
        </p:nvSpPr>
        <p:spPr>
          <a:xfrm>
            <a:off x="813595" y="1338549"/>
            <a:ext cx="7516800" cy="3170249"/>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Placement groups determine how instances are placed on underlying hardware. </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Types:</a:t>
            </a:r>
          </a:p>
          <a:p>
            <a:pPr marL="882650" lvl="1" indent="-285750">
              <a:lnSpc>
                <a:spcPct val="100000"/>
              </a:lnSpc>
              <a:spcBef>
                <a:spcPts val="750"/>
              </a:spcBef>
              <a:buSzPts val="1400"/>
              <a:buFont typeface="Arial" panose="020B0604020202020204" pitchFamily="34" charset="0"/>
              <a:buChar char="•"/>
            </a:pPr>
            <a:r>
              <a:rPr lang="en-US" sz="1400" dirty="0"/>
              <a:t>Cluster: Instances placed close together in a single AZ to achieve low latency, high throughput network.</a:t>
            </a:r>
          </a:p>
          <a:p>
            <a:pPr marL="882650" lvl="1" indent="-285750">
              <a:lnSpc>
                <a:spcPct val="100000"/>
              </a:lnSpc>
              <a:spcBef>
                <a:spcPts val="750"/>
              </a:spcBef>
              <a:buSzPts val="1400"/>
              <a:buFont typeface="Arial" panose="020B0604020202020204" pitchFamily="34" charset="0"/>
              <a:buChar char="•"/>
            </a:pPr>
            <a:r>
              <a:rPr lang="en-US" sz="1400" dirty="0"/>
              <a:t>Spread: Instances distributed across distinct underlying hardware for higher fault tolerance.</a:t>
            </a:r>
          </a:p>
          <a:p>
            <a:pPr marL="882650" lvl="1" indent="-285750">
              <a:lnSpc>
                <a:spcPct val="100000"/>
              </a:lnSpc>
              <a:spcBef>
                <a:spcPts val="750"/>
              </a:spcBef>
              <a:buSzPts val="1400"/>
              <a:buFont typeface="Arial" panose="020B0604020202020204" pitchFamily="34" charset="0"/>
              <a:buChar char="•"/>
            </a:pPr>
            <a:r>
              <a:rPr lang="en-US" sz="1400" dirty="0"/>
              <a:t>Partition: Instances divided into partitions across racks; useful for large distributed systems.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Use placement groups when you need either low-latency networks (cluster) or fault-isolated placement (spread/partition).</a:t>
            </a:r>
            <a:endParaRPr lang="en-IN" sz="1400" dirty="0"/>
          </a:p>
        </p:txBody>
      </p:sp>
      <p:sp>
        <p:nvSpPr>
          <p:cNvPr id="656" name="Google Shape;656;p38">
            <a:extLst>
              <a:ext uri="{FF2B5EF4-FFF2-40B4-BE49-F238E27FC236}">
                <a16:creationId xmlns:a16="http://schemas.microsoft.com/office/drawing/2014/main" id="{25961BAA-66B4-69CB-BC02-BB21BE126C0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Placement Groups</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D5033EB7-F408-2524-269B-AD60BA91FB7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61E379B4-EEAD-5E6A-74C9-2D4257E2EA89}"/>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011176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F6C356E0-0CCC-6560-BABA-149D6BCC5175}"/>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AC8BAEB3-3A1C-4A4D-240E-49610C99AB3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8</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CA873FEB-91CD-31D6-9D4D-412563A17E68}"/>
              </a:ext>
            </a:extLst>
          </p:cNvPr>
          <p:cNvSpPr txBox="1">
            <a:spLocks noGrp="1"/>
          </p:cNvSpPr>
          <p:nvPr>
            <p:ph type="body" idx="1"/>
          </p:nvPr>
        </p:nvSpPr>
        <p:spPr>
          <a:xfrm>
            <a:off x="813595" y="1338549"/>
            <a:ext cx="7516800" cy="3170249"/>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Scalability: Ability to increase/decrease compute resources to match demand (horizontal or vertical).</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High Availability (HA): Architecture that remains operational under failure conditions, often by using multiple Availability Zones (AZs).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Amazon EC2 Auto Scaling (ASG) enables you to automatically increase or decrease the number of EC2 instances based on user-defined policies, health checks, and schedules.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With ASG and multi-AZ deployment, you ensure resiliency: if one AZ fails, instances in other AZs maintain service.</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Integrating ASG with load balancers ensures new instances automatically register and unhealthy ones are removed — this helps both scalability and availability.</a:t>
            </a:r>
          </a:p>
        </p:txBody>
      </p:sp>
      <p:sp>
        <p:nvSpPr>
          <p:cNvPr id="656" name="Google Shape;656;p38">
            <a:extLst>
              <a:ext uri="{FF2B5EF4-FFF2-40B4-BE49-F238E27FC236}">
                <a16:creationId xmlns:a16="http://schemas.microsoft.com/office/drawing/2014/main" id="{A901CD76-99D0-B6AF-37CF-590C57643DF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Scalability &amp; High Availability</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D37EAE9-E70F-E0D2-9725-3A4BD49ABAF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AF6709AF-4D9F-8DF8-15F4-FCF9AC046CB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92843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AF91DA70-E0E7-C4DE-9167-7C3BDCA94BF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552D580D-8796-9CED-BDBD-C7989249BAE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9</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9D7ACA31-5FB9-F19C-490B-76FF309A53F4}"/>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dirty="0"/>
              <a:t>AWS offers multiple load balancer types:</a:t>
            </a:r>
          </a:p>
          <a:p>
            <a:pPr marL="882650" lvl="1" indent="-285750">
              <a:lnSpc>
                <a:spcPct val="100000"/>
              </a:lnSpc>
              <a:spcBef>
                <a:spcPts val="750"/>
              </a:spcBef>
              <a:buSzPts val="1400"/>
              <a:buFont typeface="Arial" panose="020B0604020202020204" pitchFamily="34" charset="0"/>
              <a:buChar char="•"/>
            </a:pPr>
            <a:r>
              <a:rPr lang="en-IN" sz="1400" dirty="0"/>
              <a:t>Application Load Balancer (ALB): Layer-7 (HTTP/HTTPS) routing, path-based and host-based routing, supports </a:t>
            </a:r>
            <a:r>
              <a:rPr lang="en-IN" sz="1400" dirty="0" err="1"/>
              <a:t>WebSockets</a:t>
            </a:r>
            <a:r>
              <a:rPr lang="en-IN" sz="1400" dirty="0"/>
              <a:t> and container workloads.</a:t>
            </a:r>
          </a:p>
          <a:p>
            <a:pPr marL="882650" lvl="1" indent="-285750">
              <a:lnSpc>
                <a:spcPct val="100000"/>
              </a:lnSpc>
              <a:spcBef>
                <a:spcPts val="750"/>
              </a:spcBef>
              <a:buSzPts val="1400"/>
              <a:buFont typeface="Arial" panose="020B0604020202020204" pitchFamily="34" charset="0"/>
              <a:buChar char="•"/>
            </a:pPr>
            <a:r>
              <a:rPr lang="en-IN" sz="1400" dirty="0"/>
              <a:t>Network Load Balancer (NLB): Layer-4 (TCP/UDP), high throughput, low latency, static IP support.</a:t>
            </a:r>
          </a:p>
          <a:p>
            <a:pPr marL="882650" lvl="1" indent="-285750">
              <a:lnSpc>
                <a:spcPct val="100000"/>
              </a:lnSpc>
              <a:spcBef>
                <a:spcPts val="750"/>
              </a:spcBef>
              <a:buSzPts val="1400"/>
              <a:buFont typeface="Arial" panose="020B0604020202020204" pitchFamily="34" charset="0"/>
              <a:buChar char="•"/>
            </a:pPr>
            <a:r>
              <a:rPr lang="en-IN" sz="1400" dirty="0"/>
              <a:t>Gateway Load Balancer (GLB): Integrates with third-party network virtual appliances and enables deployment of third-party virtual appliances at scale.</a:t>
            </a:r>
          </a:p>
          <a:p>
            <a:pPr marL="882650" lvl="1" indent="-285750">
              <a:lnSpc>
                <a:spcPct val="100000"/>
              </a:lnSpc>
              <a:spcBef>
                <a:spcPts val="750"/>
              </a:spcBef>
              <a:buSzPts val="1400"/>
              <a:buFont typeface="Arial" panose="020B0604020202020204" pitchFamily="34" charset="0"/>
              <a:buChar char="•"/>
            </a:pPr>
            <a:r>
              <a:rPr lang="en-IN" sz="1400" dirty="0"/>
              <a:t>Classic Load Balancer (CLB): Legacy Layer-4/7 load balancer; use ALB/NLB for new workloads.</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dirty="0"/>
              <a:t>Selection criteria: protocol, performance, features required (e.g., container support, SSL termination, static IPs).</a:t>
            </a:r>
            <a:endParaRPr lang="en-IN" sz="1100" dirty="0"/>
          </a:p>
        </p:txBody>
      </p:sp>
      <p:sp>
        <p:nvSpPr>
          <p:cNvPr id="656" name="Google Shape;656;p38">
            <a:extLst>
              <a:ext uri="{FF2B5EF4-FFF2-40B4-BE49-F238E27FC236}">
                <a16:creationId xmlns:a16="http://schemas.microsoft.com/office/drawing/2014/main" id="{3E8C4C44-29D7-42FE-D4FC-34C47F9CB38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Types of Load Balancers</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06C38B5-3AB3-CAA6-4ABE-15357AE5CAF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425BDA1A-33E8-0FA5-BE7F-BFAEB3261D1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300388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E3EC055E-9B67-2AD5-481B-C20D8A3057D1}"/>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E0BB9EF-CE93-9F90-CD63-A1C4A277353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10</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087AD9AE-8CEA-5C5A-B974-F4AFF2ED59BE}"/>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ECS is a fully managed container orchestration service. With the EC2 launch type, you manage the underlying EC2 instances (cluster capacity, patching, scaling) and run your container services on these instances.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This launch type is best when you want control over the compute environment, custom AMIs, or need to run a mix of containers and other workloads on the same hosts.</a:t>
            </a:r>
            <a:endParaRPr lang="en-IN" sz="1100" dirty="0"/>
          </a:p>
        </p:txBody>
      </p:sp>
      <p:sp>
        <p:nvSpPr>
          <p:cNvPr id="656" name="Google Shape;656;p38">
            <a:extLst>
              <a:ext uri="{FF2B5EF4-FFF2-40B4-BE49-F238E27FC236}">
                <a16:creationId xmlns:a16="http://schemas.microsoft.com/office/drawing/2014/main" id="{22C58B3B-63A4-4D20-17ED-9CC2091F324F}"/>
              </a:ext>
            </a:extLst>
          </p:cNvPr>
          <p:cNvSpPr txBox="1"/>
          <p:nvPr/>
        </p:nvSpPr>
        <p:spPr>
          <a:xfrm>
            <a:off x="385993" y="126216"/>
            <a:ext cx="5480157"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dirty="0">
                <a:solidFill>
                  <a:schemeClr val="lt1"/>
                </a:solidFill>
                <a:latin typeface="Proxima Nova"/>
                <a:ea typeface="Proxima Nova"/>
                <a:cs typeface="Proxima Nova"/>
                <a:sym typeface="Proxima Nova"/>
              </a:rPr>
              <a:t>Amazon Elastic Container Service (ECS) – EC2 Launch Type</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55BADBC1-236B-0097-FAB0-581FF552BD1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744B5262-B482-AE3C-588F-476C0687F37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166985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4CF8CF30-84C4-B1C5-A476-46914883EF59}"/>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BED4510F-9879-C1AA-B8C0-FACC88DFAB09}"/>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11</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84186303-BC9D-6493-B4B2-5BB26BA6DCDB}"/>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With the Fargate launch type, AWS manages the server infrastructure for you. You specify only the task definitions (CPU, memory, containers) and AWS handles provisioning, scaling, patching.</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Ideal for microservices, event-driven workloads, unpredictable traffic.</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Benefits: simpler operations, pay only for vCPU and memory used, no server management.</a:t>
            </a:r>
            <a:endParaRPr lang="en-IN" sz="1100" dirty="0"/>
          </a:p>
        </p:txBody>
      </p:sp>
      <p:sp>
        <p:nvSpPr>
          <p:cNvPr id="656" name="Google Shape;656;p38">
            <a:extLst>
              <a:ext uri="{FF2B5EF4-FFF2-40B4-BE49-F238E27FC236}">
                <a16:creationId xmlns:a16="http://schemas.microsoft.com/office/drawing/2014/main" id="{A863357F-827D-CA1A-287E-23D665228357}"/>
              </a:ext>
            </a:extLst>
          </p:cNvPr>
          <p:cNvSpPr txBox="1"/>
          <p:nvPr/>
        </p:nvSpPr>
        <p:spPr>
          <a:xfrm>
            <a:off x="385993" y="126216"/>
            <a:ext cx="5480157"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dirty="0">
                <a:solidFill>
                  <a:schemeClr val="lt1"/>
                </a:solidFill>
                <a:latin typeface="Proxima Nova"/>
                <a:ea typeface="Proxima Nova"/>
                <a:cs typeface="Proxima Nova"/>
                <a:sym typeface="Proxima Nova"/>
              </a:rPr>
              <a:t>ECS – Fargate Launch Type</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0446317F-BED1-559D-A9AF-23B0E331141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5EAAA397-169C-054A-80CC-97CFBE4A0376}"/>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628816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673D48E1-A1C4-70B4-2E63-EDF6F45A93E9}"/>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DE02B264-D831-B0AC-2B63-038AC4015659}"/>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12</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880A334D-5782-5C86-DA89-5A4921DDC090}"/>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ECS services integrate natively with ALB or NLB: containers become targets, routing rules apply, tasks automatically register/deregister.</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With AWS Application Auto Scaling, you can define scaling policies for ECS tasks: target tracking (based on CPU or memory usage), step scaling, scheduled scaling. This ensures your container service scales in response to load.</a:t>
            </a:r>
            <a:endParaRPr lang="en-IN" sz="1100" dirty="0"/>
          </a:p>
        </p:txBody>
      </p:sp>
      <p:sp>
        <p:nvSpPr>
          <p:cNvPr id="656" name="Google Shape;656;p38">
            <a:extLst>
              <a:ext uri="{FF2B5EF4-FFF2-40B4-BE49-F238E27FC236}">
                <a16:creationId xmlns:a16="http://schemas.microsoft.com/office/drawing/2014/main" id="{9A492178-C0A8-02E3-3652-A3D7B78220C0}"/>
              </a:ext>
            </a:extLst>
          </p:cNvPr>
          <p:cNvSpPr txBox="1"/>
          <p:nvPr/>
        </p:nvSpPr>
        <p:spPr>
          <a:xfrm>
            <a:off x="385993" y="126216"/>
            <a:ext cx="5480157"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dirty="0">
                <a:solidFill>
                  <a:schemeClr val="lt1"/>
                </a:solidFill>
                <a:latin typeface="Proxima Nova"/>
                <a:ea typeface="Proxima Nova"/>
                <a:cs typeface="Proxima Nova"/>
                <a:sym typeface="Proxima Nova"/>
              </a:rPr>
              <a:t>ECS Load Balancer Integrations &amp; AWS Application Auto Scaling</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9061FC69-427D-3346-FD9D-0ABFD3D1EF68}"/>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C62E0F9D-2372-67E8-3FA3-737E627209E8}"/>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944796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BD66BAF1-1752-936F-D91F-2722B33B68B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E004D20F-BA99-5179-97E3-6C668C7E1693}"/>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13</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F6F3BB3D-2D3E-6E15-35D2-5001EA40E959}"/>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EKS is a managed Kubernetes service that runs upstream, open-source Kubernetes on AWS.AWS manages the control plane, patches, and upgrades; you manage worker nodes or use Fargate for serverless compute.</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Highlights: multi-AZ high availability, integration with IAM, VPC, CloudWatch; allows portability across clouds/hybrid.</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Use case: teams that already </a:t>
            </a:r>
            <a:r>
              <a:rPr lang="en-US" sz="1400" dirty="0" err="1"/>
              <a:t>standardised</a:t>
            </a:r>
            <a:r>
              <a:rPr lang="en-US" sz="1400" dirty="0"/>
              <a:t> on Kubernetes and wish to migrate or extend into AWS.</a:t>
            </a:r>
            <a:endParaRPr lang="en-IN" sz="1100" dirty="0"/>
          </a:p>
        </p:txBody>
      </p:sp>
      <p:sp>
        <p:nvSpPr>
          <p:cNvPr id="656" name="Google Shape;656;p38">
            <a:extLst>
              <a:ext uri="{FF2B5EF4-FFF2-40B4-BE49-F238E27FC236}">
                <a16:creationId xmlns:a16="http://schemas.microsoft.com/office/drawing/2014/main" id="{42569F08-615F-84B1-34DB-D614E55585E7}"/>
              </a:ext>
            </a:extLst>
          </p:cNvPr>
          <p:cNvSpPr txBox="1"/>
          <p:nvPr/>
        </p:nvSpPr>
        <p:spPr>
          <a:xfrm>
            <a:off x="385993" y="126216"/>
            <a:ext cx="5480157"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dirty="0">
                <a:solidFill>
                  <a:schemeClr val="lt1"/>
                </a:solidFill>
                <a:latin typeface="Proxima Nova"/>
                <a:ea typeface="Proxima Nova"/>
                <a:cs typeface="Proxima Nova"/>
                <a:sym typeface="Proxima Nova"/>
              </a:rPr>
              <a:t>Amazon Elastic Kubernetes Service (EKS) Overview</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DAD4F616-C9CD-5546-EF38-9B54CCB47ECB}"/>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0DE7A3D2-E4D7-E951-A48B-D93C8DE8E5B2}"/>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776298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BDBAC323-8DAA-1FFA-053C-DC99A642A150}"/>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BDAF21D-4A8D-724E-E183-332BC30FA4D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14</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28D3B714-3D4B-307E-BDD9-C41E960F422B}"/>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Lambda is serverless compute: run code without provisioning or managing servers; pay only for the compute time you consume.</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Lambda automatically scales by running your code in response to triggers (HTTP requests with API Gateway, S3 events, DynamoDB streams, etc.).</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Because you focus on function code rather than infrastructure, development speed and cost efficiency improve.</a:t>
            </a:r>
            <a:endParaRPr lang="en-IN" sz="1100" dirty="0"/>
          </a:p>
        </p:txBody>
      </p:sp>
      <p:sp>
        <p:nvSpPr>
          <p:cNvPr id="656" name="Google Shape;656;p38">
            <a:extLst>
              <a:ext uri="{FF2B5EF4-FFF2-40B4-BE49-F238E27FC236}">
                <a16:creationId xmlns:a16="http://schemas.microsoft.com/office/drawing/2014/main" id="{BC68EB41-36DE-8D99-583D-BA2C3D817DCE}"/>
              </a:ext>
            </a:extLst>
          </p:cNvPr>
          <p:cNvSpPr txBox="1"/>
          <p:nvPr/>
        </p:nvSpPr>
        <p:spPr>
          <a:xfrm>
            <a:off x="385993" y="126216"/>
            <a:ext cx="5480157"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dirty="0">
                <a:solidFill>
                  <a:schemeClr val="lt1"/>
                </a:solidFill>
                <a:latin typeface="Proxima Nova"/>
                <a:ea typeface="Proxima Nova"/>
                <a:cs typeface="Proxima Nova"/>
                <a:sym typeface="Proxima Nova"/>
              </a:rPr>
              <a:t>AWS Lambda – Basics</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FA187372-A1CC-DBF0-70D5-7E2254A6422A}"/>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F126266B-F986-1E93-CFA0-06B00D1390D0}"/>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238279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7477B13F-C081-C074-4819-C06AD64E052A}"/>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7AA344B8-F443-33EB-3499-A1C8F7EA309E}"/>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15</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4B4BD17C-5986-3F63-CCED-9272FC54DAB8}"/>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Concurrency is the number of simultaneous executions a function handles at the same time. </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AWS sets a default regional concurrency limit (e.g., 1,000 concurrent executions) per account. </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You can configure reserved concurrency on a function to allocate a portion of the account’s concurrency pool (guaranteed) or limit concurrency for that function, protecting other functions.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Throttling occurs when the concurrency limit is reached: new invocations receive error 429. </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dirty="0"/>
              <a:t>Best practices</a:t>
            </a:r>
            <a:r>
              <a:rPr lang="en-US" sz="1400" dirty="0">
                <a:latin typeface="Consolas" panose="020B0609020204030204" pitchFamily="49" charset="0"/>
              </a:rPr>
              <a:t>: monitor </a:t>
            </a:r>
            <a:r>
              <a:rPr lang="en-US" sz="1400" dirty="0" err="1">
                <a:latin typeface="Consolas" panose="020B0609020204030204" pitchFamily="49" charset="0"/>
              </a:rPr>
              <a:t>ConcurrentExecutions</a:t>
            </a:r>
            <a:r>
              <a:rPr lang="en-US" sz="1400" dirty="0">
                <a:latin typeface="Consolas" panose="020B0609020204030204" pitchFamily="49" charset="0"/>
              </a:rPr>
              <a:t>, Throttles</a:t>
            </a:r>
            <a:r>
              <a:rPr lang="en-US" sz="1400" dirty="0"/>
              <a:t> metrics in CloudWatch; proactively request account limit increase; use asynchronous invocation or event-driven design patterns to smooth peaks.</a:t>
            </a:r>
            <a:endParaRPr lang="en-IN" sz="1100" dirty="0"/>
          </a:p>
        </p:txBody>
      </p:sp>
      <p:sp>
        <p:nvSpPr>
          <p:cNvPr id="656" name="Google Shape;656;p38">
            <a:extLst>
              <a:ext uri="{FF2B5EF4-FFF2-40B4-BE49-F238E27FC236}">
                <a16:creationId xmlns:a16="http://schemas.microsoft.com/office/drawing/2014/main" id="{945F1FE3-8019-0961-9F8D-CC22285153A5}"/>
              </a:ext>
            </a:extLst>
          </p:cNvPr>
          <p:cNvSpPr txBox="1"/>
          <p:nvPr/>
        </p:nvSpPr>
        <p:spPr>
          <a:xfrm>
            <a:off x="385993" y="126216"/>
            <a:ext cx="5480157"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dirty="0">
                <a:solidFill>
                  <a:schemeClr val="lt1"/>
                </a:solidFill>
                <a:latin typeface="Proxima Nova"/>
                <a:ea typeface="Proxima Nova"/>
                <a:cs typeface="Proxima Nova"/>
                <a:sym typeface="Proxima Nova"/>
              </a:rPr>
              <a:t>Lambda – Concurrency &amp; Throttling</a:t>
            </a:r>
            <a:endParaRPr sz="1800" dirty="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0103CF34-D704-38C8-EE2F-8F4DEA1142E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F7C6909F-0E60-F564-3F23-6EF096B12443}"/>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605371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DC1601C6-E5F1-8AAD-DEE3-A17B24530905}"/>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410529FF-46B9-CF5C-9BD0-1FA16FA86AA2}"/>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286FB24B-8598-7744-024B-FC537E0A0377}"/>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Poll Questions</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945408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A5737AB1-CA09-DB4D-293A-0EF65BC87466}"/>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100B6F9E-2E30-53DF-1EC8-00FDF271CA3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17</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F4E9CE90-CD45-9F81-1458-C4D6358FB988}"/>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dirty="0"/>
              <a:t>Whenever an EC2 instance is launched, under the network tab it shows multiple (two) IP addresses. Which one can be used only for reaching within the EC2 network? </a:t>
            </a:r>
          </a:p>
          <a:p>
            <a:pPr marL="228600" indent="0" algn="l"/>
            <a:endParaRPr lang="en-US" sz="1400" b="1" dirty="0"/>
          </a:p>
          <a:p>
            <a:pPr marL="571500" indent="-342900" algn="l">
              <a:buFont typeface="+mj-lt"/>
              <a:buAutoNum type="alphaUcPeriod"/>
            </a:pPr>
            <a:r>
              <a:rPr lang="en-US" sz="1400" dirty="0"/>
              <a:t>A. Public IP address </a:t>
            </a:r>
          </a:p>
          <a:p>
            <a:pPr marL="571500" indent="-342900" algn="l">
              <a:buFont typeface="+mj-lt"/>
              <a:buAutoNum type="alphaUcPeriod"/>
            </a:pPr>
            <a:r>
              <a:rPr lang="en-US" sz="1400" dirty="0"/>
              <a:t>B. Private IP address </a:t>
            </a:r>
          </a:p>
          <a:p>
            <a:pPr marL="571500" indent="-342900" algn="l">
              <a:buFont typeface="+mj-lt"/>
              <a:buAutoNum type="alphaUcPeriod"/>
            </a:pPr>
            <a:r>
              <a:rPr lang="en-US" sz="1400" dirty="0"/>
              <a:t>C. Elastic IP Address </a:t>
            </a:r>
          </a:p>
          <a:p>
            <a:pPr marL="571500" indent="-342900" algn="l">
              <a:buFont typeface="+mj-lt"/>
              <a:buAutoNum type="alphaUcPeriod"/>
            </a:pPr>
            <a:r>
              <a:rPr lang="en-US" sz="1400" dirty="0"/>
              <a:t>D. Public and Elastic both</a:t>
            </a:r>
          </a:p>
          <a:p>
            <a:pPr marL="571500" indent="-342900" algn="l">
              <a:buFont typeface="+mj-lt"/>
              <a:buAutoNum type="alphaUcPeriod"/>
            </a:pPr>
            <a:endParaRPr lang="en-US" sz="1400" dirty="0"/>
          </a:p>
        </p:txBody>
      </p:sp>
      <p:sp>
        <p:nvSpPr>
          <p:cNvPr id="646" name="Google Shape;646;p37">
            <a:extLst>
              <a:ext uri="{FF2B5EF4-FFF2-40B4-BE49-F238E27FC236}">
                <a16:creationId xmlns:a16="http://schemas.microsoft.com/office/drawing/2014/main" id="{D28893CF-C921-894E-683A-CC3168B392F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50292832-D659-C32A-A22C-062823F0D57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16EF668-5AC9-456C-C46D-2AC517AF5413}"/>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55541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537FE9BB-E6D3-0A3F-4A0C-6AA38710763A}"/>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C4E5F63B-91DE-7906-9CAB-A3E225CDF58C}"/>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18</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3D781329-3814-5476-829C-3DE5F0C90D61}"/>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dirty="0"/>
              <a:t>Whenever an EC2 instance is launched, under the network tab it shows multiple (two) IP addresses. Which one can be used only for reaching within the EC2 network? </a:t>
            </a:r>
          </a:p>
          <a:p>
            <a:pPr marL="228600" indent="0" algn="l"/>
            <a:endParaRPr lang="en-US" sz="1400" b="1" dirty="0"/>
          </a:p>
          <a:p>
            <a:pPr marL="571500" indent="-342900" algn="l">
              <a:buFont typeface="+mj-lt"/>
              <a:buAutoNum type="alphaUcPeriod"/>
            </a:pPr>
            <a:r>
              <a:rPr lang="en-US" sz="1400" dirty="0"/>
              <a:t>Public IP address </a:t>
            </a:r>
          </a:p>
          <a:p>
            <a:pPr marL="571500" indent="-342900" algn="l">
              <a:buFont typeface="+mj-lt"/>
              <a:buAutoNum type="alphaUcPeriod"/>
            </a:pPr>
            <a:r>
              <a:rPr lang="en-US" sz="1400" b="1" dirty="0"/>
              <a:t>Private IP address </a:t>
            </a:r>
          </a:p>
          <a:p>
            <a:pPr marL="571500" indent="-342900" algn="l">
              <a:buFont typeface="+mj-lt"/>
              <a:buAutoNum type="alphaUcPeriod"/>
            </a:pPr>
            <a:r>
              <a:rPr lang="en-US" sz="1400" dirty="0"/>
              <a:t>Elastic IP Address </a:t>
            </a:r>
          </a:p>
          <a:p>
            <a:pPr marL="571500" indent="-342900" algn="l">
              <a:buFont typeface="+mj-lt"/>
              <a:buAutoNum type="alphaUcPeriod"/>
            </a:pPr>
            <a:r>
              <a:rPr lang="en-US" sz="1400" dirty="0"/>
              <a:t>Public and Elastic both</a:t>
            </a:r>
          </a:p>
          <a:p>
            <a:pPr marL="571500" indent="-342900" algn="l">
              <a:buFont typeface="+mj-lt"/>
              <a:buAutoNum type="alphaUcPeriod"/>
            </a:pPr>
            <a:endParaRPr lang="en-US" sz="1400" dirty="0"/>
          </a:p>
        </p:txBody>
      </p:sp>
      <p:sp>
        <p:nvSpPr>
          <p:cNvPr id="646" name="Google Shape;646;p37">
            <a:extLst>
              <a:ext uri="{FF2B5EF4-FFF2-40B4-BE49-F238E27FC236}">
                <a16:creationId xmlns:a16="http://schemas.microsoft.com/office/drawing/2014/main" id="{F767B9F1-C19D-E3F5-718A-AB48F6221C88}"/>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89AA4468-4818-A209-4EA1-6873879639FB}"/>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6E42C1C5-452A-CF75-3971-2AF299668509}"/>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299582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153B4B98-4DC2-05E6-C0E8-D3865E3C2F9D}"/>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52DD4085-DA0C-9803-ED81-36C66AC25D2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19</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C828CBF9-EA8E-855C-CBD6-D813DF4764CE}"/>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gaming company is hosting its multiplayer game servers on Amazon EC2. All servers are placed in the same Security Group for ease of management. </a:t>
            </a:r>
          </a:p>
          <a:p>
            <a:pPr marL="228600" indent="0" algn="l"/>
            <a:r>
              <a:rPr lang="en-US" sz="1400" b="1" dirty="0"/>
              <a:t>One day, the company decides to enable a new game feature that requires opening TCP port 5000 for inbound traffic. The solutions architect updates the Security Group rules to allow inbound traffic on port 5000, then launches some new EC2 instances in the same Security Group. </a:t>
            </a:r>
          </a:p>
          <a:p>
            <a:pPr marL="228600" indent="0" algn="l"/>
            <a:r>
              <a:rPr lang="en-US" sz="1400" b="1" dirty="0"/>
              <a:t>How will the new rule be applied?  </a:t>
            </a:r>
          </a:p>
          <a:p>
            <a:pPr marL="228600" indent="0" algn="l"/>
            <a:endParaRPr lang="en-US" sz="1400" dirty="0"/>
          </a:p>
          <a:p>
            <a:pPr marL="228600" indent="0" algn="l"/>
            <a:r>
              <a:rPr lang="en-US" sz="1400" dirty="0"/>
              <a:t>A. Immediately to the new instances only. </a:t>
            </a:r>
          </a:p>
          <a:p>
            <a:pPr marL="228600" indent="0" algn="l"/>
            <a:r>
              <a:rPr lang="en-US" sz="1400" dirty="0"/>
              <a:t>B. Immediately to the new instances, but old instances must be stopped and restarted before the new rules apply. </a:t>
            </a:r>
          </a:p>
          <a:p>
            <a:pPr marL="228600" indent="0" algn="l"/>
            <a:r>
              <a:rPr lang="en-US" sz="1400" dirty="0"/>
              <a:t>C. Immediately to all instances in the security group. </a:t>
            </a:r>
          </a:p>
          <a:p>
            <a:pPr marL="228600" indent="0" algn="l"/>
            <a:r>
              <a:rPr lang="en-US" sz="1400" dirty="0"/>
              <a:t>D. To all instances, but it may take several minutes for old instances to see the changes. </a:t>
            </a:r>
          </a:p>
        </p:txBody>
      </p:sp>
      <p:sp>
        <p:nvSpPr>
          <p:cNvPr id="646" name="Google Shape;646;p37">
            <a:extLst>
              <a:ext uri="{FF2B5EF4-FFF2-40B4-BE49-F238E27FC236}">
                <a16:creationId xmlns:a16="http://schemas.microsoft.com/office/drawing/2014/main" id="{EC5BCF89-2E2A-FB1A-F8F3-02894F4181E1}"/>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2</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086D9C34-5122-B3B1-68D9-81D479868B8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375C4EE4-CDCA-EA87-418F-2DD6769A9AD6}"/>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728633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0BD926FF-C775-E41E-D629-BCFBE7D44367}"/>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E340EFC7-429F-CC26-49FD-C083D4EC23BD}"/>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20</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42671611-6CBA-52E1-01A6-66CB193D5B4E}"/>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gaming company is hosting its multiplayer game servers on Amazon EC2. All servers are placed in the same Security Group for ease of management. </a:t>
            </a:r>
          </a:p>
          <a:p>
            <a:pPr marL="228600" indent="0" algn="l"/>
            <a:r>
              <a:rPr lang="en-US" sz="1400" b="1" dirty="0"/>
              <a:t>One day, the company decides to enable a new game feature that requires opening TCP port 5000 for inbound traffic. The solutions architect updates the Security Group rules to allow inbound traffic on port 5000, then launches some new EC2 instances in the same Security Group. </a:t>
            </a:r>
          </a:p>
          <a:p>
            <a:pPr marL="228600" indent="0" algn="l"/>
            <a:r>
              <a:rPr lang="en-US" sz="1400" b="1" dirty="0"/>
              <a:t>How will the new rule be applied?  </a:t>
            </a:r>
          </a:p>
          <a:p>
            <a:pPr marL="228600" indent="0" algn="l"/>
            <a:endParaRPr lang="en-US" sz="1400" dirty="0"/>
          </a:p>
          <a:p>
            <a:pPr marL="228600" indent="0" algn="l"/>
            <a:r>
              <a:rPr lang="en-US" sz="1400" dirty="0"/>
              <a:t>A. Immediately to the new instances only. </a:t>
            </a:r>
          </a:p>
          <a:p>
            <a:pPr marL="228600" indent="0" algn="l"/>
            <a:r>
              <a:rPr lang="en-US" sz="1400" dirty="0"/>
              <a:t>B. Immediately to the new instances, but old instances must be stopped and restarted before the new rules apply. </a:t>
            </a:r>
          </a:p>
          <a:p>
            <a:pPr marL="228600" indent="0" algn="l"/>
            <a:r>
              <a:rPr lang="en-US" sz="1400" b="1" dirty="0"/>
              <a:t>C. Immediately to all instances in the security group. </a:t>
            </a:r>
          </a:p>
          <a:p>
            <a:pPr marL="228600" indent="0" algn="l"/>
            <a:r>
              <a:rPr lang="en-US" sz="1400" dirty="0"/>
              <a:t>D. To all instances, but it may take several minutes for old instances to see the changes. </a:t>
            </a:r>
          </a:p>
        </p:txBody>
      </p:sp>
      <p:sp>
        <p:nvSpPr>
          <p:cNvPr id="646" name="Google Shape;646;p37">
            <a:extLst>
              <a:ext uri="{FF2B5EF4-FFF2-40B4-BE49-F238E27FC236}">
                <a16:creationId xmlns:a16="http://schemas.microsoft.com/office/drawing/2014/main" id="{A73D1CE2-9E9F-BAD0-C196-0B7B70B77FFF}"/>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2</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BD4D402D-714D-94E0-EB07-F5C338303D7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6752FBF5-F536-EFE1-0A99-A54958D24E8A}"/>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222646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8B3BCBBF-6AD9-8941-D7E1-EF0C745DDE5C}"/>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6A9884FC-49BF-DB71-F41A-1B2B7ACDF4D7}"/>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21</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F25501C3-61F0-159D-D3E2-FDE2B86A21A3}"/>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fintech company runs a nightly batch process to analyze trading data. The job runs for several hours each night, four days a week, and once started, it cannot be interrupted. The company plans to run this process for at least one year. </a:t>
            </a:r>
          </a:p>
          <a:p>
            <a:pPr marL="228600" indent="0" algn="l"/>
            <a:endParaRPr lang="en-US" sz="1400" dirty="0"/>
          </a:p>
          <a:p>
            <a:pPr marL="228600" indent="0" algn="l"/>
            <a:r>
              <a:rPr lang="en-US" sz="1400" dirty="0"/>
              <a:t> </a:t>
            </a:r>
          </a:p>
          <a:p>
            <a:pPr marL="228600" indent="0" algn="l"/>
            <a:r>
              <a:rPr lang="en-US" sz="1400" dirty="0"/>
              <a:t>A. On-Demand Instances </a:t>
            </a:r>
          </a:p>
          <a:p>
            <a:pPr marL="228600" indent="0" algn="l"/>
            <a:r>
              <a:rPr lang="en-US" sz="1400" dirty="0"/>
              <a:t>B. Savings Plans </a:t>
            </a:r>
          </a:p>
          <a:p>
            <a:pPr marL="228600" indent="0" algn="l"/>
            <a:r>
              <a:rPr lang="en-US" sz="1400" dirty="0"/>
              <a:t>C. Spot Instances </a:t>
            </a:r>
          </a:p>
          <a:p>
            <a:pPr marL="228600" indent="0" algn="l"/>
            <a:r>
              <a:rPr lang="en-US" sz="1400" dirty="0"/>
              <a:t>D. Regional Reserved Instances</a:t>
            </a:r>
          </a:p>
        </p:txBody>
      </p:sp>
      <p:sp>
        <p:nvSpPr>
          <p:cNvPr id="646" name="Google Shape;646;p37">
            <a:extLst>
              <a:ext uri="{FF2B5EF4-FFF2-40B4-BE49-F238E27FC236}">
                <a16:creationId xmlns:a16="http://schemas.microsoft.com/office/drawing/2014/main" id="{5CDF23C2-93C7-7978-464A-E9B3D8F0B8B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3</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2FD72AB2-D315-9059-CB70-3C56F259CD6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B8062BFD-7AA7-3084-1846-DBA279006238}"/>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681422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255675D0-930E-DE51-27F2-92CC0F2D16F2}"/>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3DEB90AB-46C8-0AB5-5683-3CD61415C97E}"/>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22</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22575E15-E845-03F0-8A18-3B981ACBC716}"/>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fintech company runs a nightly batch process to analyze trading data. The job runs for several hours each night, four days a week, and once started, it cannot be interrupted. The company plans to run this process for at least one year. </a:t>
            </a:r>
          </a:p>
          <a:p>
            <a:pPr marL="228600" indent="0" algn="l"/>
            <a:endParaRPr lang="en-US" sz="1400" dirty="0"/>
          </a:p>
          <a:p>
            <a:pPr marL="228600" indent="0" algn="l"/>
            <a:r>
              <a:rPr lang="en-US" sz="1400" dirty="0"/>
              <a:t> </a:t>
            </a:r>
          </a:p>
          <a:p>
            <a:pPr marL="228600" indent="0" algn="l"/>
            <a:r>
              <a:rPr lang="en-US" sz="1400" dirty="0"/>
              <a:t>A. On-Demand Instances </a:t>
            </a:r>
          </a:p>
          <a:p>
            <a:pPr marL="228600" indent="0" algn="l"/>
            <a:r>
              <a:rPr lang="en-US" sz="1400" dirty="0"/>
              <a:t>B. Savings Plans </a:t>
            </a:r>
          </a:p>
          <a:p>
            <a:pPr marL="228600" indent="0" algn="l"/>
            <a:r>
              <a:rPr lang="en-US" sz="1400" dirty="0"/>
              <a:t>C. Spot Instances </a:t>
            </a:r>
          </a:p>
          <a:p>
            <a:pPr marL="228600" indent="0" algn="l"/>
            <a:r>
              <a:rPr lang="en-US" sz="1400" b="1" dirty="0"/>
              <a:t>D. Regional Reserved Instances</a:t>
            </a:r>
          </a:p>
        </p:txBody>
      </p:sp>
      <p:sp>
        <p:nvSpPr>
          <p:cNvPr id="646" name="Google Shape;646;p37">
            <a:extLst>
              <a:ext uri="{FF2B5EF4-FFF2-40B4-BE49-F238E27FC236}">
                <a16:creationId xmlns:a16="http://schemas.microsoft.com/office/drawing/2014/main" id="{5D02EEDB-0B6B-9C0F-2949-A7AB472571D1}"/>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3</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95176419-546F-7F4E-EB43-5A364C0E8B2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112DDE47-EF73-FD26-3851-67525327DBFA}"/>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912580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B934BB26-329B-F733-5A35-6393C33B6A98}"/>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8F48EE29-C973-51D7-4F1A-F3342805CA0E}"/>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23</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6047C695-3580-DAED-B691-0A97EA02383D}"/>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You had launched an EC2 instance considering all the best practices listed by the company. The instance got terminated as soon as it was launched. Which of the below-mentioned options is NOT a possible reason for this? </a:t>
            </a:r>
          </a:p>
          <a:p>
            <a:pPr marL="228600" indent="0" algn="l"/>
            <a:endParaRPr lang="en-US" sz="1400" dirty="0"/>
          </a:p>
          <a:p>
            <a:pPr marL="228600" indent="0" algn="l"/>
            <a:r>
              <a:rPr lang="en-US" sz="1400" dirty="0"/>
              <a:t> </a:t>
            </a:r>
          </a:p>
          <a:p>
            <a:pPr marL="228600" indent="0" algn="l"/>
            <a:r>
              <a:rPr lang="en-US" sz="1400" dirty="0"/>
              <a:t>A. The user account has reached the maximum EC2 instance limit. </a:t>
            </a:r>
          </a:p>
          <a:p>
            <a:pPr marL="228600" indent="0" algn="l"/>
            <a:r>
              <a:rPr lang="en-US" sz="1400" dirty="0"/>
              <a:t>B. The AMI is missing. It is the required part. </a:t>
            </a:r>
          </a:p>
          <a:p>
            <a:pPr marL="228600" indent="0" algn="l"/>
            <a:r>
              <a:rPr lang="en-US" sz="1400" dirty="0"/>
              <a:t>C. The snapshot is corrupt. </a:t>
            </a:r>
          </a:p>
          <a:p>
            <a:pPr marL="228600" indent="0" algn="l"/>
            <a:r>
              <a:rPr lang="en-US" sz="1400" dirty="0"/>
              <a:t>D. The user account has reached the maximum volume limit. </a:t>
            </a:r>
          </a:p>
        </p:txBody>
      </p:sp>
      <p:sp>
        <p:nvSpPr>
          <p:cNvPr id="646" name="Google Shape;646;p37">
            <a:extLst>
              <a:ext uri="{FF2B5EF4-FFF2-40B4-BE49-F238E27FC236}">
                <a16:creationId xmlns:a16="http://schemas.microsoft.com/office/drawing/2014/main" id="{B2CE4CD4-FA85-B4B9-34EB-C1A8EC51DA0F}"/>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4</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8E0D2604-EFA9-A3ED-3138-75559D0F2000}"/>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9DFE6AE-8DCE-2C76-4834-2E250A6DB136}"/>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557715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A66C356A-AF12-051A-CE0D-6873E0A6A7F2}"/>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A0F67F6A-54FD-4056-35A6-9098502EFBA7}"/>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24</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8928CAF0-F6A3-8615-96B5-9B1BBED9574E}"/>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You had launched an EC2 instance considering all the best practices listed by the company. The instance got terminated as soon as it was launched. Which of the below-mentioned options is NOT a possible reason for this? </a:t>
            </a:r>
          </a:p>
          <a:p>
            <a:pPr marL="228600" indent="0" algn="l"/>
            <a:endParaRPr lang="en-US" sz="1400" dirty="0"/>
          </a:p>
          <a:p>
            <a:pPr marL="228600" indent="0" algn="l"/>
            <a:r>
              <a:rPr lang="en-US" sz="1400" dirty="0"/>
              <a:t> </a:t>
            </a:r>
          </a:p>
          <a:p>
            <a:pPr marL="228600" indent="0" algn="l"/>
            <a:r>
              <a:rPr lang="en-US" sz="1400" b="1" dirty="0"/>
              <a:t>A. The user account has reached the maximum EC2 instance limit. </a:t>
            </a:r>
          </a:p>
          <a:p>
            <a:pPr marL="228600" indent="0" algn="l"/>
            <a:r>
              <a:rPr lang="en-US" sz="1400" dirty="0"/>
              <a:t>B. The AMI is missing. It is the required part. </a:t>
            </a:r>
          </a:p>
          <a:p>
            <a:pPr marL="228600" indent="0" algn="l"/>
            <a:r>
              <a:rPr lang="en-US" sz="1400" dirty="0"/>
              <a:t>C. The snapshot is corrupt. </a:t>
            </a:r>
          </a:p>
          <a:p>
            <a:pPr marL="228600" indent="0" algn="l"/>
            <a:r>
              <a:rPr lang="en-US" sz="1400" dirty="0"/>
              <a:t>D. The user account has reached the maximum volume limit. </a:t>
            </a:r>
          </a:p>
        </p:txBody>
      </p:sp>
      <p:sp>
        <p:nvSpPr>
          <p:cNvPr id="646" name="Google Shape;646;p37">
            <a:extLst>
              <a:ext uri="{FF2B5EF4-FFF2-40B4-BE49-F238E27FC236}">
                <a16:creationId xmlns:a16="http://schemas.microsoft.com/office/drawing/2014/main" id="{219A99B3-C338-870F-B27C-B0B96AB0F988}"/>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4</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0CEEC4BE-8BD5-62CD-D96F-9F5EB40819AE}"/>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AE2AF736-7CC6-7DA0-22AA-C609D848B51E}"/>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237394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86891AEF-3E4B-BDDE-87B7-6D5D85E8BDC7}"/>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9E445AFF-B9A8-996D-3062-FA710CC978AE}"/>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25</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E389ADDA-B066-E49E-F95C-D83562AF5A4A}"/>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bank uses EC2 to run a fraud detection system that processes billions of transactions every day over hundreds of Hadoop cluster nodes. The manager of the team wants to design the cluster so that if a single rack or piece of hardware fails, only a small portion of the cluster is impacted, while the rest of the system continues processing normally. </a:t>
            </a:r>
          </a:p>
          <a:p>
            <a:pPr marL="228600" indent="0" algn="l"/>
            <a:endParaRPr lang="en-US" sz="1400" b="1" dirty="0"/>
          </a:p>
          <a:p>
            <a:pPr marL="228600" indent="0" algn="l"/>
            <a:r>
              <a:rPr lang="en-US" sz="1400" b="1" dirty="0"/>
              <a:t>As a solution architect, what will be the best fit for this workload? </a:t>
            </a:r>
          </a:p>
          <a:p>
            <a:pPr marL="228600" indent="0" algn="l"/>
            <a:endParaRPr lang="en-US" sz="1400" dirty="0"/>
          </a:p>
          <a:p>
            <a:pPr marL="228600" indent="0" algn="l"/>
            <a:r>
              <a:rPr lang="en-US" sz="1400" dirty="0"/>
              <a:t>A. Use a Cluster placement group so all nodes are close together for the lowest latency and highest throughput. </a:t>
            </a:r>
          </a:p>
          <a:p>
            <a:pPr marL="228600" indent="0" algn="l"/>
            <a:r>
              <a:rPr lang="en-US" sz="1400" dirty="0"/>
              <a:t>B. Use a Spread placement group to ensure each node is placed on separate hardware for maximum isolation. </a:t>
            </a:r>
          </a:p>
          <a:p>
            <a:pPr marL="228600" indent="0" algn="l"/>
            <a:r>
              <a:rPr lang="en-US" sz="1400" dirty="0"/>
              <a:t>C. Use a Partition placement group to spread instances across partitions (racks). </a:t>
            </a:r>
          </a:p>
          <a:p>
            <a:pPr marL="228600" indent="0" algn="l"/>
            <a:r>
              <a:rPr lang="en-US" sz="1400" dirty="0"/>
              <a:t>D. Use Auto Scaling with Elastic IPs to automatically recover from hardware failures. </a:t>
            </a:r>
          </a:p>
        </p:txBody>
      </p:sp>
      <p:sp>
        <p:nvSpPr>
          <p:cNvPr id="646" name="Google Shape;646;p37">
            <a:extLst>
              <a:ext uri="{FF2B5EF4-FFF2-40B4-BE49-F238E27FC236}">
                <a16:creationId xmlns:a16="http://schemas.microsoft.com/office/drawing/2014/main" id="{49A05E52-54DA-B72A-E6DE-B8B6741EDC7F}"/>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5</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9A55F841-0B89-AD8C-AF12-A93721F79E8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2EE675EB-E151-88BE-5E00-3B892116A54A}"/>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218106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70C5FC0-126F-830B-4F51-0F9EC10844DA}"/>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B699F4DE-6872-410F-CAAD-9379FD70F0CC}"/>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26</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8B85B984-8A81-CB0C-C1F9-E4D836468583}"/>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bank uses EC2 to run a fraud detection system that processes billions of transactions every day over hundreds of Hadoop cluster nodes. The manager of the team wants to design the cluster so that if a single rack or piece of hardware fails, only a small portion of the cluster is impacted, while the rest of the system continues processing normally. </a:t>
            </a:r>
          </a:p>
          <a:p>
            <a:pPr marL="228600" indent="0" algn="l"/>
            <a:endParaRPr lang="en-US" sz="1400" b="1" dirty="0"/>
          </a:p>
          <a:p>
            <a:pPr marL="228600" indent="0" algn="l"/>
            <a:r>
              <a:rPr lang="en-US" sz="1400" b="1" dirty="0"/>
              <a:t>As a solution architect, what will be the best fit for this workload? </a:t>
            </a:r>
          </a:p>
          <a:p>
            <a:pPr marL="228600" indent="0" algn="l"/>
            <a:endParaRPr lang="en-US" sz="1400" dirty="0"/>
          </a:p>
          <a:p>
            <a:pPr marL="228600" indent="0" algn="l"/>
            <a:r>
              <a:rPr lang="en-US" sz="1400" dirty="0"/>
              <a:t>A. Use a Cluster placement group so all nodes are close together for the lowest latency and highest throughput. </a:t>
            </a:r>
          </a:p>
          <a:p>
            <a:pPr marL="228600" indent="0" algn="l"/>
            <a:r>
              <a:rPr lang="en-US" sz="1400" dirty="0"/>
              <a:t>B. Use a Spread placement group to ensure each node is placed on separate hardware for maximum isolation. </a:t>
            </a:r>
          </a:p>
          <a:p>
            <a:pPr marL="228600" indent="0" algn="l"/>
            <a:r>
              <a:rPr lang="en-US" sz="1400" b="1" dirty="0"/>
              <a:t>C. Use a Partition placement group to spread instances across partitions (racks).</a:t>
            </a:r>
            <a:r>
              <a:rPr lang="en-US" sz="1400" dirty="0"/>
              <a:t> </a:t>
            </a:r>
          </a:p>
          <a:p>
            <a:pPr marL="228600" indent="0" algn="l"/>
            <a:r>
              <a:rPr lang="en-US" sz="1400" dirty="0"/>
              <a:t>D. Use Auto Scaling with Elastic IPs to automatically recover from hardware failures. </a:t>
            </a:r>
          </a:p>
        </p:txBody>
      </p:sp>
      <p:sp>
        <p:nvSpPr>
          <p:cNvPr id="646" name="Google Shape;646;p37">
            <a:extLst>
              <a:ext uri="{FF2B5EF4-FFF2-40B4-BE49-F238E27FC236}">
                <a16:creationId xmlns:a16="http://schemas.microsoft.com/office/drawing/2014/main" id="{7AF11320-12C8-6F92-7ECF-96F00E242E1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5</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664E8481-2E38-083A-E40F-2258D5E5A28E}"/>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8526C39D-EF4C-F84E-AAF7-7013040C9F86}"/>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628331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92E9226A-81FA-3E9F-9A1E-EC49DB34F54F}"/>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FFBA27B9-9B39-B00E-AD2C-F605BDA148D1}"/>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27</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3533246B-6608-B89D-3E55-CBA2CE6CD3B3}"/>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travel booking platform is hosting several microservices on Amazon ECS, all behind a single Application Load Balancer (ALB). </a:t>
            </a:r>
          </a:p>
          <a:p>
            <a:pPr marL="228600" indent="0" algn="l"/>
            <a:r>
              <a:rPr lang="en-US" sz="1400" b="1" dirty="0"/>
              <a:t>The flight reservation service should be the destination of the /flights path. The hotel booking service should be the destination of the /hotels path. The rental car booking service should be the destination of the /cars path. </a:t>
            </a:r>
          </a:p>
          <a:p>
            <a:pPr marL="228600" indent="0" algn="l"/>
            <a:r>
              <a:rPr lang="en-US" sz="1400" b="1" dirty="0"/>
              <a:t>All services run in separate target groups for better isolation and scaling. Which of the following features of Application Load Balancers can be used for this use case? </a:t>
            </a:r>
          </a:p>
          <a:p>
            <a:pPr marL="228600" indent="0" algn="l"/>
            <a:endParaRPr lang="en-US" sz="1400" dirty="0"/>
          </a:p>
          <a:p>
            <a:pPr marL="228600" indent="0" algn="l"/>
            <a:r>
              <a:rPr lang="en-US" sz="1400" dirty="0"/>
              <a:t>A. Path-based Routing </a:t>
            </a:r>
          </a:p>
          <a:p>
            <a:pPr marL="228600" indent="0" algn="l"/>
            <a:r>
              <a:rPr lang="en-US" sz="1400" dirty="0"/>
              <a:t>B. Host-based Routing </a:t>
            </a:r>
          </a:p>
          <a:p>
            <a:pPr marL="228600" indent="0" algn="l"/>
            <a:r>
              <a:rPr lang="en-US" sz="1400" dirty="0"/>
              <a:t>C. Query string parameter-based routing </a:t>
            </a:r>
          </a:p>
          <a:p>
            <a:pPr marL="228600" indent="0" algn="l"/>
            <a:r>
              <a:rPr lang="en-US" sz="1400" dirty="0"/>
              <a:t>D. HTTP header-based routing </a:t>
            </a:r>
          </a:p>
        </p:txBody>
      </p:sp>
      <p:sp>
        <p:nvSpPr>
          <p:cNvPr id="646" name="Google Shape;646;p37">
            <a:extLst>
              <a:ext uri="{FF2B5EF4-FFF2-40B4-BE49-F238E27FC236}">
                <a16:creationId xmlns:a16="http://schemas.microsoft.com/office/drawing/2014/main" id="{2B545B8C-7003-6FEA-3969-49DA57C6D9E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6</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3480A8DC-B515-F9EF-99AE-90A1642105B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4FA7FF10-41A2-9FED-63F6-B7FAFC9D32E0}"/>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164660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5A2EBAE3-B79B-7CD3-71FE-3F6D76D1C07D}"/>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7813FE8F-7299-71A1-EA00-1E16E2E5886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28</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A143747C-7C45-6464-B0E9-7E1B6AD9CC15}"/>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travel booking platform is hosting several microservices on Amazon ECS, all behind a single Application Load Balancer (ALB). </a:t>
            </a:r>
          </a:p>
          <a:p>
            <a:pPr marL="228600" indent="0" algn="l"/>
            <a:r>
              <a:rPr lang="en-US" sz="1400" b="1" dirty="0"/>
              <a:t>The flight reservation service should be the destination of the /flights path. The hotel booking service should be the destination of the /hotels path. The rental car booking service should be the destination of the /cars path. </a:t>
            </a:r>
          </a:p>
          <a:p>
            <a:pPr marL="228600" indent="0" algn="l"/>
            <a:r>
              <a:rPr lang="en-US" sz="1400" b="1" dirty="0"/>
              <a:t>All services run in separate target groups for better isolation and scaling. Which of the following features of Application Load Balancers can be used for this use case? </a:t>
            </a:r>
          </a:p>
          <a:p>
            <a:pPr marL="228600" indent="0" algn="l"/>
            <a:endParaRPr lang="en-US" sz="1400" dirty="0"/>
          </a:p>
          <a:p>
            <a:pPr marL="228600" indent="0" algn="l"/>
            <a:r>
              <a:rPr lang="en-US" sz="1400" b="1" dirty="0"/>
              <a:t>A. Path-based Routing </a:t>
            </a:r>
          </a:p>
          <a:p>
            <a:pPr marL="228600" indent="0" algn="l"/>
            <a:r>
              <a:rPr lang="en-US" sz="1400" dirty="0"/>
              <a:t>B. Host-based Routing </a:t>
            </a:r>
          </a:p>
          <a:p>
            <a:pPr marL="228600" indent="0" algn="l"/>
            <a:r>
              <a:rPr lang="en-US" sz="1400" dirty="0"/>
              <a:t>C. Query string parameter-based routing </a:t>
            </a:r>
          </a:p>
          <a:p>
            <a:pPr marL="228600" indent="0" algn="l"/>
            <a:r>
              <a:rPr lang="en-US" sz="1400" dirty="0"/>
              <a:t>D. HTTP header-based routing </a:t>
            </a:r>
          </a:p>
        </p:txBody>
      </p:sp>
      <p:sp>
        <p:nvSpPr>
          <p:cNvPr id="646" name="Google Shape;646;p37">
            <a:extLst>
              <a:ext uri="{FF2B5EF4-FFF2-40B4-BE49-F238E27FC236}">
                <a16:creationId xmlns:a16="http://schemas.microsoft.com/office/drawing/2014/main" id="{17EB05D0-ECD1-ADB6-FDC4-7C7D05F9A21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6</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3F80E4E8-BB60-8DE5-61EB-9BDB8673266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C05FBA8B-D761-564B-90BC-9E092A0DD09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425641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A33A89A6-3EEA-F5A7-3CB9-00D21CAAB1F6}"/>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ADC2F274-6A59-769C-1C6B-52D83CF2E810}"/>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29</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B5ADB7B0-2319-98F5-EF47-79CC44D58B7C}"/>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startup is running a new machine learning inference image-recognition API on Amazon ECS. The workload is unpredictable, with occasional bursts of requests, due to which the development team requires per-second billing and automatic scaling of containers without managing servers (does not want to manage EC2 infrastructure). </a:t>
            </a:r>
          </a:p>
          <a:p>
            <a:pPr marL="228600" indent="0" algn="l"/>
            <a:endParaRPr lang="en-US" sz="1400" b="1" dirty="0"/>
          </a:p>
          <a:p>
            <a:pPr marL="228600" indent="0" algn="l"/>
            <a:r>
              <a:rPr lang="en-US" sz="1400" b="1" dirty="0"/>
              <a:t>Which ECS launch type is the best fit for this workload? </a:t>
            </a:r>
          </a:p>
          <a:p>
            <a:pPr marL="228600" indent="0" algn="l"/>
            <a:endParaRPr lang="en-US" sz="1400" dirty="0"/>
          </a:p>
          <a:p>
            <a:pPr marL="228600" indent="0" algn="l"/>
            <a:r>
              <a:rPr lang="en-US" sz="1400" dirty="0"/>
              <a:t> </a:t>
            </a:r>
          </a:p>
          <a:p>
            <a:pPr marL="228600" indent="0" algn="l"/>
            <a:r>
              <a:rPr lang="en-US" sz="1400" dirty="0"/>
              <a:t>A. ECS with EC2 launch type, using Auto Scaling groups. </a:t>
            </a:r>
          </a:p>
          <a:p>
            <a:pPr marL="228600" indent="0" algn="l"/>
            <a:r>
              <a:rPr lang="en-US" sz="1400" dirty="0"/>
              <a:t>B. ECS with EC2 Spot Instances for cost efficiency. </a:t>
            </a:r>
          </a:p>
          <a:p>
            <a:pPr marL="228600" indent="0" algn="l"/>
            <a:r>
              <a:rPr lang="en-US" sz="1400" dirty="0"/>
              <a:t>C. ECS with Fargate launch type. </a:t>
            </a:r>
          </a:p>
          <a:p>
            <a:pPr marL="228600" indent="0" algn="l"/>
            <a:r>
              <a:rPr lang="en-US" sz="1400" dirty="0"/>
              <a:t>D. ECS with Outposts for predictable low-latency workloads. </a:t>
            </a:r>
          </a:p>
        </p:txBody>
      </p:sp>
      <p:sp>
        <p:nvSpPr>
          <p:cNvPr id="646" name="Google Shape;646;p37">
            <a:extLst>
              <a:ext uri="{FF2B5EF4-FFF2-40B4-BE49-F238E27FC236}">
                <a16:creationId xmlns:a16="http://schemas.microsoft.com/office/drawing/2014/main" id="{C33B5FE9-B53F-4C1F-62BD-4FCB2243D3A6}"/>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7</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273D23ED-8B72-6C40-8909-A1C227092530}"/>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8A852F51-8558-CB0F-2012-B2FF8224853A}"/>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13906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98CE55E2-5397-F958-4DA7-FCD312347B56}"/>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B53AEDB8-553C-3855-B6B0-EE7D7016E07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30</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A07DBE1F-6BC6-946D-C93B-D0CC487A2762}"/>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 startup is running a new machine learning inference image-recognition API on Amazon ECS. The workload is unpredictable, with occasional bursts of requests, due to which the development team requires per-second billing and automatic scaling of containers without managing servers (does not want to manage EC2 infrastructure). </a:t>
            </a:r>
          </a:p>
          <a:p>
            <a:pPr marL="228600" indent="0" algn="l"/>
            <a:endParaRPr lang="en-US" sz="1400" b="1" dirty="0"/>
          </a:p>
          <a:p>
            <a:pPr marL="228600" indent="0" algn="l"/>
            <a:r>
              <a:rPr lang="en-US" sz="1400" b="1" dirty="0"/>
              <a:t>Which ECS launch type is the best fit for this workload? </a:t>
            </a:r>
          </a:p>
          <a:p>
            <a:pPr marL="228600" indent="0" algn="l"/>
            <a:endParaRPr lang="en-US" sz="1400" dirty="0"/>
          </a:p>
          <a:p>
            <a:pPr marL="228600" indent="0" algn="l"/>
            <a:r>
              <a:rPr lang="en-US" sz="1400" dirty="0"/>
              <a:t> </a:t>
            </a:r>
          </a:p>
          <a:p>
            <a:pPr marL="228600" indent="0" algn="l"/>
            <a:r>
              <a:rPr lang="en-US" sz="1400" dirty="0"/>
              <a:t>A. ECS with EC2 launch type, using Auto Scaling groups. </a:t>
            </a:r>
          </a:p>
          <a:p>
            <a:pPr marL="228600" indent="0" algn="l"/>
            <a:r>
              <a:rPr lang="en-US" sz="1400" dirty="0"/>
              <a:t>B. ECS with EC2 Spot Instances for cost efficiency. </a:t>
            </a:r>
          </a:p>
          <a:p>
            <a:pPr marL="228600" indent="0" algn="l"/>
            <a:r>
              <a:rPr lang="en-US" sz="1400" b="1" dirty="0"/>
              <a:t>C. ECS with Fargate launch type. </a:t>
            </a:r>
          </a:p>
          <a:p>
            <a:pPr marL="228600" indent="0" algn="l"/>
            <a:r>
              <a:rPr lang="en-US" sz="1400" dirty="0"/>
              <a:t>D. ECS with Outposts for predictable low-latency workloads. </a:t>
            </a:r>
          </a:p>
        </p:txBody>
      </p:sp>
      <p:sp>
        <p:nvSpPr>
          <p:cNvPr id="646" name="Google Shape;646;p37">
            <a:extLst>
              <a:ext uri="{FF2B5EF4-FFF2-40B4-BE49-F238E27FC236}">
                <a16:creationId xmlns:a16="http://schemas.microsoft.com/office/drawing/2014/main" id="{71FF441A-B88A-317C-27BD-F57468C1C27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7</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5626E307-1F66-173B-9A85-3B309AAD48CD}"/>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E858BAB0-F8ED-6857-744F-D6558905BCF3}"/>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06353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E2678FED-8E96-6E62-A658-2E586DAC6455}"/>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D0FACAA9-EA3E-69AF-B386-57A7E37A2B7E}"/>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31</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A5FEA970-CC43-2E34-DF86-7F189F3772AD}"/>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An e-commerce company stores sales transactions in Amazon DynamoDB. Every time a new record is inserted, they need to run validation logic to make sure no duplicate transactions are recorded. The solution should be event-driven and require no servers to manage. </a:t>
            </a:r>
          </a:p>
          <a:p>
            <a:pPr marL="228600" indent="0" algn="l"/>
            <a:endParaRPr lang="en-US" sz="1400" b="1" dirty="0"/>
          </a:p>
          <a:p>
            <a:pPr marL="228600" indent="0" algn="l"/>
            <a:r>
              <a:rPr lang="en-US" sz="1400" b="1" dirty="0"/>
              <a:t>Which AWS service combination best meets this need? </a:t>
            </a:r>
          </a:p>
          <a:p>
            <a:pPr marL="228600" indent="0" algn="l"/>
            <a:endParaRPr lang="en-US" sz="1400" dirty="0"/>
          </a:p>
          <a:p>
            <a:pPr marL="228600" indent="0" algn="l"/>
            <a:r>
              <a:rPr lang="en-US" sz="1400" dirty="0"/>
              <a:t> </a:t>
            </a:r>
          </a:p>
          <a:p>
            <a:pPr marL="228600" indent="0" algn="l"/>
            <a:r>
              <a:rPr lang="en-US" sz="1400" dirty="0"/>
              <a:t>A. Export DynamoDB records into S3 and process with Lambda. </a:t>
            </a:r>
          </a:p>
          <a:p>
            <a:pPr marL="228600" indent="0" algn="l"/>
            <a:r>
              <a:rPr lang="en-US" sz="1400" dirty="0"/>
              <a:t>B. Use Kinesis Data Firehose to capture changes and send them to Lambda. </a:t>
            </a:r>
          </a:p>
          <a:p>
            <a:pPr marL="228600" indent="0" algn="l"/>
            <a:r>
              <a:rPr lang="en-US" sz="1400" dirty="0"/>
              <a:t>C. Use AWS Glue to capture changes in DB and send them to Lambda. </a:t>
            </a:r>
          </a:p>
          <a:p>
            <a:pPr marL="228600" indent="0" algn="l"/>
            <a:r>
              <a:rPr lang="en-US" sz="1400" dirty="0"/>
              <a:t>D. Enable DynamoDB Streams and trigger an AWS Lambda function. </a:t>
            </a:r>
          </a:p>
        </p:txBody>
      </p:sp>
      <p:sp>
        <p:nvSpPr>
          <p:cNvPr id="646" name="Google Shape;646;p37">
            <a:extLst>
              <a:ext uri="{FF2B5EF4-FFF2-40B4-BE49-F238E27FC236}">
                <a16:creationId xmlns:a16="http://schemas.microsoft.com/office/drawing/2014/main" id="{1FC2A3B6-6850-1AF9-857B-D24A4DB32944}"/>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8</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A9497DDC-E3C1-DACD-8A8F-56D56C4E8A6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FCF97E79-7A59-EFB0-A1C1-8FC03D23DAB9}"/>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74714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DFAA1A9-1C17-91DC-F2EA-D41265F30A18}"/>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B2A05276-2F72-7762-7DC2-268EA26C146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32</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6E25974C-325B-9F5B-5925-C7994BFB584E}"/>
              </a:ext>
            </a:extLst>
          </p:cNvPr>
          <p:cNvSpPr txBox="1">
            <a:spLocks noGrp="1"/>
          </p:cNvSpPr>
          <p:nvPr>
            <p:ph type="body" idx="1"/>
          </p:nvPr>
        </p:nvSpPr>
        <p:spPr>
          <a:xfrm>
            <a:off x="509666" y="1292514"/>
            <a:ext cx="8114675" cy="3724770"/>
          </a:xfrm>
          <a:prstGeom prst="rect">
            <a:avLst/>
          </a:prstGeom>
          <a:noFill/>
          <a:ln>
            <a:noFill/>
          </a:ln>
        </p:spPr>
        <p:txBody>
          <a:bodyPr spcFirstLastPara="1" wrap="square" lIns="91425" tIns="45700" rIns="91425" bIns="45700" anchor="t" anchorCtr="0">
            <a:noAutofit/>
          </a:bodyPr>
          <a:lstStyle/>
          <a:p>
            <a:pPr marL="228600" indent="0" algn="l"/>
            <a:r>
              <a:rPr lang="en-US" sz="1400" b="1" dirty="0"/>
              <a:t>An e-commerce company stores sales transactions in Amazon DynamoDB. Every time a new record is inserted, they need to run validation logic to make sure no duplicate transactions are recorded. The solution should be event-driven and require no servers to manage. </a:t>
            </a:r>
          </a:p>
          <a:p>
            <a:pPr marL="228600" indent="0" algn="l"/>
            <a:endParaRPr lang="en-US" sz="1400" b="1" dirty="0"/>
          </a:p>
          <a:p>
            <a:pPr marL="228600" indent="0" algn="l"/>
            <a:r>
              <a:rPr lang="en-US" sz="1400" b="1" dirty="0"/>
              <a:t>Which AWS service combination best meets this need? </a:t>
            </a:r>
          </a:p>
          <a:p>
            <a:pPr marL="228600" indent="0" algn="l"/>
            <a:endParaRPr lang="en-US" sz="1400" dirty="0"/>
          </a:p>
          <a:p>
            <a:pPr marL="228600" indent="0" algn="l"/>
            <a:r>
              <a:rPr lang="en-US" sz="1400" dirty="0"/>
              <a:t>A. Export DynamoDB records into S3 and process with Lambda. </a:t>
            </a:r>
          </a:p>
          <a:p>
            <a:pPr marL="228600" indent="0" algn="l"/>
            <a:r>
              <a:rPr lang="en-US" sz="1400" dirty="0"/>
              <a:t>B. Use Kinesis Data Firehose to capture changes and send them to Lambda. </a:t>
            </a:r>
          </a:p>
          <a:p>
            <a:pPr marL="228600" indent="0" algn="l"/>
            <a:r>
              <a:rPr lang="en-US" sz="1400" dirty="0"/>
              <a:t>C. Use AWS Glue to capture changes in DB and send them to Lambda. </a:t>
            </a:r>
          </a:p>
          <a:p>
            <a:pPr marL="228600" indent="0" algn="l"/>
            <a:r>
              <a:rPr lang="en-US" sz="1400" b="1" dirty="0"/>
              <a:t>D. Enable DynamoDB Streams and trigger an AWS Lambda function. </a:t>
            </a:r>
          </a:p>
        </p:txBody>
      </p:sp>
      <p:sp>
        <p:nvSpPr>
          <p:cNvPr id="646" name="Google Shape;646;p37">
            <a:extLst>
              <a:ext uri="{FF2B5EF4-FFF2-40B4-BE49-F238E27FC236}">
                <a16:creationId xmlns:a16="http://schemas.microsoft.com/office/drawing/2014/main" id="{A63C0B5C-B418-535A-5B9C-CC1917BD09E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dirty="0">
                <a:solidFill>
                  <a:schemeClr val="lt1"/>
                </a:solidFill>
                <a:latin typeface="Proxima Nova"/>
                <a:ea typeface="Proxima Nova"/>
                <a:cs typeface="Proxima Nova"/>
                <a:sym typeface="Proxima Nova"/>
              </a:rPr>
              <a:t>Question 8</a:t>
            </a:r>
            <a:endParaRPr sz="1800" dirty="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D3D2A365-F31D-5EA9-A216-0F1B2CC18CCF}"/>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C7D56BD8-4177-00BD-5729-7E54AC1A70EF}"/>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136581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63"/>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33</a:t>
            </a:fld>
            <a:endParaRPr sz="900">
              <a:latin typeface="Proxima Nova"/>
              <a:ea typeface="Proxima Nova"/>
              <a:cs typeface="Proxima Nova"/>
              <a:sym typeface="Proxima Nova"/>
            </a:endParaRPr>
          </a:p>
        </p:txBody>
      </p:sp>
      <p:sp>
        <p:nvSpPr>
          <p:cNvPr id="905" name="Google Shape;905;p63"/>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IN" sz="2800">
                <a:solidFill>
                  <a:schemeClr val="lt1"/>
                </a:solidFill>
                <a:latin typeface="Calibri"/>
                <a:ea typeface="Calibri"/>
                <a:cs typeface="Calibri"/>
                <a:sym typeface="Calibri"/>
              </a:rPr>
              <a:t>Questions and Discussions</a:t>
            </a:r>
            <a:endParaRPr sz="28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64"/>
          <p:cNvSpPr txBox="1"/>
          <p:nvPr/>
        </p:nvSpPr>
        <p:spPr>
          <a:xfrm>
            <a:off x="555037" y="2114911"/>
            <a:ext cx="6895200" cy="11721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Thank You!</a:t>
            </a:r>
            <a:endParaRPr sz="4000">
              <a:solidFill>
                <a:schemeClr val="dk1"/>
              </a:solidFill>
              <a:latin typeface="Proxima Nova"/>
              <a:ea typeface="Proxima Nova"/>
              <a:cs typeface="Proxima Nova"/>
              <a:sym typeface="Proxima Nova"/>
            </a:endParaRPr>
          </a:p>
        </p:txBody>
      </p:sp>
      <p:pic>
        <p:nvPicPr>
          <p:cNvPr id="912" name="Google Shape;912;p64"/>
          <p:cNvPicPr preferRelativeResize="0"/>
          <p:nvPr/>
        </p:nvPicPr>
        <p:blipFill rotWithShape="1">
          <a:blip r:embed="rId3">
            <a:alphaModFix/>
          </a:blip>
          <a:srcRect/>
          <a:stretch/>
        </p:blipFill>
        <p:spPr>
          <a:xfrm>
            <a:off x="7582370" y="0"/>
            <a:ext cx="1356541" cy="1577482"/>
          </a:xfrm>
          <a:prstGeom prst="rect">
            <a:avLst/>
          </a:prstGeom>
          <a:noFill/>
          <a:ln>
            <a:noFill/>
          </a:ln>
        </p:spPr>
      </p:pic>
      <p:sp>
        <p:nvSpPr>
          <p:cNvPr id="913" name="Google Shape;913;p64"/>
          <p:cNvSpPr txBox="1">
            <a:spLocks noGrp="1"/>
          </p:cNvSpPr>
          <p:nvPr>
            <p:ph type="sldNum" sz="quarter"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34</a:t>
            </a:fld>
            <a:endParaRPr sz="900">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TotalTime>
  <Words>2994</Words>
  <Application>Microsoft Office PowerPoint</Application>
  <PresentationFormat>On-screen Show (16:9)</PresentationFormat>
  <Paragraphs>255</Paragraphs>
  <Slides>34</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Proxima Nova</vt:lpstr>
      <vt:lpstr>Calibri Light</vt:lpstr>
      <vt:lpstr>Consolas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 Rumaan Pasha</dc:creator>
  <cp:lastModifiedBy>john test</cp:lastModifiedBy>
  <cp:revision>10</cp:revision>
  <dcterms:modified xsi:type="dcterms:W3CDTF">2026-07-04T06:27:37Z</dcterms:modified>
</cp:coreProperties>
</file>