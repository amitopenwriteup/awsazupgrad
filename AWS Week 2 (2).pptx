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Lst>
  <p:notesMasterIdLst>
    <p:notesMasterId r:id="rId85"/>
  </p:notesMasterIdLst>
  <p:sldIdLst>
    <p:sldId id="256" r:id="rId2"/>
    <p:sldId id="259" r:id="rId3"/>
    <p:sldId id="293" r:id="rId4"/>
    <p:sldId id="260" r:id="rId5"/>
    <p:sldId id="296" r:id="rId6"/>
    <p:sldId id="297" r:id="rId7"/>
    <p:sldId id="298" r:id="rId8"/>
    <p:sldId id="299" r:id="rId9"/>
    <p:sldId id="323" r:id="rId10"/>
    <p:sldId id="324" r:id="rId11"/>
    <p:sldId id="287" r:id="rId12"/>
    <p:sldId id="294" r:id="rId13"/>
    <p:sldId id="295" r:id="rId14"/>
    <p:sldId id="300" r:id="rId15"/>
    <p:sldId id="301" r:id="rId16"/>
    <p:sldId id="307" r:id="rId17"/>
    <p:sldId id="308" r:id="rId18"/>
    <p:sldId id="309" r:id="rId19"/>
    <p:sldId id="310" r:id="rId20"/>
    <p:sldId id="311" r:id="rId21"/>
    <p:sldId id="312" r:id="rId22"/>
    <p:sldId id="318" r:id="rId23"/>
    <p:sldId id="314" r:id="rId24"/>
    <p:sldId id="319" r:id="rId25"/>
    <p:sldId id="315" r:id="rId26"/>
    <p:sldId id="320" r:id="rId27"/>
    <p:sldId id="316" r:id="rId28"/>
    <p:sldId id="321" r:id="rId29"/>
    <p:sldId id="317" r:id="rId30"/>
    <p:sldId id="322" r:id="rId31"/>
    <p:sldId id="285" r:id="rId32"/>
    <p:sldId id="286" r:id="rId33"/>
    <p:sldId id="325" r:id="rId34"/>
    <p:sldId id="257" r:id="rId35"/>
    <p:sldId id="779" r:id="rId36"/>
    <p:sldId id="780" r:id="rId37"/>
    <p:sldId id="781" r:id="rId38"/>
    <p:sldId id="782" r:id="rId39"/>
    <p:sldId id="783" r:id="rId40"/>
    <p:sldId id="784" r:id="rId41"/>
    <p:sldId id="863" r:id="rId42"/>
    <p:sldId id="785" r:id="rId43"/>
    <p:sldId id="786" r:id="rId44"/>
    <p:sldId id="787" r:id="rId45"/>
    <p:sldId id="788" r:id="rId46"/>
    <p:sldId id="789" r:id="rId47"/>
    <p:sldId id="864" r:id="rId48"/>
    <p:sldId id="865" r:id="rId49"/>
    <p:sldId id="866" r:id="rId50"/>
    <p:sldId id="867" r:id="rId51"/>
    <p:sldId id="868" r:id="rId52"/>
    <p:sldId id="869" r:id="rId53"/>
    <p:sldId id="870" r:id="rId54"/>
    <p:sldId id="871" r:id="rId55"/>
    <p:sldId id="872" r:id="rId56"/>
    <p:sldId id="873" r:id="rId57"/>
    <p:sldId id="503" r:id="rId58"/>
    <p:sldId id="874" r:id="rId59"/>
    <p:sldId id="875" r:id="rId60"/>
    <p:sldId id="876" r:id="rId61"/>
    <p:sldId id="877" r:id="rId62"/>
    <p:sldId id="878" r:id="rId63"/>
    <p:sldId id="879" r:id="rId64"/>
    <p:sldId id="880" r:id="rId65"/>
    <p:sldId id="881" r:id="rId66"/>
    <p:sldId id="882" r:id="rId67"/>
    <p:sldId id="883" r:id="rId68"/>
    <p:sldId id="884" r:id="rId69"/>
    <p:sldId id="885" r:id="rId70"/>
    <p:sldId id="886" r:id="rId71"/>
    <p:sldId id="887" r:id="rId72"/>
    <p:sldId id="888" r:id="rId73"/>
    <p:sldId id="889" r:id="rId74"/>
    <p:sldId id="890" r:id="rId75"/>
    <p:sldId id="891" r:id="rId76"/>
    <p:sldId id="892" r:id="rId77"/>
    <p:sldId id="893" r:id="rId78"/>
    <p:sldId id="894" r:id="rId79"/>
    <p:sldId id="895" r:id="rId80"/>
    <p:sldId id="896" r:id="rId81"/>
    <p:sldId id="897" r:id="rId82"/>
    <p:sldId id="898" r:id="rId83"/>
    <p:sldId id="899" r:id="rId84"/>
  </p:sldIdLst>
  <p:sldSz cx="9144000" cy="5143500" type="screen16x9"/>
  <p:notesSz cx="6858000" cy="9144000"/>
  <p:embeddedFontLst>
    <p:embeddedFont>
      <p:font typeface="Gill Sans MT" panose="020B0502020104020203" pitchFamily="34" charset="0"/>
      <p:regular r:id="rId86"/>
      <p:bold r:id="rId87"/>
      <p:italic r:id="rId88"/>
      <p:boldItalic r:id="rId89"/>
    </p:embeddedFont>
    <p:embeddedFont>
      <p:font typeface="Lato" panose="020F0502020204030203" pitchFamily="34" charset="0"/>
      <p:regular r:id="rId90"/>
      <p:bold r:id="rId91"/>
      <p:italic r:id="rId92"/>
      <p:boldItalic r:id="rId93"/>
    </p:embeddedFont>
    <p:embeddedFont>
      <p:font typeface="Proxima Nova" panose="020B0604020202020204" charset="0"/>
      <p:regular r:id="rId94"/>
      <p:bold r:id="rId95"/>
      <p:italic r:id="rId96"/>
      <p:boldItalic r:id="rId97"/>
    </p:embeddedFont>
    <p:embeddedFont>
      <p:font typeface="Source Sans Pro" panose="020B0503030403020204" pitchFamily="34" charset="0"/>
      <p:regular r:id="rId98"/>
      <p:bold r:id="rId99"/>
      <p:italic r:id="rId100"/>
      <p:boldItalic r:id="rId10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39BA7-0A50-152B-CC95-962FC045A7A4}" v="51" dt="2025-09-13T11:44:51.831"/>
    <p1510:client id="{96E02818-7A2A-4F98-9899-237D3BF0D279}" v="102" dt="2025-09-12T09:54:19.779"/>
    <p1510:client id="{E34EADB0-7C36-4F09-8359-CED1AA4AB890}" v="15" dt="2025-09-12T06:13:21.27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4.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font" Target="fonts/font5.fntdata"/><Relationship Id="rId95" Type="http://schemas.openxmlformats.org/officeDocument/2006/relationships/font" Target="fonts/font10.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3.fntdata"/><Relationship Id="rId91" Type="http://schemas.openxmlformats.org/officeDocument/2006/relationships/font" Target="fonts/font6.fntdata"/><Relationship Id="rId96"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1.fntdata"/><Relationship Id="rId94" Type="http://schemas.openxmlformats.org/officeDocument/2006/relationships/font" Target="fonts/font9.fntdata"/><Relationship Id="rId99" Type="http://schemas.openxmlformats.org/officeDocument/2006/relationships/font" Target="fonts/font14.fntdata"/><Relationship Id="rId10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2.fntdata"/><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7.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5.fntdata"/><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8.fntdata"/><Relationship Id="rId98" Type="http://schemas.openxmlformats.org/officeDocument/2006/relationships/font" Target="fonts/font13.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274cb2ecf7f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CB8455D8-38E5-D0C8-11FB-D18EC5611F67}"/>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419F0376-5B2C-183B-262C-49CBC9043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1380647A-4073-5F34-351B-A98AC61D3B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6741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274cb2ecf7f_0_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A5113A14-ECCB-80D7-969A-57A18FF331D8}"/>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A79CD110-996C-BAD4-A747-6F67B547B4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BCB8167D-714B-56AF-0402-C8FE25609B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87954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868C2462-ED6D-BDFA-E21C-5FC642D8A0F5}"/>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DB05BFA3-7850-F4E1-10A3-76ABCF1450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A8A00212-050E-2DE9-56F1-9A7F3EC92F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0880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1DB2F197-1075-6935-59C2-6F9D5EBFF763}"/>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732B1395-939B-87EF-C9C0-0BDB70F9E2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4A01104B-2AFD-56AF-1B23-AE8448F676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8793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C7A78D7B-F8AA-19CB-5EDD-158D3D7F307D}"/>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688A3057-7865-7156-ACDA-4667F7318B8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7774FCE4-AE86-4FF7-54C1-A9C83EE761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39312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011BCE5D-B56C-9A66-91E8-924D8A8B58BC}"/>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11B9074B-6715-3AC6-50FC-6B3D3A11B89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10B6FDFE-1E81-E941-D146-EC491C0787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0472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6E4E445A-6157-1AEF-6D2D-E5AE854F5051}"/>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91327E3D-7AE9-BF31-1797-EE416B3FB56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53" name="Google Shape;653;g274cb2ecf7f_0_53:notes">
            <a:extLst>
              <a:ext uri="{FF2B5EF4-FFF2-40B4-BE49-F238E27FC236}">
                <a16:creationId xmlns:a16="http://schemas.microsoft.com/office/drawing/2014/main" id="{6023DD4A-BCFD-6ACD-31A9-ED6B5198EB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440435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74379596-61B1-CEDB-602C-354AD4AD692A}"/>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D25ED346-736A-1CD2-5EC3-4D2401352C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endParaRPr lang="en-US"/>
          </a:p>
        </p:txBody>
      </p:sp>
      <p:sp>
        <p:nvSpPr>
          <p:cNvPr id="653" name="Google Shape;653;g274cb2ecf7f_0_53:notes">
            <a:extLst>
              <a:ext uri="{FF2B5EF4-FFF2-40B4-BE49-F238E27FC236}">
                <a16:creationId xmlns:a16="http://schemas.microsoft.com/office/drawing/2014/main" id="{B21E156B-D85F-6237-EF7F-05D0E34563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33553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51275BC6-FF60-49B7-8A93-CF96BF2361EE}"/>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91DA832B-37A9-1FAE-C380-8573E7A31C1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endParaRPr lang="en-US"/>
          </a:p>
        </p:txBody>
      </p:sp>
      <p:sp>
        <p:nvSpPr>
          <p:cNvPr id="653" name="Google Shape;653;g274cb2ecf7f_0_53:notes">
            <a:extLst>
              <a:ext uri="{FF2B5EF4-FFF2-40B4-BE49-F238E27FC236}">
                <a16:creationId xmlns:a16="http://schemas.microsoft.com/office/drawing/2014/main" id="{42C5A299-092D-D1C1-5455-809A7D7D06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996682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a:extLst>
            <a:ext uri="{FF2B5EF4-FFF2-40B4-BE49-F238E27FC236}">
              <a16:creationId xmlns:a16="http://schemas.microsoft.com/office/drawing/2014/main" id="{C698C350-1E58-E102-891C-E7F5F85616FE}"/>
            </a:ext>
          </a:extLst>
        </p:cNvPr>
        <p:cNvGrpSpPr/>
        <p:nvPr/>
      </p:nvGrpSpPr>
      <p:grpSpPr>
        <a:xfrm>
          <a:off x="0" y="0"/>
          <a:ext cx="0" cy="0"/>
          <a:chOff x="0" y="0"/>
          <a:chExt cx="0" cy="0"/>
        </a:xfrm>
      </p:grpSpPr>
      <p:sp>
        <p:nvSpPr>
          <p:cNvPr id="652" name="Google Shape;652;g274cb2ecf7f_0_53:notes">
            <a:extLst>
              <a:ext uri="{FF2B5EF4-FFF2-40B4-BE49-F238E27FC236}">
                <a16:creationId xmlns:a16="http://schemas.microsoft.com/office/drawing/2014/main" id="{B171C7A3-8ED3-D43B-0D78-6602AAA28A6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endParaRPr lang="en-US"/>
          </a:p>
        </p:txBody>
      </p:sp>
      <p:sp>
        <p:nvSpPr>
          <p:cNvPr id="653" name="Google Shape;653;g274cb2ecf7f_0_53:notes">
            <a:extLst>
              <a:ext uri="{FF2B5EF4-FFF2-40B4-BE49-F238E27FC236}">
                <a16:creationId xmlns:a16="http://schemas.microsoft.com/office/drawing/2014/main" id="{01D5207E-90DD-906E-29E6-01BE83EBB6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191752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a:extLst>
            <a:ext uri="{FF2B5EF4-FFF2-40B4-BE49-F238E27FC236}">
              <a16:creationId xmlns:a16="http://schemas.microsoft.com/office/drawing/2014/main" id="{26F6527A-2AEA-20AB-62AE-C2BF77405E1F}"/>
            </a:ext>
          </a:extLst>
        </p:cNvPr>
        <p:cNvGrpSpPr/>
        <p:nvPr/>
      </p:nvGrpSpPr>
      <p:grpSpPr>
        <a:xfrm>
          <a:off x="0" y="0"/>
          <a:ext cx="0" cy="0"/>
          <a:chOff x="0" y="0"/>
          <a:chExt cx="0" cy="0"/>
        </a:xfrm>
      </p:grpSpPr>
      <p:sp>
        <p:nvSpPr>
          <p:cNvPr id="901" name="Google Shape;901;p15:notes">
            <a:extLst>
              <a:ext uri="{FF2B5EF4-FFF2-40B4-BE49-F238E27FC236}">
                <a16:creationId xmlns:a16="http://schemas.microsoft.com/office/drawing/2014/main" id="{CFCE8904-46D3-4A1C-6498-E7528EE0122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2" name="Google Shape;902;p15:notes">
            <a:extLst>
              <a:ext uri="{FF2B5EF4-FFF2-40B4-BE49-F238E27FC236}">
                <a16:creationId xmlns:a16="http://schemas.microsoft.com/office/drawing/2014/main" id="{8BD141F6-A78A-8544-ECDC-F1F2D988BB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87352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E3CB7282-E454-50BB-A770-BEE941C7E720}"/>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66C5B4B4-53B9-E1DB-76CE-A28E031EE84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F4633E81-1A26-53A1-E855-725E947734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1949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C4A7DBD3-79D2-532E-CB38-F6C97D1249C8}"/>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DB964256-74DB-341D-24AC-87835BFDAF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DCE3D24B-EE5F-2411-D036-BF59E243A1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4175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C97965D2-9102-A65F-4FE9-1472B8CBE5D0}"/>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3E460DEB-106E-3A96-E79D-4456DE2891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7F79E4CA-F5F2-128E-B592-215BA3E32D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6250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75BFF572-B339-67D7-2FD5-3E5B77CFF064}"/>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6B1895E0-F870-B2E4-B88E-99DCA8EB94C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6C81ABA1-76BC-C736-8672-C0EBE9A20B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14399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9093EB07-297D-7154-7B60-35C515230166}"/>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B119800D-79BF-5DB6-A88B-E68A246480A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ED35F1D4-6C83-EEEC-5FB3-678976AC5C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187887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C72851EF-3A08-CD1F-EA87-C1968451DC83}"/>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A898A2D1-5DD9-E1FC-26D1-72497FF500C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F689F8E3-EEDD-6C3B-32D2-D56FB73D6A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58114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657D3742-907D-57B7-44DA-3F6C5340ABB3}"/>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48F8CB90-49CF-6EBA-B014-AB8B080928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2159F54A-BBEB-C5BB-9DA5-DF152A8522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989458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89CF5AEC-1277-BD81-EA3C-6C5FA85DDEE7}"/>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A6752479-94DA-958C-0D18-CDBE19A818B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9A71878D-0735-08F6-3A36-669E50CFB2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08505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A769B384-3A49-5ABF-C5BD-D75E161D312D}"/>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CBBA47AB-3186-8EA1-8746-A95B0C148DB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D362013B-CC3A-DA2F-3138-33E24E66F7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530351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902FEAC5-A044-04F1-3BE6-E4BCE4051A53}"/>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BAB5D22E-DA42-BC5A-2592-395ACF0A97C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495D0332-81F6-4763-09FE-17DA3A836D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08061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AE40E856-36DE-00FB-8A9D-50C51756DDD4}"/>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9FF03203-27CD-18DF-6BE3-2E714D998A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646708A6-FCB2-5B0D-CB78-2645A5C743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325976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F119BFF5-D6BF-0536-8E50-A4B23498DC4F}"/>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B74047AE-FB75-88C3-AF47-8B793DE3B85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253CE60F-5E81-F36F-A40C-47984C49F8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38882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BA9ABCF2-96B7-3C64-29DD-852A151BBF3E}"/>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0B716E83-C9E9-60DD-31CB-8E0E9246941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2B01AC0B-EA39-67C7-48E0-E34D76AFE4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803422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9EBA7803-291E-DC61-C843-F7D07C21D4F7}"/>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5546DCDB-9158-1B41-6F1A-DB61D76AC04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5F472126-FFA5-7EEE-26A7-559F68666E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440538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3A47BEEA-F362-6EE7-8FDC-46C6F93F9ED9}"/>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C8955D8E-2531-29FD-1889-AC7AE26DE1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EF7979AC-89F9-CA8F-6924-11984FB907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513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a:extLst>
            <a:ext uri="{FF2B5EF4-FFF2-40B4-BE49-F238E27FC236}">
              <a16:creationId xmlns:a16="http://schemas.microsoft.com/office/drawing/2014/main" id="{B72B8B2D-D92F-758C-D389-EF336FBD7EF4}"/>
            </a:ext>
          </a:extLst>
        </p:cNvPr>
        <p:cNvGrpSpPr/>
        <p:nvPr/>
      </p:nvGrpSpPr>
      <p:grpSpPr>
        <a:xfrm>
          <a:off x="0" y="0"/>
          <a:ext cx="0" cy="0"/>
          <a:chOff x="0" y="0"/>
          <a:chExt cx="0" cy="0"/>
        </a:xfrm>
      </p:grpSpPr>
      <p:sp>
        <p:nvSpPr>
          <p:cNvPr id="642" name="Google Shape;642;g274cb2ecf7f_0_34:notes">
            <a:extLst>
              <a:ext uri="{FF2B5EF4-FFF2-40B4-BE49-F238E27FC236}">
                <a16:creationId xmlns:a16="http://schemas.microsoft.com/office/drawing/2014/main" id="{801B84DB-7F52-47A5-B06B-8860D2D93E6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43" name="Google Shape;643;g274cb2ecf7f_0_34:notes">
            <a:extLst>
              <a:ext uri="{FF2B5EF4-FFF2-40B4-BE49-F238E27FC236}">
                <a16:creationId xmlns:a16="http://schemas.microsoft.com/office/drawing/2014/main" id="{B54CBC1B-F6C9-4FC7-ADE2-EA467757B7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222749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2" name="Google Shape;90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274cb2ecf7f_0_4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9" name="Google Shape;909;g274cb2ecf7f_0_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Create a SSM role</a:t>
            </a:r>
          </a:p>
          <a:p>
            <a:pPr marL="228600" indent="-228600">
              <a:buFont typeface="+mj-lt"/>
              <a:buAutoNum type="arabicPeriod"/>
            </a:pPr>
            <a:r>
              <a:rPr lang="en-US" dirty="0"/>
              <a:t>Setup </a:t>
            </a:r>
            <a:r>
              <a:rPr lang="en-US" dirty="0" err="1"/>
              <a:t>aws</a:t>
            </a:r>
            <a:r>
              <a:rPr lang="en-US" dirty="0"/>
              <a:t> ec2 instance (</a:t>
            </a:r>
            <a:r>
              <a:rPr lang="en-US" dirty="0" err="1"/>
              <a:t>aws</a:t>
            </a:r>
            <a:r>
              <a:rPr lang="en-US" dirty="0"/>
              <a:t> </a:t>
            </a:r>
            <a:r>
              <a:rPr lang="en-US" dirty="0" err="1"/>
              <a:t>linux</a:t>
            </a:r>
            <a:r>
              <a:rPr lang="en-US" dirty="0"/>
              <a:t>)</a:t>
            </a:r>
          </a:p>
          <a:p>
            <a:pPr marL="228600" indent="-228600">
              <a:buFont typeface="+mj-lt"/>
              <a:buAutoNum type="arabicPeriod"/>
            </a:pPr>
            <a:r>
              <a:rPr lang="en-US" dirty="0"/>
              <a:t>Login to </a:t>
            </a:r>
            <a:r>
              <a:rPr lang="en-US" dirty="0" err="1"/>
              <a:t>aws</a:t>
            </a:r>
            <a:r>
              <a:rPr lang="en-US" dirty="0"/>
              <a:t> instance and check</a:t>
            </a:r>
          </a:p>
          <a:p>
            <a:pPr marL="228600" indent="-228600">
              <a:buFont typeface="+mj-lt"/>
              <a:buAutoNum type="arabicPeriod"/>
            </a:pPr>
            <a:r>
              <a:rPr lang="en-US" dirty="0"/>
              <a:t>Check the inspector dashboard</a:t>
            </a:r>
          </a:p>
          <a:p>
            <a:pPr marL="228600" indent="-228600">
              <a:buFont typeface="+mj-lt"/>
              <a:buAutoNum type="arabicPeriod"/>
            </a:pPr>
            <a:r>
              <a:rPr lang="en-US" dirty="0"/>
              <a:t>Update the role</a:t>
            </a:r>
          </a:p>
          <a:p>
            <a:pPr marL="228600" indent="-228600">
              <a:buFont typeface="+mj-lt"/>
              <a:buAutoNum type="arabicPeriod"/>
            </a:pPr>
            <a:r>
              <a:rPr lang="en-US" dirty="0"/>
              <a:t>Again check the Report</a:t>
            </a:r>
          </a:p>
        </p:txBody>
      </p:sp>
      <p:sp>
        <p:nvSpPr>
          <p:cNvPr id="4" name="Slide Number Placeholder 3"/>
          <p:cNvSpPr>
            <a:spLocks noGrp="1"/>
          </p:cNvSpPr>
          <p:nvPr>
            <p:ph type="sldNum" sz="quarter" idx="5"/>
          </p:nvPr>
        </p:nvSpPr>
        <p:spPr/>
        <p:txBody>
          <a:bodyPr/>
          <a:lstStyle/>
          <a:p>
            <a:fld id="{2307D182-EC12-4D3E-93CB-FB063E3E46A7}" type="slidenum">
              <a:rPr lang="en-IN" smtClean="0"/>
              <a:t>77</a:t>
            </a:fld>
            <a:endParaRPr lang="en-IN"/>
          </a:p>
        </p:txBody>
      </p:sp>
    </p:spTree>
    <p:extLst>
      <p:ext uri="{BB962C8B-B14F-4D97-AF65-F5344CB8AC3E}">
        <p14:creationId xmlns:p14="http://schemas.microsoft.com/office/powerpoint/2010/main" val="28974495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351B6-A4FC-B26F-CB54-FE0B001038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A9A2F9-7C36-5F38-4938-5844493A1A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F86E1E-5E0E-DAD7-6815-71FF00852A81}"/>
              </a:ext>
            </a:extLst>
          </p:cNvPr>
          <p:cNvSpPr>
            <a:spLocks noGrp="1"/>
          </p:cNvSpPr>
          <p:nvPr>
            <p:ph type="body" idx="1"/>
          </p:nvPr>
        </p:nvSpPr>
        <p:spPr/>
        <p:txBody>
          <a:bodyPr/>
          <a:lstStyle/>
          <a:p>
            <a:pPr marL="0" indent="0">
              <a:buFont typeface="+mj-lt"/>
              <a:buNone/>
            </a:pPr>
            <a:endParaRPr lang="en-US" dirty="0"/>
          </a:p>
        </p:txBody>
      </p:sp>
      <p:sp>
        <p:nvSpPr>
          <p:cNvPr id="4" name="Slide Number Placeholder 3">
            <a:extLst>
              <a:ext uri="{FF2B5EF4-FFF2-40B4-BE49-F238E27FC236}">
                <a16:creationId xmlns:a16="http://schemas.microsoft.com/office/drawing/2014/main" id="{7C5A9F35-D646-D474-1ECA-399921B212B0}"/>
              </a:ext>
            </a:extLst>
          </p:cNvPr>
          <p:cNvSpPr>
            <a:spLocks noGrp="1"/>
          </p:cNvSpPr>
          <p:nvPr>
            <p:ph type="sldNum" sz="quarter" idx="5"/>
          </p:nvPr>
        </p:nvSpPr>
        <p:spPr/>
        <p:txBody>
          <a:bodyPr/>
          <a:lstStyle/>
          <a:p>
            <a:fld id="{2307D182-EC12-4D3E-93CB-FB063E3E46A7}" type="slidenum">
              <a:rPr lang="en-IN" smtClean="0"/>
              <a:t>78</a:t>
            </a:fld>
            <a:endParaRPr lang="en-IN"/>
          </a:p>
        </p:txBody>
      </p:sp>
    </p:spTree>
    <p:extLst>
      <p:ext uri="{BB962C8B-B14F-4D97-AF65-F5344CB8AC3E}">
        <p14:creationId xmlns:p14="http://schemas.microsoft.com/office/powerpoint/2010/main" val="41520146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64227-788B-47A9-8E48-2AF4B17C8977}"/>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8EEFB2AF-6764-78FB-D2A7-9C7375B92A3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A4547F1-3BDA-F19A-5177-6A7A89EAD318}"/>
              </a:ext>
            </a:extLst>
          </p:cNvPr>
          <p:cNvSpPr>
            <a:spLocks noGrp="1"/>
          </p:cNvSpPr>
          <p:nvPr>
            <p:ph type="dt" sz="half" idx="10"/>
          </p:nvPr>
        </p:nvSpPr>
        <p:spPr/>
        <p:txBody>
          <a:bodyPr/>
          <a:lstStyle/>
          <a:p>
            <a:fld id="{BD7E3D2F-B2E8-4AD5-B579-C643785865FE}" type="datetimeFigureOut">
              <a:rPr lang="en-IN" smtClean="0"/>
              <a:t>04-07-2026</a:t>
            </a:fld>
            <a:endParaRPr lang="en-IN"/>
          </a:p>
        </p:txBody>
      </p:sp>
      <p:sp>
        <p:nvSpPr>
          <p:cNvPr id="5" name="Footer Placeholder 4">
            <a:extLst>
              <a:ext uri="{FF2B5EF4-FFF2-40B4-BE49-F238E27FC236}">
                <a16:creationId xmlns:a16="http://schemas.microsoft.com/office/drawing/2014/main" id="{9287A07F-D5BE-F084-B106-DF57CE9DD2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471F89-9126-3E26-2CC8-E5BA0040EB5C}"/>
              </a:ext>
            </a:extLst>
          </p:cNvPr>
          <p:cNvSpPr>
            <a:spLocks noGrp="1"/>
          </p:cNvSpPr>
          <p:nvPr>
            <p:ph type="sldNum" sz="quarter" idx="12"/>
          </p:nvPr>
        </p:nvSpPr>
        <p:spPr/>
        <p:txBody>
          <a:bodyPr/>
          <a:lstStyle/>
          <a:p>
            <a:fld id="{FBB51B5D-A99F-4779-98D6-093C2274D576}" type="slidenum">
              <a:rPr lang="en-IN" smtClean="0"/>
              <a:t>‹#›</a:t>
            </a:fld>
            <a:endParaRPr lang="en-IN"/>
          </a:p>
        </p:txBody>
      </p:sp>
    </p:spTree>
    <p:extLst>
      <p:ext uri="{BB962C8B-B14F-4D97-AF65-F5344CB8AC3E}">
        <p14:creationId xmlns:p14="http://schemas.microsoft.com/office/powerpoint/2010/main" val="4015896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65BC8-4F28-6B03-A8C6-F1CD44EE427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D8CE92-2485-A9C2-B0CB-90C1187A44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C06459-8EC6-591D-300C-A4F73A0B127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E2F40B8-F38B-DDEC-FEAC-48860FF94C9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A7FFF68-6445-9081-2BDA-4098CA9FE57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8771159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15837-4D39-313C-9EB6-CD1B79E4A438}"/>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D26B28-7075-1780-CC16-3002A5A046B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ED90CD-BC77-13D6-6EEE-04334AED97C9}"/>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AD08886D-074E-1A54-C34E-BC54053FAF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A3E3C2C-A513-23D8-EA5D-093AE671F30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18096445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DD0A4-B76C-89FD-8D4B-48ECD98EEA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47D266-757B-5C90-8BAA-5EE9CF31E29E}"/>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9369D08-5AE2-5825-57B4-E313CF4EF639}"/>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AF0B25C-7687-819A-08D9-26F828AC5131}"/>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62A7C30-5ECC-CD18-D25F-8EF555467BB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685468-842C-54B8-4524-DC40AA3A26D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58315707"/>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EEF3F-D5CD-70A6-6554-BCAC8736DCBC}"/>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969DE0F-B9E6-906B-9499-4A9138C78C2C}"/>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DB3CE22-5C18-15A7-D499-1EABD3592AD1}"/>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66ED63B-A08A-45E0-75E8-422F39E579B1}"/>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EE34D01-8A28-0B55-925E-16DED4B32D9E}"/>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E0686A5-EEBB-C7B1-1EC5-A4C1334C1726}"/>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4ABEED43-C3B3-FC8E-DE30-7596933EB9D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B8E2637-7FF0-C2C8-BE5A-8915512DA74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05923956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C3723-897F-065A-F320-2D61F1A52E0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126BF92-71DD-66DA-1344-E387945DA8B2}"/>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5A45121B-412C-28ED-438F-8B88A4C3C03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3DF3E6C-9BCC-80DF-D941-86AB3A949F7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05196355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C6FD18-3034-37E2-01CC-00107C223123}"/>
              </a:ext>
            </a:extLst>
          </p:cNvPr>
          <p:cNvSpPr>
            <a:spLocks noGrp="1"/>
          </p:cNvSpPr>
          <p:nvPr>
            <p:ph type="dt" sz="half" idx="10"/>
          </p:nvPr>
        </p:nvSpPr>
        <p:spPr/>
        <p:txBody>
          <a:bodyPr/>
          <a:lstStyle/>
          <a:p>
            <a:fld id="{BD7E3D2F-B2E8-4AD5-B579-C643785865FE}" type="datetimeFigureOut">
              <a:rPr lang="en-IN" smtClean="0"/>
              <a:t>04-07-2026</a:t>
            </a:fld>
            <a:endParaRPr lang="en-IN"/>
          </a:p>
        </p:txBody>
      </p:sp>
      <p:sp>
        <p:nvSpPr>
          <p:cNvPr id="3" name="Footer Placeholder 2">
            <a:extLst>
              <a:ext uri="{FF2B5EF4-FFF2-40B4-BE49-F238E27FC236}">
                <a16:creationId xmlns:a16="http://schemas.microsoft.com/office/drawing/2014/main" id="{2D2E4791-B266-0AE3-DE23-9AE22D72ED8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5911DE8-3DA3-F927-9B50-D11FC7498A6D}"/>
              </a:ext>
            </a:extLst>
          </p:cNvPr>
          <p:cNvSpPr>
            <a:spLocks noGrp="1"/>
          </p:cNvSpPr>
          <p:nvPr>
            <p:ph type="sldNum" sz="quarter" idx="12"/>
          </p:nvPr>
        </p:nvSpPr>
        <p:spPr/>
        <p:txBody>
          <a:bodyPr/>
          <a:lstStyle/>
          <a:p>
            <a:fld id="{FBB51B5D-A99F-4779-98D6-093C2274D576}" type="slidenum">
              <a:rPr lang="en-IN" smtClean="0"/>
              <a:t>‹#›</a:t>
            </a:fld>
            <a:endParaRPr lang="en-IN"/>
          </a:p>
        </p:txBody>
      </p:sp>
    </p:spTree>
    <p:extLst>
      <p:ext uri="{BB962C8B-B14F-4D97-AF65-F5344CB8AC3E}">
        <p14:creationId xmlns:p14="http://schemas.microsoft.com/office/powerpoint/2010/main" val="48523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E42C4-8855-FB59-025D-1E3AE7DB444A}"/>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397555-C795-C87E-8305-B2ED8D5C6E20}"/>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8D79CCB-827D-81AF-04D8-10970560ECB5}"/>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21D1737-9935-A8EF-E7D4-4566AD78D790}"/>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6B73DBD7-0DD4-1796-3B50-9D9A738214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087DC8A-946E-6D57-C50A-497ADE95414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171187661"/>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BB4BE-DE08-CA72-44F4-2CB50D05DECB}"/>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D6CA77C-CF48-41F1-F834-3AEAA43CE996}"/>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7994C002-DF5A-8FA4-C719-6B8D702A77F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E250A14-60C7-3DA3-DA0E-75D7C24273EA}"/>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2449B3DB-5C72-4D77-FF32-208A6FDA2AC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7D540E1-42CA-A4FE-75E0-97A644BB75D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4697494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7F425-635E-F078-1910-FDCA92CC1AE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531AE3-ECDB-7AEA-E3C2-828C22CAF3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7CB9CA-FC79-ACD4-DA9B-445D6795BB8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5C8EB52-4953-1C54-1391-F93FB75F64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0771BF4-181C-81F7-C667-069F2CC9421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49632266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EB4F11-850B-E034-60B5-06ACE3A3FDF0}"/>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7ED823-9653-6205-CA9B-434BD60A8250}"/>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3E8810-E0EA-AECD-FB25-1EF61A96B86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840D95F-0C38-105B-BC6F-914285758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034C7E6-1097-164F-E0AA-BE7EDF6DB20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64283738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2 Line Title and Content">
  <p:cSld name="2_2 Line Title and Content">
    <p:spTree>
      <p:nvGrpSpPr>
        <p:cNvPr id="1" name="Shape 112"/>
        <p:cNvGrpSpPr/>
        <p:nvPr/>
      </p:nvGrpSpPr>
      <p:grpSpPr>
        <a:xfrm>
          <a:off x="0" y="0"/>
          <a:ext cx="0" cy="0"/>
          <a:chOff x="0" y="0"/>
          <a:chExt cx="0" cy="0"/>
        </a:xfrm>
      </p:grpSpPr>
      <p:sp>
        <p:nvSpPr>
          <p:cNvPr id="113" name="Google Shape;113;p1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endParaRPr/>
          </a:p>
        </p:txBody>
      </p:sp>
      <p:sp>
        <p:nvSpPr>
          <p:cNvPr id="114" name="Google Shape;114;p1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marL="0" marR="0" lvl="1"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marL="0" marR="0" lvl="2"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marL="0" marR="0" lvl="3"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marL="0" marR="0" lvl="4"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marL="0" marR="0" lvl="5"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marL="0" marR="0" lvl="6"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marL="0" marR="0" lvl="7"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marL="0" marR="0" lvl="8" indent="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IN"/>
              <a:t>‹#›</a:t>
            </a:fld>
            <a:endParaRPr/>
          </a:p>
        </p:txBody>
      </p:sp>
      <p:sp>
        <p:nvSpPr>
          <p:cNvPr id="115" name="Google Shape;115;p10"/>
          <p:cNvSpPr txBox="1">
            <a:spLocks noGrp="1"/>
          </p:cNvSpPr>
          <p:nvPr>
            <p:ph type="body" idx="1"/>
          </p:nvPr>
        </p:nvSpPr>
        <p:spPr>
          <a:xfrm>
            <a:off x="3303588" y="1816100"/>
            <a:ext cx="5265737" cy="2619375"/>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17" name="Google Shape;117;p10"/>
          <p:cNvSpPr txBox="1">
            <a:spLocks noGrp="1"/>
          </p:cNvSpPr>
          <p:nvPr>
            <p:ph type="title"/>
          </p:nvPr>
        </p:nvSpPr>
        <p:spPr>
          <a:xfrm>
            <a:off x="316679" y="121966"/>
            <a:ext cx="3735903" cy="382564"/>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2400"/>
              <a:buFont typeface="Proxima Nova"/>
              <a:buNone/>
              <a:defRPr sz="2400" b="0" i="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096466654"/>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vider">
  <p:cSld name="Divider">
    <p:spTree>
      <p:nvGrpSpPr>
        <p:cNvPr id="1" name="Shape 29"/>
        <p:cNvGrpSpPr/>
        <p:nvPr/>
      </p:nvGrpSpPr>
      <p:grpSpPr>
        <a:xfrm>
          <a:off x="0" y="0"/>
          <a:ext cx="0" cy="0"/>
          <a:chOff x="0" y="0"/>
          <a:chExt cx="0" cy="0"/>
        </a:xfrm>
      </p:grpSpPr>
      <p:sp>
        <p:nvSpPr>
          <p:cNvPr id="31" name="Google Shape;31;p4"/>
          <p:cNvSpPr txBox="1">
            <a:spLocks noGrp="1"/>
          </p:cNvSpPr>
          <p:nvPr>
            <p:ph type="title"/>
          </p:nvPr>
        </p:nvSpPr>
        <p:spPr>
          <a:xfrm>
            <a:off x="630238" y="544498"/>
            <a:ext cx="5990568" cy="56240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chemeClr val="lt1"/>
                </a:solidFill>
                <a:latin typeface="Proxima Nova"/>
                <a:ea typeface="Proxima Nova"/>
                <a:cs typeface="Proxima Nova"/>
                <a:sym typeface="Proxima Nova"/>
              </a:defRPr>
            </a:lvl1pPr>
            <a:lvl2pPr marL="0" lvl="1" indent="0" algn="r">
              <a:spcBef>
                <a:spcPts val="0"/>
              </a:spcBef>
              <a:buNone/>
              <a:defRPr sz="900" b="0" i="0" u="none" strike="noStrike" cap="none">
                <a:solidFill>
                  <a:schemeClr val="lt1"/>
                </a:solidFill>
                <a:latin typeface="Proxima Nova"/>
                <a:ea typeface="Proxima Nova"/>
                <a:cs typeface="Proxima Nova"/>
                <a:sym typeface="Proxima Nova"/>
              </a:defRPr>
            </a:lvl2pPr>
            <a:lvl3pPr marL="0" lvl="2" indent="0" algn="r">
              <a:spcBef>
                <a:spcPts val="0"/>
              </a:spcBef>
              <a:buNone/>
              <a:defRPr sz="900" b="0" i="0" u="none" strike="noStrike" cap="none">
                <a:solidFill>
                  <a:schemeClr val="lt1"/>
                </a:solidFill>
                <a:latin typeface="Proxima Nova"/>
                <a:ea typeface="Proxima Nova"/>
                <a:cs typeface="Proxima Nova"/>
                <a:sym typeface="Proxima Nova"/>
              </a:defRPr>
            </a:lvl3pPr>
            <a:lvl4pPr marL="0" lvl="3" indent="0" algn="r">
              <a:spcBef>
                <a:spcPts val="0"/>
              </a:spcBef>
              <a:buNone/>
              <a:defRPr sz="900" b="0" i="0" u="none" strike="noStrike" cap="none">
                <a:solidFill>
                  <a:schemeClr val="lt1"/>
                </a:solidFill>
                <a:latin typeface="Proxima Nova"/>
                <a:ea typeface="Proxima Nova"/>
                <a:cs typeface="Proxima Nova"/>
                <a:sym typeface="Proxima Nova"/>
              </a:defRPr>
            </a:lvl4pPr>
            <a:lvl5pPr marL="0" lvl="4" indent="0" algn="r">
              <a:spcBef>
                <a:spcPts val="0"/>
              </a:spcBef>
              <a:buNone/>
              <a:defRPr sz="900" b="0" i="0" u="none" strike="noStrike" cap="none">
                <a:solidFill>
                  <a:schemeClr val="lt1"/>
                </a:solidFill>
                <a:latin typeface="Proxima Nova"/>
                <a:ea typeface="Proxima Nova"/>
                <a:cs typeface="Proxima Nova"/>
                <a:sym typeface="Proxima Nova"/>
              </a:defRPr>
            </a:lvl5pPr>
            <a:lvl6pPr marL="0" lvl="5" indent="0" algn="r">
              <a:spcBef>
                <a:spcPts val="0"/>
              </a:spcBef>
              <a:buNone/>
              <a:defRPr sz="900" b="0" i="0" u="none" strike="noStrike" cap="none">
                <a:solidFill>
                  <a:schemeClr val="lt1"/>
                </a:solidFill>
                <a:latin typeface="Proxima Nova"/>
                <a:ea typeface="Proxima Nova"/>
                <a:cs typeface="Proxima Nova"/>
                <a:sym typeface="Proxima Nova"/>
              </a:defRPr>
            </a:lvl6pPr>
            <a:lvl7pPr marL="0" lvl="6" indent="0" algn="r">
              <a:spcBef>
                <a:spcPts val="0"/>
              </a:spcBef>
              <a:buNone/>
              <a:defRPr sz="900" b="0" i="0" u="none" strike="noStrike" cap="none">
                <a:solidFill>
                  <a:schemeClr val="lt1"/>
                </a:solidFill>
                <a:latin typeface="Proxima Nova"/>
                <a:ea typeface="Proxima Nova"/>
                <a:cs typeface="Proxima Nova"/>
                <a:sym typeface="Proxima Nova"/>
              </a:defRPr>
            </a:lvl7pPr>
            <a:lvl8pPr marL="0" lvl="7" indent="0" algn="r">
              <a:spcBef>
                <a:spcPts val="0"/>
              </a:spcBef>
              <a:buNone/>
              <a:defRPr sz="900" b="0" i="0" u="none" strike="noStrike" cap="none">
                <a:solidFill>
                  <a:schemeClr val="lt1"/>
                </a:solidFill>
                <a:latin typeface="Proxima Nova"/>
                <a:ea typeface="Proxima Nova"/>
                <a:cs typeface="Proxima Nova"/>
                <a:sym typeface="Proxima Nova"/>
              </a:defRPr>
            </a:lvl8pPr>
            <a:lvl9pPr marL="0" lvl="8" indent="0" algn="r">
              <a:spcBef>
                <a:spcPts val="0"/>
              </a:spcBef>
              <a:buNone/>
              <a:defRPr sz="900" b="0" i="0" u="none" strike="noStrike" cap="none">
                <a:solidFill>
                  <a:schemeClr val="lt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713223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F32C4A-3DFE-F370-C6D1-9ED92610C42A}"/>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E86165-2C82-B184-60E8-FBC4A63EE032}"/>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5EEE78-E993-BC17-0B9F-B7157D376972}"/>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D5BE75D4-E0EF-ADCB-99AA-60647461A19F}"/>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B758EE5-02FE-FC4A-EF67-96D906177EA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597738993"/>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3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3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3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3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4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4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4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image" Target="../media/image5.emf"/></Relationships>
</file>

<file path=ppt/slides/_rels/slide4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4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4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4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4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4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4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5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5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5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5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5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5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5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6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docs.aws.amazon.com/inspector/latest/user/getting_started_tutorial.html#tutorial_activate_scans" TargetMode="External"/><Relationship Id="rId5" Type="http://schemas.openxmlformats.org/officeDocument/2006/relationships/image" Target="../media/image6.emf"/><Relationship Id="rId4" Type="http://schemas.openxmlformats.org/officeDocument/2006/relationships/image" Target="../media/image5.emf"/></Relationships>
</file>

<file path=ppt/slides/_rels/slide6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6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6.emf"/><Relationship Id="rId4" Type="http://schemas.openxmlformats.org/officeDocument/2006/relationships/image" Target="../media/image5.emf"/></Relationships>
</file>

<file path=ppt/slides/_rels/slide6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6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docs.aws.amazon.com/inspector/latest/user/sbom-generator.html" TargetMode="External"/><Relationship Id="rId5" Type="http://schemas.openxmlformats.org/officeDocument/2006/relationships/image" Target="../media/image6.emf"/><Relationship Id="rId4" Type="http://schemas.openxmlformats.org/officeDocument/2006/relationships/image" Target="../media/image5.emf"/></Relationships>
</file>

<file path=ppt/slides/_rels/slide6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6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6.emf"/><Relationship Id="rId4" Type="http://schemas.openxmlformats.org/officeDocument/2006/relationships/image" Target="../media/image5.emf"/></Relationships>
</file>

<file path=ppt/slides/_rels/slide6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6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6.emf"/><Relationship Id="rId4" Type="http://schemas.openxmlformats.org/officeDocument/2006/relationships/image" Target="../media/image5.emf"/></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7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7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7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7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6.emf"/><Relationship Id="rId4" Type="http://schemas.openxmlformats.org/officeDocument/2006/relationships/image" Target="../media/image5.emf"/></Relationships>
</file>

<file path=ppt/slides/_rels/slide7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7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8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8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8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emf"/><Relationship Id="rId4" Type="http://schemas.openxmlformats.org/officeDocument/2006/relationships/image" Target="../media/image5.emf"/></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34"/>
          <p:cNvSpPr txBox="1"/>
          <p:nvPr/>
        </p:nvSpPr>
        <p:spPr>
          <a:xfrm>
            <a:off x="555025" y="1417902"/>
            <a:ext cx="6895200" cy="18690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4000"/>
              <a:buFont typeface="Proxima Nova"/>
              <a:buNone/>
            </a:pPr>
            <a:r>
              <a:rPr lang="en-IN" sz="4000">
                <a:solidFill>
                  <a:schemeClr val="dk1"/>
                </a:solidFill>
                <a:latin typeface="Proxima Nova"/>
                <a:ea typeface="Proxima Nova"/>
                <a:cs typeface="Proxima Nova"/>
                <a:sym typeface="Proxima Nova"/>
              </a:rPr>
              <a:t>PCP Cloud Computing and DevOps</a:t>
            </a:r>
            <a:endParaRPr sz="4000" b="0" i="0" u="none" strike="noStrike" cap="none">
              <a:solidFill>
                <a:schemeClr val="dk1"/>
              </a:solidFill>
              <a:latin typeface="Proxima Nova"/>
              <a:ea typeface="Proxima Nova"/>
              <a:cs typeface="Proxima Nova"/>
              <a:sym typeface="Proxima Nova"/>
            </a:endParaRPr>
          </a:p>
        </p:txBody>
      </p:sp>
      <p:sp>
        <p:nvSpPr>
          <p:cNvPr id="617" name="Google Shape;617;p34"/>
          <p:cNvSpPr txBox="1">
            <a:spLocks noGrp="1"/>
          </p:cNvSpPr>
          <p:nvPr>
            <p:ph type="sldNum" sz="quarter" idx="12"/>
          </p:nvPr>
        </p:nvSpPr>
        <p:spPr>
          <a:xfrm>
            <a:off x="6511925" y="4767263"/>
            <a:ext cx="2057400" cy="2745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a:t>
            </a:fld>
            <a:endParaRPr sz="900">
              <a:solidFill>
                <a:srgbClr val="FF0000"/>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9" name="Google Shape;649;p37"/>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a:t>
            </a:fld>
            <a:endParaRPr sz="900">
              <a:solidFill>
                <a:srgbClr val="FF0000"/>
              </a:solidFill>
              <a:latin typeface="Proxima Nova"/>
              <a:ea typeface="Proxima Nova"/>
              <a:cs typeface="Proxima Nova"/>
              <a:sym typeface="Proxima Nova"/>
            </a:endParaRPr>
          </a:p>
        </p:txBody>
      </p:sp>
      <p:sp>
        <p:nvSpPr>
          <p:cNvPr id="645" name="Google Shape;645;p37"/>
          <p:cNvSpPr txBox="1">
            <a:spLocks noGrp="1"/>
          </p:cNvSpPr>
          <p:nvPr>
            <p:ph type="body" idx="1"/>
          </p:nvPr>
        </p:nvSpPr>
        <p:spPr>
          <a:xfrm>
            <a:off x="1441457" y="1292514"/>
            <a:ext cx="6054718" cy="2976349"/>
          </a:xfrm>
          <a:prstGeom prst="rect">
            <a:avLst/>
          </a:prstGeom>
          <a:noFill/>
          <a:ln>
            <a:noFill/>
          </a:ln>
        </p:spPr>
        <p:txBody>
          <a:bodyPr spcFirstLastPara="1" wrap="square" lIns="91425" tIns="45700" rIns="91425" bIns="45700" anchor="t" anchorCtr="0">
            <a:noAutofit/>
          </a:bodyPr>
          <a:lstStyle/>
          <a:p>
            <a:pPr marL="228600" indent="0" algn="l"/>
            <a:r>
              <a:rPr lang="en-US" sz="1400" b="1"/>
              <a:t>EC2 Instance Storage</a:t>
            </a:r>
          </a:p>
          <a:p>
            <a:pPr marL="228600" indent="0" algn="l"/>
            <a:r>
              <a:rPr lang="en-US" sz="1400"/>
              <a:t>Definition: Ephemeral block-level storage attached physically to host.</a:t>
            </a:r>
          </a:p>
          <a:p>
            <a:pPr marL="228600" indent="0" algn="l"/>
            <a:r>
              <a:rPr lang="en-US" sz="1400"/>
              <a:t>Key Points:</a:t>
            </a:r>
          </a:p>
          <a:p>
            <a:pPr marL="514350" indent="-285750" algn="l">
              <a:buFont typeface="Arial" panose="020B0604020202020204" pitchFamily="34" charset="0"/>
              <a:buChar char="•"/>
            </a:pPr>
            <a:r>
              <a:rPr lang="en-US" sz="1400"/>
              <a:t>High IOPS</a:t>
            </a:r>
          </a:p>
          <a:p>
            <a:pPr marL="514350" indent="-285750" algn="l">
              <a:buFont typeface="Arial" panose="020B0604020202020204" pitchFamily="34" charset="0"/>
              <a:buChar char="•"/>
            </a:pPr>
            <a:r>
              <a:rPr lang="en-US" sz="1400"/>
              <a:t>Data lost when instance stopped/terminated</a:t>
            </a:r>
          </a:p>
          <a:p>
            <a:pPr marL="514350" indent="-285750" algn="l">
              <a:buFont typeface="Arial" panose="020B0604020202020204" pitchFamily="34" charset="0"/>
              <a:buChar char="•"/>
            </a:pPr>
            <a:r>
              <a:rPr lang="en-US" sz="1400"/>
              <a:t>Use cases: temporary data, cache, buffer</a:t>
            </a:r>
            <a:endParaRPr lang="en-IN" sz="1400"/>
          </a:p>
        </p:txBody>
      </p:sp>
      <p:sp>
        <p:nvSpPr>
          <p:cNvPr id="646" name="Google Shape;646;p37"/>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Compute-Linked Storage</a:t>
            </a:r>
            <a:endParaRPr sz="1800">
              <a:solidFill>
                <a:schemeClr val="dk1"/>
              </a:solidFill>
              <a:latin typeface="Calibri"/>
              <a:ea typeface="Calibri"/>
              <a:cs typeface="Calibri"/>
              <a:sym typeface="Calibri"/>
            </a:endParaRPr>
          </a:p>
        </p:txBody>
      </p:sp>
      <p:sp>
        <p:nvSpPr>
          <p:cNvPr id="647" name="Google Shape;647;p37"/>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909B651B-5249-8738-0278-C1D4BD84AB3C}"/>
            </a:ext>
          </a:extLst>
        </p:cNvPr>
        <p:cNvGrpSpPr/>
        <p:nvPr/>
      </p:nvGrpSpPr>
      <p:grpSpPr>
        <a:xfrm>
          <a:off x="0" y="0"/>
          <a:ext cx="0" cy="0"/>
          <a:chOff x="0" y="0"/>
          <a:chExt cx="0" cy="0"/>
        </a:xfrm>
      </p:grpSpPr>
      <p:sp>
        <p:nvSpPr>
          <p:cNvPr id="646" name="Google Shape;646;p37">
            <a:extLst>
              <a:ext uri="{FF2B5EF4-FFF2-40B4-BE49-F238E27FC236}">
                <a16:creationId xmlns:a16="http://schemas.microsoft.com/office/drawing/2014/main" id="{126E9B26-2543-A2AF-1D28-5AF9811F85A2}"/>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Compute-Linked Storage</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E1C3AC76-10CC-F7DE-AC9C-764FC7B7FE67}"/>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9D5989FA-CD93-F53C-BB6D-654C12315ED5}"/>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
        <p:nvSpPr>
          <p:cNvPr id="649" name="Google Shape;649;p37">
            <a:extLst>
              <a:ext uri="{FF2B5EF4-FFF2-40B4-BE49-F238E27FC236}">
                <a16:creationId xmlns:a16="http://schemas.microsoft.com/office/drawing/2014/main" id="{140D3375-8E65-E737-FA76-18FB3331C5ED}"/>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a:t>
            </a:fld>
            <a:endParaRPr sz="900">
              <a:solidFill>
                <a:srgbClr val="FF0000"/>
              </a:solidFill>
              <a:latin typeface="Proxima Nova"/>
              <a:ea typeface="Proxima Nova"/>
              <a:cs typeface="Proxima Nova"/>
              <a:sym typeface="Proxima Nova"/>
            </a:endParaRPr>
          </a:p>
        </p:txBody>
      </p:sp>
      <p:sp>
        <p:nvSpPr>
          <p:cNvPr id="8" name="Google Shape;645;p37">
            <a:extLst>
              <a:ext uri="{FF2B5EF4-FFF2-40B4-BE49-F238E27FC236}">
                <a16:creationId xmlns:a16="http://schemas.microsoft.com/office/drawing/2014/main" id="{D175A058-5151-75A3-C1B9-C86C1EA393D6}"/>
              </a:ext>
            </a:extLst>
          </p:cNvPr>
          <p:cNvSpPr txBox="1">
            <a:spLocks noGrp="1"/>
          </p:cNvSpPr>
          <p:nvPr>
            <p:ph type="body" idx="1"/>
          </p:nvPr>
        </p:nvSpPr>
        <p:spPr>
          <a:xfrm>
            <a:off x="5715604" y="1343314"/>
            <a:ext cx="2541497" cy="2976349"/>
          </a:xfrm>
          <a:prstGeom prst="rect">
            <a:avLst/>
          </a:prstGeom>
          <a:noFill/>
          <a:ln>
            <a:noFill/>
          </a:ln>
        </p:spPr>
        <p:txBody>
          <a:bodyPr spcFirstLastPara="1" wrap="square" lIns="91425" tIns="45700" rIns="91425" bIns="45700" anchor="t" anchorCtr="0">
            <a:noAutofit/>
          </a:bodyPr>
          <a:lstStyle/>
          <a:p>
            <a:pPr algn="l"/>
            <a:r>
              <a:rPr lang="en-US" sz="1400" b="1"/>
              <a:t>EBS Multi-Attach</a:t>
            </a:r>
            <a:endParaRPr lang="en-US" sz="1400"/>
          </a:p>
          <a:p>
            <a:pPr marL="514350" indent="-285750" algn="l">
              <a:buFont typeface="Arial" panose="020B0604020202020204" pitchFamily="34" charset="0"/>
              <a:buChar char="•"/>
            </a:pPr>
            <a:r>
              <a:rPr lang="en-US" sz="1400"/>
              <a:t>Attach single io1/io2 volume to multiple EC2 instances</a:t>
            </a:r>
          </a:p>
          <a:p>
            <a:pPr marL="514350" indent="-285750" algn="l">
              <a:buFont typeface="Arial" panose="020B0604020202020204" pitchFamily="34" charset="0"/>
              <a:buChar char="•"/>
            </a:pPr>
            <a:r>
              <a:rPr lang="en-US" sz="1400"/>
              <a:t>Use case: clustered applications, HA setups</a:t>
            </a:r>
          </a:p>
        </p:txBody>
      </p:sp>
      <p:sp>
        <p:nvSpPr>
          <p:cNvPr id="3" name="Google Shape;645;p37">
            <a:extLst>
              <a:ext uri="{FF2B5EF4-FFF2-40B4-BE49-F238E27FC236}">
                <a16:creationId xmlns:a16="http://schemas.microsoft.com/office/drawing/2014/main" id="{E7110A10-9CCA-D4B9-C070-03452AC29DF4}"/>
              </a:ext>
            </a:extLst>
          </p:cNvPr>
          <p:cNvSpPr txBox="1">
            <a:spLocks/>
          </p:cNvSpPr>
          <p:nvPr/>
        </p:nvSpPr>
        <p:spPr>
          <a:xfrm>
            <a:off x="3107580" y="1338550"/>
            <a:ext cx="2541497" cy="26193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228600" indent="0" algn="l"/>
            <a:r>
              <a:rPr lang="en-IN" sz="1400" b="1"/>
              <a:t>EBS Volume Types</a:t>
            </a:r>
          </a:p>
          <a:p>
            <a:pPr marL="514350" indent="-285750" algn="l">
              <a:buFont typeface="Arial" panose="020B0604020202020204" pitchFamily="34" charset="0"/>
              <a:buChar char="•"/>
            </a:pPr>
            <a:r>
              <a:rPr lang="en-IN" sz="1400"/>
              <a:t>GP3, GP2 (general purpose SSDs)</a:t>
            </a:r>
          </a:p>
          <a:p>
            <a:pPr marL="514350" indent="-285750" algn="l">
              <a:buFont typeface="Arial" panose="020B0604020202020204" pitchFamily="34" charset="0"/>
              <a:buChar char="•"/>
            </a:pPr>
            <a:r>
              <a:rPr lang="en-IN" sz="1400"/>
              <a:t>io1/io2 (provisioned IOPS SSD)</a:t>
            </a:r>
          </a:p>
          <a:p>
            <a:pPr marL="514350" indent="-285750" algn="l">
              <a:buFont typeface="Arial" panose="020B0604020202020204" pitchFamily="34" charset="0"/>
              <a:buChar char="•"/>
            </a:pPr>
            <a:r>
              <a:rPr lang="en-IN" sz="1400"/>
              <a:t>st1 (throughput HDD)</a:t>
            </a:r>
          </a:p>
          <a:p>
            <a:pPr marL="514350" indent="-285750" algn="l">
              <a:buFont typeface="Arial" panose="020B0604020202020204" pitchFamily="34" charset="0"/>
              <a:buChar char="•"/>
            </a:pPr>
            <a:r>
              <a:rPr lang="en-IN" sz="1400"/>
              <a:t>sc1 (cold HDD)</a:t>
            </a:r>
          </a:p>
        </p:txBody>
      </p:sp>
      <p:sp>
        <p:nvSpPr>
          <p:cNvPr id="4" name="Google Shape;645;p37">
            <a:extLst>
              <a:ext uri="{FF2B5EF4-FFF2-40B4-BE49-F238E27FC236}">
                <a16:creationId xmlns:a16="http://schemas.microsoft.com/office/drawing/2014/main" id="{5091A324-71B4-845C-4DE6-753004A0389A}"/>
              </a:ext>
            </a:extLst>
          </p:cNvPr>
          <p:cNvSpPr txBox="1">
            <a:spLocks/>
          </p:cNvSpPr>
          <p:nvPr/>
        </p:nvSpPr>
        <p:spPr>
          <a:xfrm>
            <a:off x="619924" y="1338550"/>
            <a:ext cx="2541497" cy="26193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Proxima Nova"/>
                <a:ea typeface="Proxima Nova"/>
                <a:cs typeface="Proxima Nova"/>
                <a:sym typeface="Proxima Nova"/>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228600" indent="0" algn="l"/>
            <a:r>
              <a:rPr lang="en-US" sz="1400" b="1"/>
              <a:t>Elastic Block Store (EBS)</a:t>
            </a:r>
          </a:p>
          <a:p>
            <a:pPr marL="228600" indent="0" algn="l"/>
            <a:r>
              <a:rPr lang="en-US" sz="1400"/>
              <a:t>Persistent block storage for EC2</a:t>
            </a:r>
          </a:p>
          <a:p>
            <a:pPr marL="228600" indent="0" algn="l"/>
            <a:r>
              <a:rPr lang="en-US" sz="1400"/>
              <a:t>Features:</a:t>
            </a:r>
          </a:p>
          <a:p>
            <a:pPr marL="514350" indent="-285750" algn="l">
              <a:buFont typeface="Arial" panose="020B0604020202020204" pitchFamily="34" charset="0"/>
              <a:buChar char="•"/>
            </a:pPr>
            <a:r>
              <a:rPr lang="en-US" sz="1400"/>
              <a:t>Independent of instance lifecycle</a:t>
            </a:r>
          </a:p>
          <a:p>
            <a:pPr marL="514350" indent="-285750" algn="l">
              <a:buFont typeface="Arial" panose="020B0604020202020204" pitchFamily="34" charset="0"/>
              <a:buChar char="•"/>
            </a:pPr>
            <a:r>
              <a:rPr lang="en-US" sz="1400"/>
              <a:t>Replicated within AZ</a:t>
            </a:r>
          </a:p>
          <a:p>
            <a:pPr marL="514350" indent="-285750" algn="l">
              <a:buFont typeface="Arial" panose="020B0604020202020204" pitchFamily="34" charset="0"/>
              <a:buChar char="•"/>
            </a:pPr>
            <a:r>
              <a:rPr lang="en-US" sz="1400"/>
              <a:t>Can attach/detach</a:t>
            </a:r>
            <a:endParaRPr lang="en-IN" sz="1400"/>
          </a:p>
        </p:txBody>
      </p:sp>
    </p:spTree>
    <p:extLst>
      <p:ext uri="{BB962C8B-B14F-4D97-AF65-F5344CB8AC3E}">
        <p14:creationId xmlns:p14="http://schemas.microsoft.com/office/powerpoint/2010/main" val="2725827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9" name="Google Shape;659;p38"/>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4</a:t>
            </a:fld>
            <a:endParaRPr sz="900">
              <a:solidFill>
                <a:srgbClr val="FF0000"/>
              </a:solidFill>
              <a:latin typeface="Proxima Nova"/>
              <a:ea typeface="Proxima Nova"/>
              <a:cs typeface="Proxima Nova"/>
              <a:sym typeface="Proxima Nova"/>
            </a:endParaRPr>
          </a:p>
        </p:txBody>
      </p:sp>
      <p:sp>
        <p:nvSpPr>
          <p:cNvPr id="655" name="Google Shape;655;p38"/>
          <p:cNvSpPr txBox="1">
            <a:spLocks noGrp="1"/>
          </p:cNvSpPr>
          <p:nvPr>
            <p:ph type="body" idx="1"/>
          </p:nvPr>
        </p:nvSpPr>
        <p:spPr>
          <a:xfrm>
            <a:off x="813595" y="1338550"/>
            <a:ext cx="7516800" cy="2619300"/>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IN" sz="1400"/>
              <a:t>Amazon Elastic File System (EFS)</a:t>
            </a:r>
          </a:p>
          <a:p>
            <a:pPr marL="882650" lvl="1" indent="-285750">
              <a:lnSpc>
                <a:spcPct val="100000"/>
              </a:lnSpc>
              <a:spcBef>
                <a:spcPts val="750"/>
              </a:spcBef>
              <a:buSzPts val="1400"/>
              <a:buFont typeface="Arial" panose="020B0604020202020204" pitchFamily="34" charset="0"/>
              <a:buChar char="•"/>
            </a:pPr>
            <a:r>
              <a:rPr lang="en-IN" sz="1400"/>
              <a:t>Fully managed NFS file system</a:t>
            </a:r>
          </a:p>
          <a:p>
            <a:pPr marL="882650" lvl="1" indent="-285750">
              <a:lnSpc>
                <a:spcPct val="100000"/>
              </a:lnSpc>
              <a:spcBef>
                <a:spcPts val="750"/>
              </a:spcBef>
              <a:buSzPts val="1400"/>
              <a:buFont typeface="Arial" panose="020B0604020202020204" pitchFamily="34" charset="0"/>
              <a:buChar char="•"/>
            </a:pPr>
            <a:r>
              <a:rPr lang="en-IN" sz="1400"/>
              <a:t>Scales automatically</a:t>
            </a:r>
          </a:p>
          <a:p>
            <a:pPr marL="882650" lvl="1" indent="-285750">
              <a:lnSpc>
                <a:spcPct val="100000"/>
              </a:lnSpc>
              <a:spcBef>
                <a:spcPts val="750"/>
              </a:spcBef>
              <a:buSzPts val="1400"/>
              <a:buFont typeface="Arial" panose="020B0604020202020204" pitchFamily="34" charset="0"/>
              <a:buChar char="•"/>
            </a:pPr>
            <a:r>
              <a:rPr lang="en-IN" sz="1400"/>
              <a:t>Supports thousands of EC2s concurrently</a:t>
            </a:r>
          </a:p>
          <a:p>
            <a:pPr marL="425450" lvl="0" indent="-285750" algn="l" rtl="0">
              <a:lnSpc>
                <a:spcPct val="100000"/>
              </a:lnSpc>
              <a:spcBef>
                <a:spcPts val="750"/>
              </a:spcBef>
              <a:spcAft>
                <a:spcPts val="0"/>
              </a:spcAft>
              <a:buSzPts val="1400"/>
              <a:buFont typeface="Arial" panose="020B0604020202020204" pitchFamily="34" charset="0"/>
              <a:buChar char="•"/>
            </a:pPr>
            <a:r>
              <a:rPr lang="en-IN" sz="1400"/>
              <a:t>EFS vs EBS</a:t>
            </a:r>
          </a:p>
          <a:p>
            <a:pPr marL="882650" lvl="1" indent="-285750">
              <a:lnSpc>
                <a:spcPct val="100000"/>
              </a:lnSpc>
              <a:spcBef>
                <a:spcPts val="750"/>
              </a:spcBef>
              <a:buSzPts val="1400"/>
              <a:buFont typeface="Arial" panose="020B0604020202020204" pitchFamily="34" charset="0"/>
              <a:buChar char="•"/>
            </a:pPr>
            <a:r>
              <a:rPr lang="en-IN" sz="1400"/>
              <a:t>EBS → block-level, single instance (mostly)</a:t>
            </a:r>
          </a:p>
          <a:p>
            <a:pPr marL="882650" lvl="1" indent="-285750">
              <a:lnSpc>
                <a:spcPct val="100000"/>
              </a:lnSpc>
              <a:spcBef>
                <a:spcPts val="750"/>
              </a:spcBef>
              <a:buSzPts val="1400"/>
              <a:buFont typeface="Arial" panose="020B0604020202020204" pitchFamily="34" charset="0"/>
              <a:buChar char="•"/>
            </a:pPr>
            <a:r>
              <a:rPr lang="en-IN" sz="1400"/>
              <a:t>EFS → shared file storage, multiple instances</a:t>
            </a:r>
          </a:p>
        </p:txBody>
      </p:sp>
      <p:sp>
        <p:nvSpPr>
          <p:cNvPr id="656" name="Google Shape;656;p38"/>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File Storage</a:t>
            </a:r>
            <a:endParaRPr sz="1800">
              <a:solidFill>
                <a:schemeClr val="dk1"/>
              </a:solidFill>
              <a:latin typeface="Calibri"/>
              <a:ea typeface="Calibri"/>
              <a:cs typeface="Calibri"/>
              <a:sym typeface="Calibri"/>
            </a:endParaRPr>
          </a:p>
        </p:txBody>
      </p:sp>
      <p:sp>
        <p:nvSpPr>
          <p:cNvPr id="657" name="Google Shape;657;p38"/>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B996ED74-E696-23A9-4B35-D3C9355DF50F}"/>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1140DE72-EDF5-F036-2E21-6D896124A988}"/>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5</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E9E28932-5190-1466-B040-3B3937477C9E}"/>
              </a:ext>
            </a:extLst>
          </p:cNvPr>
          <p:cNvSpPr txBox="1">
            <a:spLocks noGrp="1"/>
          </p:cNvSpPr>
          <p:nvPr>
            <p:ph type="body" idx="1"/>
          </p:nvPr>
        </p:nvSpPr>
        <p:spPr>
          <a:xfrm>
            <a:off x="813595" y="1338550"/>
            <a:ext cx="7516800" cy="2619300"/>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IN" sz="1400"/>
              <a:t>Amazon S3 Overview</a:t>
            </a:r>
          </a:p>
          <a:p>
            <a:pPr marL="882650" lvl="1" indent="-285750">
              <a:lnSpc>
                <a:spcPct val="100000"/>
              </a:lnSpc>
              <a:spcBef>
                <a:spcPts val="750"/>
              </a:spcBef>
              <a:buSzPts val="1400"/>
              <a:buFont typeface="Arial" panose="020B0604020202020204" pitchFamily="34" charset="0"/>
              <a:buChar char="•"/>
            </a:pPr>
            <a:r>
              <a:rPr lang="en-US" sz="1400"/>
              <a:t>Object storage for internet-scale</a:t>
            </a:r>
          </a:p>
          <a:p>
            <a:pPr marL="882650" lvl="1" indent="-285750">
              <a:lnSpc>
                <a:spcPct val="100000"/>
              </a:lnSpc>
              <a:spcBef>
                <a:spcPts val="750"/>
              </a:spcBef>
              <a:buSzPts val="1400"/>
              <a:buFont typeface="Arial" panose="020B0604020202020204" pitchFamily="34" charset="0"/>
              <a:buChar char="•"/>
            </a:pPr>
            <a:r>
              <a:rPr lang="en-US" sz="1400"/>
              <a:t>Data stored as key-value pairs</a:t>
            </a:r>
          </a:p>
          <a:p>
            <a:pPr marL="882650" lvl="1" indent="-285750">
              <a:lnSpc>
                <a:spcPct val="100000"/>
              </a:lnSpc>
              <a:spcBef>
                <a:spcPts val="750"/>
              </a:spcBef>
              <a:buSzPts val="1400"/>
              <a:buFont typeface="Arial" panose="020B0604020202020204" pitchFamily="34" charset="0"/>
              <a:buChar char="•"/>
            </a:pPr>
            <a:r>
              <a:rPr lang="en-US" sz="1400"/>
              <a:t>99.999999999% durability</a:t>
            </a:r>
            <a:endParaRPr lang="en-IN" sz="1400"/>
          </a:p>
          <a:p>
            <a:pPr marL="425450" lvl="0" indent="-285750" algn="l" rtl="0">
              <a:lnSpc>
                <a:spcPct val="100000"/>
              </a:lnSpc>
              <a:spcBef>
                <a:spcPts val="750"/>
              </a:spcBef>
              <a:spcAft>
                <a:spcPts val="0"/>
              </a:spcAft>
              <a:buSzPts val="1400"/>
              <a:buFont typeface="Arial" panose="020B0604020202020204" pitchFamily="34" charset="0"/>
              <a:buChar char="•"/>
            </a:pPr>
            <a:r>
              <a:rPr lang="en-IN" sz="1400"/>
              <a:t>S3 Bucket Policies</a:t>
            </a:r>
          </a:p>
          <a:p>
            <a:pPr marL="882650" lvl="1" indent="-285750">
              <a:lnSpc>
                <a:spcPct val="100000"/>
              </a:lnSpc>
              <a:spcBef>
                <a:spcPts val="750"/>
              </a:spcBef>
              <a:buSzPts val="1400"/>
              <a:buFont typeface="Arial" panose="020B0604020202020204" pitchFamily="34" charset="0"/>
              <a:buChar char="•"/>
            </a:pPr>
            <a:r>
              <a:rPr lang="en-IN" sz="1400"/>
              <a:t>JSON-based access control</a:t>
            </a:r>
          </a:p>
          <a:p>
            <a:pPr marL="882650" lvl="1" indent="-285750">
              <a:lnSpc>
                <a:spcPct val="100000"/>
              </a:lnSpc>
              <a:spcBef>
                <a:spcPts val="750"/>
              </a:spcBef>
              <a:buSzPts val="1400"/>
              <a:buFont typeface="Arial" panose="020B0604020202020204" pitchFamily="34" charset="0"/>
              <a:buChar char="•"/>
            </a:pPr>
            <a:r>
              <a:rPr lang="en-IN" sz="1400"/>
              <a:t>Examples: restrict IP, enforce encryption</a:t>
            </a:r>
          </a:p>
        </p:txBody>
      </p:sp>
      <p:sp>
        <p:nvSpPr>
          <p:cNvPr id="656" name="Google Shape;656;p38">
            <a:extLst>
              <a:ext uri="{FF2B5EF4-FFF2-40B4-BE49-F238E27FC236}">
                <a16:creationId xmlns:a16="http://schemas.microsoft.com/office/drawing/2014/main" id="{BE529049-1B09-B200-6283-7A40195F5E37}"/>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Object Storage</a:t>
            </a:r>
            <a:endParaRPr sz="180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792068B0-4CCA-A95C-273B-00C05B1398C2}"/>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FECF6978-B603-16C8-EDAB-4298843AA784}"/>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458605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964C1DC5-EC89-AF89-6164-613A6282A591}"/>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76DCD8B2-D4A4-95EF-18CE-3B6406520468}"/>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6</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0188704B-BA6D-ADC7-F006-81E959837850}"/>
              </a:ext>
            </a:extLst>
          </p:cNvPr>
          <p:cNvSpPr txBox="1">
            <a:spLocks noGrp="1"/>
          </p:cNvSpPr>
          <p:nvPr>
            <p:ph type="body" idx="1"/>
          </p:nvPr>
        </p:nvSpPr>
        <p:spPr>
          <a:xfrm>
            <a:off x="813595" y="1338550"/>
            <a:ext cx="7516800" cy="2619300"/>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IN" sz="1400"/>
              <a:t>S3 Versioning</a:t>
            </a:r>
          </a:p>
          <a:p>
            <a:pPr marL="882650" lvl="1" indent="-285750">
              <a:lnSpc>
                <a:spcPct val="100000"/>
              </a:lnSpc>
              <a:spcBef>
                <a:spcPts val="750"/>
              </a:spcBef>
              <a:buSzPts val="1400"/>
              <a:buFont typeface="Arial" panose="020B0604020202020204" pitchFamily="34" charset="0"/>
              <a:buChar char="•"/>
            </a:pPr>
            <a:r>
              <a:rPr lang="en-IN" sz="1400"/>
              <a:t>Maintains multiple versions of objects</a:t>
            </a:r>
          </a:p>
          <a:p>
            <a:pPr marL="882650" lvl="1" indent="-285750">
              <a:lnSpc>
                <a:spcPct val="100000"/>
              </a:lnSpc>
              <a:spcBef>
                <a:spcPts val="750"/>
              </a:spcBef>
              <a:buSzPts val="1400"/>
              <a:buFont typeface="Arial" panose="020B0604020202020204" pitchFamily="34" charset="0"/>
              <a:buChar char="•"/>
            </a:pPr>
            <a:r>
              <a:rPr lang="en-IN" sz="1400"/>
              <a:t>Protects against accidental delete/overwrite</a:t>
            </a:r>
          </a:p>
          <a:p>
            <a:pPr marL="425450" lvl="0" indent="-285750" algn="l" rtl="0">
              <a:lnSpc>
                <a:spcPct val="100000"/>
              </a:lnSpc>
              <a:spcBef>
                <a:spcPts val="750"/>
              </a:spcBef>
              <a:spcAft>
                <a:spcPts val="0"/>
              </a:spcAft>
              <a:buSzPts val="1400"/>
              <a:buFont typeface="Arial" panose="020B0604020202020204" pitchFamily="34" charset="0"/>
              <a:buChar char="•"/>
            </a:pPr>
            <a:r>
              <a:rPr lang="en-IN" sz="1400"/>
              <a:t>S3 Replication</a:t>
            </a:r>
          </a:p>
          <a:p>
            <a:pPr marL="882650" lvl="1" indent="-285750">
              <a:lnSpc>
                <a:spcPct val="100000"/>
              </a:lnSpc>
              <a:spcBef>
                <a:spcPts val="750"/>
              </a:spcBef>
              <a:buSzPts val="1400"/>
              <a:buFont typeface="Arial" panose="020B0604020202020204" pitchFamily="34" charset="0"/>
              <a:buChar char="•"/>
            </a:pPr>
            <a:r>
              <a:rPr lang="en-IN" sz="1400"/>
              <a:t>Cross-Region Replication (CRR)</a:t>
            </a:r>
          </a:p>
          <a:p>
            <a:pPr marL="882650" lvl="1" indent="-285750">
              <a:lnSpc>
                <a:spcPct val="100000"/>
              </a:lnSpc>
              <a:spcBef>
                <a:spcPts val="750"/>
              </a:spcBef>
              <a:buSzPts val="1400"/>
              <a:buFont typeface="Arial" panose="020B0604020202020204" pitchFamily="34" charset="0"/>
              <a:buChar char="•"/>
            </a:pPr>
            <a:r>
              <a:rPr lang="en-IN" sz="1400"/>
              <a:t>Same-Region Replication (SRR)</a:t>
            </a:r>
          </a:p>
          <a:p>
            <a:pPr marL="425450" lvl="0" indent="-285750" algn="l" rtl="0">
              <a:lnSpc>
                <a:spcPct val="100000"/>
              </a:lnSpc>
              <a:spcBef>
                <a:spcPts val="750"/>
              </a:spcBef>
              <a:spcAft>
                <a:spcPts val="0"/>
              </a:spcAft>
              <a:buSzPts val="1400"/>
              <a:buFont typeface="Arial" panose="020B0604020202020204" pitchFamily="34" charset="0"/>
              <a:buChar char="•"/>
            </a:pPr>
            <a:r>
              <a:rPr lang="en-IN" sz="1400"/>
              <a:t>S3 Storage Classes</a:t>
            </a:r>
          </a:p>
          <a:p>
            <a:pPr marL="882650" lvl="1" indent="-285750">
              <a:lnSpc>
                <a:spcPct val="100000"/>
              </a:lnSpc>
              <a:spcBef>
                <a:spcPts val="750"/>
              </a:spcBef>
              <a:buSzPts val="1400"/>
              <a:buFont typeface="Arial" panose="020B0604020202020204" pitchFamily="34" charset="0"/>
              <a:buChar char="•"/>
            </a:pPr>
            <a:r>
              <a:rPr lang="en-IN" sz="1400"/>
              <a:t>Standard, IA, One Zone-IA, Glacier, Glacier Deep Archive, Express One Zone</a:t>
            </a:r>
          </a:p>
        </p:txBody>
      </p:sp>
      <p:sp>
        <p:nvSpPr>
          <p:cNvPr id="656" name="Google Shape;656;p38">
            <a:extLst>
              <a:ext uri="{FF2B5EF4-FFF2-40B4-BE49-F238E27FC236}">
                <a16:creationId xmlns:a16="http://schemas.microsoft.com/office/drawing/2014/main" id="{D710CD27-F6F3-42E5-BF95-D474FC7347A5}"/>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Object Storage</a:t>
            </a:r>
            <a:endParaRPr sz="180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441842FE-AE4C-702F-FF14-5AF3A6DE9E84}"/>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11AB327E-4660-9B62-D1B5-AA519F5BFAB1}"/>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491697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CA97C161-B209-9534-5915-C9D02487172B}"/>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1FB76D98-21E5-B596-0D05-F1A13385E87B}"/>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7</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2EF4FC44-30F7-0A6A-E465-12A4A3098038}"/>
              </a:ext>
            </a:extLst>
          </p:cNvPr>
          <p:cNvSpPr txBox="1">
            <a:spLocks noGrp="1"/>
          </p:cNvSpPr>
          <p:nvPr>
            <p:ph type="body" idx="1"/>
          </p:nvPr>
        </p:nvSpPr>
        <p:spPr>
          <a:xfrm>
            <a:off x="813595" y="1338549"/>
            <a:ext cx="7516800" cy="3170249"/>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IN" sz="1400"/>
              <a:t>S3 Lifecycle Rules</a:t>
            </a:r>
          </a:p>
          <a:p>
            <a:pPr marL="882650" lvl="1" indent="-285750">
              <a:lnSpc>
                <a:spcPct val="100000"/>
              </a:lnSpc>
              <a:spcBef>
                <a:spcPts val="750"/>
              </a:spcBef>
              <a:buSzPts val="1400"/>
              <a:buFont typeface="Arial" panose="020B0604020202020204" pitchFamily="34" charset="0"/>
              <a:buChar char="•"/>
            </a:pPr>
            <a:r>
              <a:rPr lang="en-IN" sz="1400"/>
              <a:t>Automates transition between classes</a:t>
            </a:r>
          </a:p>
          <a:p>
            <a:pPr marL="882650" lvl="1" indent="-285750">
              <a:lnSpc>
                <a:spcPct val="100000"/>
              </a:lnSpc>
              <a:spcBef>
                <a:spcPts val="750"/>
              </a:spcBef>
              <a:buSzPts val="1400"/>
              <a:buFont typeface="Arial" panose="020B0604020202020204" pitchFamily="34" charset="0"/>
              <a:buChar char="•"/>
            </a:pPr>
            <a:r>
              <a:rPr lang="en-IN" sz="1400"/>
              <a:t>Example: Standard → IA → Glacier</a:t>
            </a:r>
          </a:p>
          <a:p>
            <a:pPr marL="425450" lvl="0" indent="-285750" algn="l" rtl="0">
              <a:lnSpc>
                <a:spcPct val="100000"/>
              </a:lnSpc>
              <a:spcBef>
                <a:spcPts val="750"/>
              </a:spcBef>
              <a:spcAft>
                <a:spcPts val="0"/>
              </a:spcAft>
              <a:buSzPts val="1400"/>
              <a:buFont typeface="Arial" panose="020B0604020202020204" pitchFamily="34" charset="0"/>
              <a:buChar char="•"/>
            </a:pPr>
            <a:r>
              <a:rPr lang="en-IN" sz="1400"/>
              <a:t>S3 Requester Pays</a:t>
            </a:r>
          </a:p>
          <a:p>
            <a:pPr marL="882650" lvl="1" indent="-285750">
              <a:lnSpc>
                <a:spcPct val="100000"/>
              </a:lnSpc>
              <a:spcBef>
                <a:spcPts val="750"/>
              </a:spcBef>
              <a:buSzPts val="1400"/>
              <a:buFont typeface="Arial" panose="020B0604020202020204" pitchFamily="34" charset="0"/>
              <a:buChar char="•"/>
            </a:pPr>
            <a:r>
              <a:rPr lang="en-US" sz="1400"/>
              <a:t>Costs billed to data requester, not bucket owner</a:t>
            </a:r>
          </a:p>
          <a:p>
            <a:pPr marL="425450" lvl="0" indent="-285750" algn="l" rtl="0">
              <a:lnSpc>
                <a:spcPct val="100000"/>
              </a:lnSpc>
              <a:spcBef>
                <a:spcPts val="750"/>
              </a:spcBef>
              <a:spcAft>
                <a:spcPts val="0"/>
              </a:spcAft>
              <a:buSzPts val="1400"/>
              <a:buFont typeface="Arial" panose="020B0604020202020204" pitchFamily="34" charset="0"/>
              <a:buChar char="•"/>
            </a:pPr>
            <a:r>
              <a:rPr lang="en-IN" sz="1400"/>
              <a:t>S3 Event Notifications</a:t>
            </a:r>
          </a:p>
          <a:p>
            <a:pPr marL="882650" lvl="1" indent="-285750">
              <a:lnSpc>
                <a:spcPct val="100000"/>
              </a:lnSpc>
              <a:spcBef>
                <a:spcPts val="750"/>
              </a:spcBef>
              <a:buSzPts val="1400"/>
              <a:buFont typeface="Arial" panose="020B0604020202020204" pitchFamily="34" charset="0"/>
              <a:buChar char="•"/>
            </a:pPr>
            <a:r>
              <a:rPr lang="en-US" sz="1400"/>
              <a:t>Trigger Lambda, SNS, SQS on object events</a:t>
            </a:r>
          </a:p>
          <a:p>
            <a:pPr marL="425450" lvl="0" indent="-285750" algn="l">
              <a:lnSpc>
                <a:spcPct val="100000"/>
              </a:lnSpc>
              <a:buSzPts val="1400"/>
              <a:buFont typeface="Arial" panose="020B0604020202020204" pitchFamily="34" charset="0"/>
              <a:buChar char="•"/>
            </a:pPr>
            <a:r>
              <a:rPr lang="en-IN" sz="1400"/>
              <a:t>S3 Performance</a:t>
            </a:r>
          </a:p>
          <a:p>
            <a:pPr marL="882650" lvl="1" indent="-285750">
              <a:lnSpc>
                <a:spcPct val="100000"/>
              </a:lnSpc>
              <a:spcBef>
                <a:spcPts val="750"/>
              </a:spcBef>
              <a:buSzPts val="1400"/>
              <a:buFont typeface="Arial" panose="020B0604020202020204" pitchFamily="34" charset="0"/>
              <a:buChar char="•"/>
            </a:pPr>
            <a:r>
              <a:rPr lang="en-US" sz="1400"/>
              <a:t>Horizontal scaling, multi-part upload, parallelism</a:t>
            </a:r>
            <a:endParaRPr lang="en-IN" sz="1400"/>
          </a:p>
        </p:txBody>
      </p:sp>
      <p:sp>
        <p:nvSpPr>
          <p:cNvPr id="656" name="Google Shape;656;p38">
            <a:extLst>
              <a:ext uri="{FF2B5EF4-FFF2-40B4-BE49-F238E27FC236}">
                <a16:creationId xmlns:a16="http://schemas.microsoft.com/office/drawing/2014/main" id="{25961BAA-66B4-69CB-BC02-BB21BE126C02}"/>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Object Storage</a:t>
            </a:r>
            <a:endParaRPr sz="180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D5033EB7-F408-2524-269B-AD60BA91FB71}"/>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61E379B4-EEAD-5E6A-74C9-2D4257E2EA89}"/>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011176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F6C356E0-0CCC-6560-BABA-149D6BCC5175}"/>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AC8BAEB3-3A1C-4A4D-240E-49610C99AB3F}"/>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8</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CA873FEB-91CD-31D6-9D4D-412563A17E68}"/>
              </a:ext>
            </a:extLst>
          </p:cNvPr>
          <p:cNvSpPr txBox="1">
            <a:spLocks noGrp="1"/>
          </p:cNvSpPr>
          <p:nvPr>
            <p:ph type="body" idx="1"/>
          </p:nvPr>
        </p:nvSpPr>
        <p:spPr>
          <a:xfrm>
            <a:off x="813595" y="1338549"/>
            <a:ext cx="7516800" cy="3170249"/>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IN" sz="1400"/>
              <a:t>S3 Batch Operations</a:t>
            </a:r>
          </a:p>
          <a:p>
            <a:pPr marL="882650" lvl="1" indent="-285750">
              <a:lnSpc>
                <a:spcPct val="100000"/>
              </a:lnSpc>
              <a:spcBef>
                <a:spcPts val="750"/>
              </a:spcBef>
              <a:buSzPts val="1400"/>
              <a:buFont typeface="Arial" panose="020B0604020202020204" pitchFamily="34" charset="0"/>
              <a:buChar char="•"/>
            </a:pPr>
            <a:r>
              <a:rPr lang="en-US" sz="1400"/>
              <a:t>Bulk operations across millions of objects</a:t>
            </a:r>
          </a:p>
          <a:p>
            <a:pPr marL="882650" lvl="1" indent="-285750">
              <a:lnSpc>
                <a:spcPct val="100000"/>
              </a:lnSpc>
              <a:spcBef>
                <a:spcPts val="750"/>
              </a:spcBef>
              <a:buSzPts val="1400"/>
              <a:buFont typeface="Arial" panose="020B0604020202020204" pitchFamily="34" charset="0"/>
              <a:buChar char="•"/>
            </a:pPr>
            <a:r>
              <a:rPr lang="en-US" sz="1400"/>
              <a:t>Example: apply tags, ACL updates</a:t>
            </a:r>
          </a:p>
          <a:p>
            <a:pPr marL="425450" lvl="0" indent="-285750" algn="l">
              <a:lnSpc>
                <a:spcPct val="100000"/>
              </a:lnSpc>
              <a:buSzPts val="1400"/>
              <a:buFont typeface="Arial" panose="020B0604020202020204" pitchFamily="34" charset="0"/>
              <a:buChar char="•"/>
            </a:pPr>
            <a:r>
              <a:rPr lang="en-IN" sz="1400"/>
              <a:t>S3 Storage Lens</a:t>
            </a:r>
          </a:p>
          <a:p>
            <a:pPr marL="882650" lvl="1" indent="-285750">
              <a:lnSpc>
                <a:spcPct val="100000"/>
              </a:lnSpc>
              <a:spcBef>
                <a:spcPts val="750"/>
              </a:spcBef>
              <a:buSzPts val="1400"/>
              <a:buFont typeface="Arial" panose="020B0604020202020204" pitchFamily="34" charset="0"/>
              <a:buChar char="•"/>
            </a:pPr>
            <a:r>
              <a:rPr lang="en-US" sz="1400"/>
              <a:t>Purpose: </a:t>
            </a:r>
            <a:r>
              <a:rPr lang="en-US" sz="1400" err="1"/>
              <a:t>Centralised</a:t>
            </a:r>
            <a:r>
              <a:rPr lang="en-US" sz="1400"/>
              <a:t> visibility into object storage usage and activity.</a:t>
            </a:r>
          </a:p>
          <a:p>
            <a:pPr marL="882650" lvl="1" indent="-285750">
              <a:lnSpc>
                <a:spcPct val="100000"/>
              </a:lnSpc>
              <a:spcBef>
                <a:spcPts val="750"/>
              </a:spcBef>
              <a:buSzPts val="1400"/>
              <a:buFont typeface="Arial" panose="020B0604020202020204" pitchFamily="34" charset="0"/>
              <a:buChar char="•"/>
            </a:pPr>
            <a:r>
              <a:rPr lang="en-US" sz="1400"/>
              <a:t>Provides </a:t>
            </a:r>
            <a:r>
              <a:rPr lang="en-US" sz="1400" err="1"/>
              <a:t>organisation</a:t>
            </a:r>
            <a:r>
              <a:rPr lang="en-US" sz="1400"/>
              <a:t>-wide insights across accounts and regions.</a:t>
            </a:r>
          </a:p>
          <a:p>
            <a:pPr marL="882650" lvl="1" indent="-285750">
              <a:lnSpc>
                <a:spcPct val="100000"/>
              </a:lnSpc>
              <a:spcBef>
                <a:spcPts val="750"/>
              </a:spcBef>
              <a:buSzPts val="1400"/>
              <a:buFont typeface="Arial" panose="020B0604020202020204" pitchFamily="34" charset="0"/>
              <a:buChar char="•"/>
            </a:pPr>
            <a:r>
              <a:rPr lang="en-US" sz="1400"/>
              <a:t>Use Cases: Detect cost optimization opportunities.</a:t>
            </a:r>
          </a:p>
        </p:txBody>
      </p:sp>
      <p:sp>
        <p:nvSpPr>
          <p:cNvPr id="656" name="Google Shape;656;p38">
            <a:extLst>
              <a:ext uri="{FF2B5EF4-FFF2-40B4-BE49-F238E27FC236}">
                <a16:creationId xmlns:a16="http://schemas.microsoft.com/office/drawing/2014/main" id="{A901CD76-99D0-B6AF-37CF-590C57643DF7}"/>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Object Storage</a:t>
            </a:r>
            <a:endParaRPr sz="180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4D37EAE9-E70F-E0D2-9725-3A4BD49ABAFC}"/>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AF6709AF-4D9F-8DF8-15F4-FCF9AC046CB4}"/>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928431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AF91DA70-E0E7-C4DE-9167-7C3BDCA94BFB}"/>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552D580D-8796-9CED-BDBD-C7989249BAEB}"/>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9</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9D7ACA31-5FB9-F19C-490B-76FF309A53F4}"/>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IN" sz="1400"/>
              <a:t>S3 Pre-Signed URLs</a:t>
            </a:r>
          </a:p>
          <a:p>
            <a:pPr marL="882650" lvl="1" indent="-285750">
              <a:lnSpc>
                <a:spcPct val="100000"/>
              </a:lnSpc>
              <a:spcBef>
                <a:spcPts val="750"/>
              </a:spcBef>
              <a:buSzPts val="1400"/>
              <a:buFont typeface="Arial" panose="020B0604020202020204" pitchFamily="34" charset="0"/>
              <a:buChar char="•"/>
            </a:pPr>
            <a:r>
              <a:rPr lang="en-US" sz="1400"/>
              <a:t>Purpose: Share temporary access to private objects in S3.</a:t>
            </a:r>
          </a:p>
          <a:p>
            <a:pPr marL="882650" lvl="1" indent="-285750">
              <a:lnSpc>
                <a:spcPct val="100000"/>
              </a:lnSpc>
              <a:spcBef>
                <a:spcPts val="750"/>
              </a:spcBef>
              <a:buSzPts val="1400"/>
              <a:buFont typeface="Arial" panose="020B0604020202020204" pitchFamily="34" charset="0"/>
              <a:buChar char="•"/>
            </a:pPr>
            <a:r>
              <a:rPr lang="en-US" sz="1400"/>
              <a:t>How it works:</a:t>
            </a:r>
          </a:p>
          <a:p>
            <a:pPr marL="1339850" lvl="2" indent="-285750">
              <a:lnSpc>
                <a:spcPct val="100000"/>
              </a:lnSpc>
              <a:spcBef>
                <a:spcPts val="750"/>
              </a:spcBef>
              <a:buSzPts val="1400"/>
              <a:buFont typeface="Arial" panose="020B0604020202020204" pitchFamily="34" charset="0"/>
              <a:buChar char="•"/>
            </a:pPr>
            <a:r>
              <a:rPr lang="en-US" sz="1100"/>
              <a:t>Generated using AWS SDK or CLI with an expiration time.</a:t>
            </a:r>
          </a:p>
          <a:p>
            <a:pPr marL="1339850" lvl="2" indent="-285750">
              <a:lnSpc>
                <a:spcPct val="100000"/>
              </a:lnSpc>
              <a:spcBef>
                <a:spcPts val="750"/>
              </a:spcBef>
              <a:buSzPts val="1400"/>
              <a:buFont typeface="Arial" panose="020B0604020202020204" pitchFamily="34" charset="0"/>
              <a:buChar char="•"/>
            </a:pPr>
            <a:r>
              <a:rPr lang="en-US" sz="1100"/>
              <a:t>URL includes signature + permissions.</a:t>
            </a:r>
          </a:p>
          <a:p>
            <a:pPr marL="882650" lvl="1" indent="-285750">
              <a:lnSpc>
                <a:spcPct val="100000"/>
              </a:lnSpc>
              <a:spcBef>
                <a:spcPts val="750"/>
              </a:spcBef>
              <a:buSzPts val="1400"/>
              <a:buFont typeface="Arial" panose="020B0604020202020204" pitchFamily="34" charset="0"/>
              <a:buChar char="•"/>
            </a:pPr>
            <a:r>
              <a:rPr lang="en-US" sz="1400"/>
              <a:t>Key Points:</a:t>
            </a:r>
          </a:p>
          <a:p>
            <a:pPr marL="1339850" lvl="2" indent="-285750">
              <a:lnSpc>
                <a:spcPct val="100000"/>
              </a:lnSpc>
              <a:spcBef>
                <a:spcPts val="750"/>
              </a:spcBef>
              <a:buSzPts val="1400"/>
              <a:buFont typeface="Arial" panose="020B0604020202020204" pitchFamily="34" charset="0"/>
              <a:buChar char="•"/>
            </a:pPr>
            <a:r>
              <a:rPr lang="en-US" sz="1100"/>
              <a:t>Supports GET, PUT, DELETE operations depending on permissions.</a:t>
            </a:r>
          </a:p>
          <a:p>
            <a:pPr marL="1339850" lvl="2" indent="-285750">
              <a:lnSpc>
                <a:spcPct val="100000"/>
              </a:lnSpc>
              <a:spcBef>
                <a:spcPts val="750"/>
              </a:spcBef>
              <a:buSzPts val="1400"/>
              <a:buFont typeface="Arial" panose="020B0604020202020204" pitchFamily="34" charset="0"/>
              <a:buChar char="•"/>
            </a:pPr>
            <a:r>
              <a:rPr lang="en-US" sz="1100"/>
              <a:t>Expiry can be set (seconds → hours, max 7 days for AWS SDK).</a:t>
            </a:r>
          </a:p>
          <a:p>
            <a:pPr marL="1339850" lvl="2" indent="-285750">
              <a:lnSpc>
                <a:spcPct val="100000"/>
              </a:lnSpc>
              <a:spcBef>
                <a:spcPts val="750"/>
              </a:spcBef>
              <a:buSzPts val="1400"/>
              <a:buFont typeface="Arial" panose="020B0604020202020204" pitchFamily="34" charset="0"/>
              <a:buChar char="•"/>
            </a:pPr>
            <a:r>
              <a:rPr lang="en-US" sz="1100"/>
              <a:t>Does not require the requester to have AWS credentials.</a:t>
            </a:r>
          </a:p>
          <a:p>
            <a:pPr marL="882650" lvl="1" indent="-285750">
              <a:lnSpc>
                <a:spcPct val="100000"/>
              </a:lnSpc>
              <a:spcBef>
                <a:spcPts val="750"/>
              </a:spcBef>
              <a:buSzPts val="1400"/>
              <a:buFont typeface="Arial" panose="020B0604020202020204" pitchFamily="34" charset="0"/>
              <a:buChar char="•"/>
            </a:pPr>
            <a:r>
              <a:rPr lang="en-US" sz="1400"/>
              <a:t>Use Cases:</a:t>
            </a:r>
          </a:p>
          <a:p>
            <a:pPr marL="1339850" lvl="2" indent="-285750">
              <a:lnSpc>
                <a:spcPct val="100000"/>
              </a:lnSpc>
              <a:spcBef>
                <a:spcPts val="750"/>
              </a:spcBef>
              <a:buSzPts val="1400"/>
              <a:buFont typeface="Arial" panose="020B0604020202020204" pitchFamily="34" charset="0"/>
              <a:buChar char="•"/>
            </a:pPr>
            <a:r>
              <a:rPr lang="en-US" sz="1100"/>
              <a:t>Securely share files with external users.</a:t>
            </a:r>
          </a:p>
          <a:p>
            <a:pPr marL="1339850" lvl="2" indent="-285750">
              <a:lnSpc>
                <a:spcPct val="100000"/>
              </a:lnSpc>
              <a:spcBef>
                <a:spcPts val="750"/>
              </a:spcBef>
              <a:buSzPts val="1400"/>
              <a:buFont typeface="Arial" panose="020B0604020202020204" pitchFamily="34" charset="0"/>
              <a:buChar char="•"/>
            </a:pPr>
            <a:r>
              <a:rPr lang="en-US" sz="1100"/>
              <a:t>Uploading objects without exposing bucket credentials.</a:t>
            </a:r>
          </a:p>
          <a:p>
            <a:pPr marL="1339850" lvl="2" indent="-285750">
              <a:lnSpc>
                <a:spcPct val="100000"/>
              </a:lnSpc>
              <a:spcBef>
                <a:spcPts val="750"/>
              </a:spcBef>
              <a:buSzPts val="1400"/>
              <a:buFont typeface="Arial" panose="020B0604020202020204" pitchFamily="34" charset="0"/>
              <a:buChar char="•"/>
            </a:pPr>
            <a:r>
              <a:rPr lang="en-US" sz="1100"/>
              <a:t>Temporary download links for customers.</a:t>
            </a:r>
            <a:endParaRPr lang="en-IN" sz="1100"/>
          </a:p>
        </p:txBody>
      </p:sp>
      <p:sp>
        <p:nvSpPr>
          <p:cNvPr id="656" name="Google Shape;656;p38">
            <a:extLst>
              <a:ext uri="{FF2B5EF4-FFF2-40B4-BE49-F238E27FC236}">
                <a16:creationId xmlns:a16="http://schemas.microsoft.com/office/drawing/2014/main" id="{3E8C4C44-29D7-42FE-D4FC-34C47F9CB382}"/>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Object Storage</a:t>
            </a:r>
            <a:endParaRPr sz="180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406C38B5-3AB3-CAA6-4ABE-15357AE5CAFC}"/>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425BDA1A-33E8-0FA5-BE7F-BFAEB3261D17}"/>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300388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E3EC055E-9B67-2AD5-481B-C20D8A3057D1}"/>
            </a:ext>
          </a:extLst>
        </p:cNvPr>
        <p:cNvGrpSpPr/>
        <p:nvPr/>
      </p:nvGrpSpPr>
      <p:grpSpPr>
        <a:xfrm>
          <a:off x="0" y="0"/>
          <a:ext cx="0" cy="0"/>
          <a:chOff x="0" y="0"/>
          <a:chExt cx="0" cy="0"/>
        </a:xfrm>
      </p:grpSpPr>
      <p:sp>
        <p:nvSpPr>
          <p:cNvPr id="659" name="Google Shape;659;p38">
            <a:extLst>
              <a:ext uri="{FF2B5EF4-FFF2-40B4-BE49-F238E27FC236}">
                <a16:creationId xmlns:a16="http://schemas.microsoft.com/office/drawing/2014/main" id="{0E0BB9EF-CE93-9F90-CD63-A1C4A2773535}"/>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10</a:t>
            </a:fld>
            <a:endParaRPr sz="900">
              <a:solidFill>
                <a:srgbClr val="FF0000"/>
              </a:solidFill>
              <a:latin typeface="Proxima Nova"/>
              <a:ea typeface="Proxima Nova"/>
              <a:cs typeface="Proxima Nova"/>
              <a:sym typeface="Proxima Nova"/>
            </a:endParaRPr>
          </a:p>
        </p:txBody>
      </p:sp>
      <p:sp>
        <p:nvSpPr>
          <p:cNvPr id="655" name="Google Shape;655;p38">
            <a:extLst>
              <a:ext uri="{FF2B5EF4-FFF2-40B4-BE49-F238E27FC236}">
                <a16:creationId xmlns:a16="http://schemas.microsoft.com/office/drawing/2014/main" id="{087AD9AE-8CEA-5C5A-B974-F4AFF2ED59BE}"/>
              </a:ext>
            </a:extLst>
          </p:cNvPr>
          <p:cNvSpPr txBox="1">
            <a:spLocks noGrp="1"/>
          </p:cNvSpPr>
          <p:nvPr>
            <p:ph type="body" idx="1"/>
          </p:nvPr>
        </p:nvSpPr>
        <p:spPr>
          <a:xfrm>
            <a:off x="813600" y="1087086"/>
            <a:ext cx="7516800" cy="3930198"/>
          </a:xfrm>
          <a:prstGeom prst="rect">
            <a:avLst/>
          </a:prstGeom>
          <a:noFill/>
          <a:ln>
            <a:noFill/>
          </a:ln>
        </p:spPr>
        <p:txBody>
          <a:bodyPr spcFirstLastPara="1" wrap="square" lIns="91425" tIns="45700" rIns="91425" bIns="45700" anchor="t" anchorCtr="0">
            <a:noAutofit/>
          </a:bodyPr>
          <a:lstStyle/>
          <a:p>
            <a:pPr marL="425450" lvl="0" indent="-285750" algn="l" rtl="0">
              <a:lnSpc>
                <a:spcPct val="100000"/>
              </a:lnSpc>
              <a:spcBef>
                <a:spcPts val="750"/>
              </a:spcBef>
              <a:spcAft>
                <a:spcPts val="0"/>
              </a:spcAft>
              <a:buSzPts val="1400"/>
              <a:buFont typeface="Arial" panose="020B0604020202020204" pitchFamily="34" charset="0"/>
              <a:buChar char="•"/>
            </a:pPr>
            <a:r>
              <a:rPr lang="en-IN" sz="1400"/>
              <a:t>S3 Access Points</a:t>
            </a:r>
          </a:p>
          <a:p>
            <a:pPr marL="882650" lvl="1" indent="-285750">
              <a:lnSpc>
                <a:spcPct val="100000"/>
              </a:lnSpc>
              <a:spcBef>
                <a:spcPts val="750"/>
              </a:spcBef>
              <a:buSzPts val="1400"/>
              <a:buFont typeface="Arial" panose="020B0604020202020204" pitchFamily="34" charset="0"/>
              <a:buChar char="•"/>
            </a:pPr>
            <a:r>
              <a:rPr lang="en-US" sz="1400"/>
              <a:t>Purpose: Simplifies managing access to shared datasets in S3.</a:t>
            </a:r>
          </a:p>
          <a:p>
            <a:pPr marL="882650" lvl="1" indent="-285750">
              <a:lnSpc>
                <a:spcPct val="100000"/>
              </a:lnSpc>
              <a:spcBef>
                <a:spcPts val="750"/>
              </a:spcBef>
              <a:buSzPts val="1400"/>
              <a:buFont typeface="Arial" panose="020B0604020202020204" pitchFamily="34" charset="0"/>
              <a:buChar char="•"/>
            </a:pPr>
            <a:r>
              <a:rPr lang="en-US" sz="1400"/>
              <a:t>Features:</a:t>
            </a:r>
          </a:p>
          <a:p>
            <a:pPr marL="1339850" lvl="2" indent="-285750">
              <a:lnSpc>
                <a:spcPct val="100000"/>
              </a:lnSpc>
              <a:spcBef>
                <a:spcPts val="750"/>
              </a:spcBef>
              <a:buSzPts val="1400"/>
              <a:buFont typeface="Arial" panose="020B0604020202020204" pitchFamily="34" charset="0"/>
              <a:buChar char="•"/>
            </a:pPr>
            <a:r>
              <a:rPr lang="en-US" sz="1100"/>
              <a:t>Each access point has a unique hostname and access policy.</a:t>
            </a:r>
          </a:p>
          <a:p>
            <a:pPr marL="1339850" lvl="2" indent="-285750">
              <a:lnSpc>
                <a:spcPct val="100000"/>
              </a:lnSpc>
              <a:spcBef>
                <a:spcPts val="750"/>
              </a:spcBef>
              <a:buSzPts val="1400"/>
              <a:buFont typeface="Arial" panose="020B0604020202020204" pitchFamily="34" charset="0"/>
              <a:buChar char="•"/>
            </a:pPr>
            <a:r>
              <a:rPr lang="en-US" sz="1100"/>
              <a:t>Policies can restrict access by VPC, IP, or user.</a:t>
            </a:r>
          </a:p>
          <a:p>
            <a:pPr marL="1339850" lvl="2" indent="-285750">
              <a:lnSpc>
                <a:spcPct val="100000"/>
              </a:lnSpc>
              <a:spcBef>
                <a:spcPts val="750"/>
              </a:spcBef>
              <a:buSzPts val="1400"/>
              <a:buFont typeface="Arial" panose="020B0604020202020204" pitchFamily="34" charset="0"/>
              <a:buChar char="•"/>
            </a:pPr>
            <a:r>
              <a:rPr lang="en-US" sz="1100"/>
              <a:t>Designed for large-scale data lakes with hundreds of applications/users.</a:t>
            </a:r>
          </a:p>
          <a:p>
            <a:pPr marL="1339850" lvl="2" indent="-285750">
              <a:lnSpc>
                <a:spcPct val="100000"/>
              </a:lnSpc>
              <a:spcBef>
                <a:spcPts val="750"/>
              </a:spcBef>
              <a:buSzPts val="1400"/>
              <a:buFont typeface="Arial" panose="020B0604020202020204" pitchFamily="34" charset="0"/>
              <a:buChar char="•"/>
            </a:pPr>
            <a:r>
              <a:rPr lang="en-US" sz="1100"/>
              <a:t>Works alongside bucket policies but provides granular, application-specific access control.</a:t>
            </a:r>
          </a:p>
          <a:p>
            <a:pPr marL="882650" lvl="1" indent="-285750">
              <a:lnSpc>
                <a:spcPct val="100000"/>
              </a:lnSpc>
              <a:spcBef>
                <a:spcPts val="750"/>
              </a:spcBef>
              <a:buSzPts val="1400"/>
              <a:buFont typeface="Arial" panose="020B0604020202020204" pitchFamily="34" charset="0"/>
              <a:buChar char="•"/>
            </a:pPr>
            <a:r>
              <a:rPr lang="en-US" sz="1400"/>
              <a:t>Use Cases:</a:t>
            </a:r>
          </a:p>
          <a:p>
            <a:pPr marL="1339850" lvl="2" indent="-285750">
              <a:lnSpc>
                <a:spcPct val="100000"/>
              </a:lnSpc>
              <a:spcBef>
                <a:spcPts val="750"/>
              </a:spcBef>
              <a:buSzPts val="1400"/>
              <a:buFont typeface="Arial" panose="020B0604020202020204" pitchFamily="34" charset="0"/>
              <a:buChar char="•"/>
            </a:pPr>
            <a:r>
              <a:rPr lang="en-US" sz="1100"/>
              <a:t>Multi-tenant environments (e.g., analytics teams accessing shared data).</a:t>
            </a:r>
          </a:p>
          <a:p>
            <a:pPr marL="1339850" lvl="2" indent="-285750">
              <a:lnSpc>
                <a:spcPct val="100000"/>
              </a:lnSpc>
              <a:spcBef>
                <a:spcPts val="750"/>
              </a:spcBef>
              <a:buSzPts val="1400"/>
              <a:buFont typeface="Arial" panose="020B0604020202020204" pitchFamily="34" charset="0"/>
              <a:buChar char="•"/>
            </a:pPr>
            <a:r>
              <a:rPr lang="en-US" sz="1100"/>
              <a:t>Enforcing stricter controls per application without complicating the main bucket policy.</a:t>
            </a:r>
          </a:p>
          <a:p>
            <a:pPr marL="1339850" lvl="2" indent="-285750">
              <a:lnSpc>
                <a:spcPct val="100000"/>
              </a:lnSpc>
              <a:spcBef>
                <a:spcPts val="750"/>
              </a:spcBef>
              <a:buSzPts val="1400"/>
              <a:buFont typeface="Arial" panose="020B0604020202020204" pitchFamily="34" charset="0"/>
              <a:buChar char="•"/>
            </a:pPr>
            <a:r>
              <a:rPr lang="en-US" sz="1100"/>
              <a:t>Managing access to sensitive data in regulated industries.</a:t>
            </a:r>
            <a:endParaRPr lang="en-IN" sz="1100"/>
          </a:p>
        </p:txBody>
      </p:sp>
      <p:sp>
        <p:nvSpPr>
          <p:cNvPr id="656" name="Google Shape;656;p38">
            <a:extLst>
              <a:ext uri="{FF2B5EF4-FFF2-40B4-BE49-F238E27FC236}">
                <a16:creationId xmlns:a16="http://schemas.microsoft.com/office/drawing/2014/main" id="{22C58B3B-63A4-4D20-17ED-9CC2091F324F}"/>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Object Storage</a:t>
            </a:r>
            <a:endParaRPr sz="1800">
              <a:solidFill>
                <a:schemeClr val="dk1"/>
              </a:solidFill>
              <a:latin typeface="Calibri"/>
              <a:ea typeface="Calibri"/>
              <a:cs typeface="Calibri"/>
              <a:sym typeface="Calibri"/>
            </a:endParaRPr>
          </a:p>
        </p:txBody>
      </p:sp>
      <p:sp>
        <p:nvSpPr>
          <p:cNvPr id="657" name="Google Shape;657;p38">
            <a:extLst>
              <a:ext uri="{FF2B5EF4-FFF2-40B4-BE49-F238E27FC236}">
                <a16:creationId xmlns:a16="http://schemas.microsoft.com/office/drawing/2014/main" id="{55BADBC1-236B-0097-FAB0-581FF552BD11}"/>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744B5262-B482-AE3C-588F-476C0687F377}"/>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166985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6CF35BDC-BED7-6168-EBC2-31BC9BA1F8C7}"/>
            </a:ext>
          </a:extLst>
        </p:cNvPr>
        <p:cNvGrpSpPr/>
        <p:nvPr/>
      </p:nvGrpSpPr>
      <p:grpSpPr>
        <a:xfrm>
          <a:off x="0" y="0"/>
          <a:ext cx="0" cy="0"/>
          <a:chOff x="0" y="0"/>
          <a:chExt cx="0" cy="0"/>
        </a:xfrm>
      </p:grpSpPr>
      <p:sp>
        <p:nvSpPr>
          <p:cNvPr id="656" name="Google Shape;656;p38">
            <a:extLst>
              <a:ext uri="{FF2B5EF4-FFF2-40B4-BE49-F238E27FC236}">
                <a16:creationId xmlns:a16="http://schemas.microsoft.com/office/drawing/2014/main" id="{F53084B1-945B-883D-1A4A-B89EEF0EB237}"/>
              </a:ext>
            </a:extLst>
          </p:cNvPr>
          <p:cNvSpPr txBox="1"/>
          <p:nvPr/>
        </p:nvSpPr>
        <p:spPr>
          <a:xfrm>
            <a:off x="385994" y="126216"/>
            <a:ext cx="5588544"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US" sz="2340">
                <a:solidFill>
                  <a:schemeClr val="lt1"/>
                </a:solidFill>
                <a:latin typeface="Proxima Nova"/>
                <a:ea typeface="Proxima Nova"/>
                <a:cs typeface="Proxima Nova"/>
                <a:sym typeface="Proxima Nova"/>
              </a:rPr>
              <a:t>EC2 Instance Store vs EBS vs EFS vs S3</a:t>
            </a:r>
            <a:endParaRPr lang="en-IN" sz="2340">
              <a:solidFill>
                <a:schemeClr val="lt1"/>
              </a:solidFill>
              <a:latin typeface="Proxima Nova"/>
              <a:ea typeface="Proxima Nova"/>
              <a:cs typeface="Proxima Nova"/>
              <a:sym typeface="Proxima Nova"/>
            </a:endParaRPr>
          </a:p>
        </p:txBody>
      </p:sp>
      <p:sp>
        <p:nvSpPr>
          <p:cNvPr id="657" name="Google Shape;657;p38">
            <a:extLst>
              <a:ext uri="{FF2B5EF4-FFF2-40B4-BE49-F238E27FC236}">
                <a16:creationId xmlns:a16="http://schemas.microsoft.com/office/drawing/2014/main" id="{0005DBDB-4EB1-1BB6-2A56-1CD2DB1DA76C}"/>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B2368884-8358-8F58-E89E-7C7C56871095}"/>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
        <p:nvSpPr>
          <p:cNvPr id="659" name="Google Shape;659;p38">
            <a:extLst>
              <a:ext uri="{FF2B5EF4-FFF2-40B4-BE49-F238E27FC236}">
                <a16:creationId xmlns:a16="http://schemas.microsoft.com/office/drawing/2014/main" id="{95593D66-1CF8-82A0-FBE3-21CA1C456894}"/>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11</a:t>
            </a:fld>
            <a:endParaRPr sz="900">
              <a:solidFill>
                <a:srgbClr val="FF0000"/>
              </a:solidFill>
              <a:latin typeface="Proxima Nova"/>
              <a:ea typeface="Proxima Nova"/>
              <a:cs typeface="Proxima Nova"/>
              <a:sym typeface="Proxima Nova"/>
            </a:endParaRPr>
          </a:p>
        </p:txBody>
      </p:sp>
      <p:graphicFrame>
        <p:nvGraphicFramePr>
          <p:cNvPr id="2" name="Table 1">
            <a:extLst>
              <a:ext uri="{FF2B5EF4-FFF2-40B4-BE49-F238E27FC236}">
                <a16:creationId xmlns:a16="http://schemas.microsoft.com/office/drawing/2014/main" id="{F74F7258-763D-EF42-8BEE-821EFB387D8B}"/>
              </a:ext>
            </a:extLst>
          </p:cNvPr>
          <p:cNvGraphicFramePr>
            <a:graphicFrameLocks noGrp="1"/>
          </p:cNvGraphicFramePr>
          <p:nvPr>
            <p:extLst>
              <p:ext uri="{D42A27DB-BD31-4B8C-83A1-F6EECF244321}">
                <p14:modId xmlns:p14="http://schemas.microsoft.com/office/powerpoint/2010/main" val="2351910232"/>
              </p:ext>
            </p:extLst>
          </p:nvPr>
        </p:nvGraphicFramePr>
        <p:xfrm>
          <a:off x="1196283" y="1310153"/>
          <a:ext cx="6957690" cy="3262311"/>
        </p:xfrm>
        <a:graphic>
          <a:graphicData uri="http://schemas.openxmlformats.org/drawingml/2006/table">
            <a:tbl>
              <a:tblPr>
                <a:tableStyleId>{284E427A-3D55-4303-BF80-6455036E1DE7}</a:tableStyleId>
              </a:tblPr>
              <a:tblGrid>
                <a:gridCol w="1391538">
                  <a:extLst>
                    <a:ext uri="{9D8B030D-6E8A-4147-A177-3AD203B41FA5}">
                      <a16:colId xmlns:a16="http://schemas.microsoft.com/office/drawing/2014/main" val="3279969133"/>
                    </a:ext>
                  </a:extLst>
                </a:gridCol>
                <a:gridCol w="1391538">
                  <a:extLst>
                    <a:ext uri="{9D8B030D-6E8A-4147-A177-3AD203B41FA5}">
                      <a16:colId xmlns:a16="http://schemas.microsoft.com/office/drawing/2014/main" val="1396560511"/>
                    </a:ext>
                  </a:extLst>
                </a:gridCol>
                <a:gridCol w="1391538">
                  <a:extLst>
                    <a:ext uri="{9D8B030D-6E8A-4147-A177-3AD203B41FA5}">
                      <a16:colId xmlns:a16="http://schemas.microsoft.com/office/drawing/2014/main" val="3280719666"/>
                    </a:ext>
                  </a:extLst>
                </a:gridCol>
                <a:gridCol w="1391538">
                  <a:extLst>
                    <a:ext uri="{9D8B030D-6E8A-4147-A177-3AD203B41FA5}">
                      <a16:colId xmlns:a16="http://schemas.microsoft.com/office/drawing/2014/main" val="720903600"/>
                    </a:ext>
                  </a:extLst>
                </a:gridCol>
                <a:gridCol w="1391538">
                  <a:extLst>
                    <a:ext uri="{9D8B030D-6E8A-4147-A177-3AD203B41FA5}">
                      <a16:colId xmlns:a16="http://schemas.microsoft.com/office/drawing/2014/main" val="2834411986"/>
                    </a:ext>
                  </a:extLst>
                </a:gridCol>
              </a:tblGrid>
              <a:tr h="248696">
                <a:tc>
                  <a:txBody>
                    <a:bodyPr/>
                    <a:lstStyle/>
                    <a:p>
                      <a:pPr>
                        <a:buNone/>
                      </a:pPr>
                      <a:r>
                        <a:rPr lang="en-IN" sz="700" b="1"/>
                        <a:t>Feature</a:t>
                      </a:r>
                    </a:p>
                  </a:txBody>
                  <a:tcPr marL="43888" marR="43888" marT="21944" marB="21944" anchor="ctr"/>
                </a:tc>
                <a:tc>
                  <a:txBody>
                    <a:bodyPr/>
                    <a:lstStyle/>
                    <a:p>
                      <a:pPr>
                        <a:buNone/>
                      </a:pPr>
                      <a:r>
                        <a:rPr lang="en-IN" sz="700" b="1"/>
                        <a:t>Instance Store</a:t>
                      </a:r>
                    </a:p>
                  </a:txBody>
                  <a:tcPr marL="43888" marR="43888" marT="21944" marB="21944" anchor="ctr"/>
                </a:tc>
                <a:tc>
                  <a:txBody>
                    <a:bodyPr/>
                    <a:lstStyle/>
                    <a:p>
                      <a:pPr>
                        <a:buNone/>
                      </a:pPr>
                      <a:r>
                        <a:rPr lang="en-IN" sz="700" b="1"/>
                        <a:t>EBS (Elastic Block Store)</a:t>
                      </a:r>
                    </a:p>
                  </a:txBody>
                  <a:tcPr marL="43888" marR="43888" marT="21944" marB="21944" anchor="ctr"/>
                </a:tc>
                <a:tc>
                  <a:txBody>
                    <a:bodyPr/>
                    <a:lstStyle/>
                    <a:p>
                      <a:pPr>
                        <a:buNone/>
                      </a:pPr>
                      <a:r>
                        <a:rPr lang="en-IN" sz="700" b="1"/>
                        <a:t>EFS (Elastic File System)</a:t>
                      </a:r>
                    </a:p>
                  </a:txBody>
                  <a:tcPr marL="43888" marR="43888" marT="21944" marB="21944" anchor="ctr"/>
                </a:tc>
                <a:tc>
                  <a:txBody>
                    <a:bodyPr/>
                    <a:lstStyle/>
                    <a:p>
                      <a:pPr>
                        <a:buNone/>
                      </a:pPr>
                      <a:r>
                        <a:rPr lang="en-IN" sz="700" b="1"/>
                        <a:t>S3 (Simple Storage Service)</a:t>
                      </a:r>
                    </a:p>
                  </a:txBody>
                  <a:tcPr marL="43888" marR="43888" marT="21944" marB="21944" anchor="ctr"/>
                </a:tc>
                <a:extLst>
                  <a:ext uri="{0D108BD9-81ED-4DB2-BD59-A6C34878D82A}">
                    <a16:rowId xmlns:a16="http://schemas.microsoft.com/office/drawing/2014/main" val="272192542"/>
                  </a:ext>
                </a:extLst>
              </a:tr>
              <a:tr h="248696">
                <a:tc>
                  <a:txBody>
                    <a:bodyPr/>
                    <a:lstStyle/>
                    <a:p>
                      <a:pPr>
                        <a:buNone/>
                      </a:pPr>
                      <a:r>
                        <a:rPr lang="en-IN" sz="700" b="1"/>
                        <a:t>Type</a:t>
                      </a:r>
                      <a:endParaRPr lang="en-IN" sz="700"/>
                    </a:p>
                  </a:txBody>
                  <a:tcPr marL="43888" marR="43888" marT="21944" marB="21944" anchor="ctr"/>
                </a:tc>
                <a:tc>
                  <a:txBody>
                    <a:bodyPr/>
                    <a:lstStyle/>
                    <a:p>
                      <a:pPr>
                        <a:buNone/>
                      </a:pPr>
                      <a:r>
                        <a:rPr lang="en-IN" sz="700"/>
                        <a:t>Block storage (ephemeral)</a:t>
                      </a:r>
                    </a:p>
                  </a:txBody>
                  <a:tcPr marL="43888" marR="43888" marT="21944" marB="21944" anchor="ctr"/>
                </a:tc>
                <a:tc>
                  <a:txBody>
                    <a:bodyPr/>
                    <a:lstStyle/>
                    <a:p>
                      <a:pPr>
                        <a:buNone/>
                      </a:pPr>
                      <a:r>
                        <a:rPr lang="en-IN" sz="700"/>
                        <a:t>Block storage (persistent)</a:t>
                      </a:r>
                    </a:p>
                  </a:txBody>
                  <a:tcPr marL="43888" marR="43888" marT="21944" marB="21944" anchor="ctr"/>
                </a:tc>
                <a:tc>
                  <a:txBody>
                    <a:bodyPr/>
                    <a:lstStyle/>
                    <a:p>
                      <a:pPr>
                        <a:buNone/>
                      </a:pPr>
                      <a:r>
                        <a:rPr lang="en-IN" sz="700"/>
                        <a:t>File storage (shared NFS)</a:t>
                      </a:r>
                    </a:p>
                  </a:txBody>
                  <a:tcPr marL="43888" marR="43888" marT="21944" marB="21944" anchor="ctr"/>
                </a:tc>
                <a:tc>
                  <a:txBody>
                    <a:bodyPr/>
                    <a:lstStyle/>
                    <a:p>
                      <a:pPr>
                        <a:buNone/>
                      </a:pPr>
                      <a:r>
                        <a:rPr lang="en-IN" sz="700"/>
                        <a:t>Object storage</a:t>
                      </a:r>
                    </a:p>
                  </a:txBody>
                  <a:tcPr marL="43888" marR="43888" marT="21944" marB="21944" anchor="ctr"/>
                </a:tc>
                <a:extLst>
                  <a:ext uri="{0D108BD9-81ED-4DB2-BD59-A6C34878D82A}">
                    <a16:rowId xmlns:a16="http://schemas.microsoft.com/office/drawing/2014/main" val="1850558013"/>
                  </a:ext>
                </a:extLst>
              </a:tr>
              <a:tr h="453505">
                <a:tc>
                  <a:txBody>
                    <a:bodyPr/>
                    <a:lstStyle/>
                    <a:p>
                      <a:pPr>
                        <a:buNone/>
                      </a:pPr>
                      <a:r>
                        <a:rPr lang="en-IN" sz="700" b="1"/>
                        <a:t>Persistence</a:t>
                      </a:r>
                      <a:endParaRPr lang="en-IN" sz="700"/>
                    </a:p>
                  </a:txBody>
                  <a:tcPr marL="43888" marR="43888" marT="21944" marB="21944" anchor="ctr"/>
                </a:tc>
                <a:tc>
                  <a:txBody>
                    <a:bodyPr/>
                    <a:lstStyle/>
                    <a:p>
                      <a:pPr>
                        <a:buNone/>
                      </a:pPr>
                      <a:r>
                        <a:rPr lang="en-US" sz="700"/>
                        <a:t>Lost when instance stopped/terminated</a:t>
                      </a:r>
                    </a:p>
                  </a:txBody>
                  <a:tcPr marL="43888" marR="43888" marT="21944" marB="21944" anchor="ctr"/>
                </a:tc>
                <a:tc>
                  <a:txBody>
                    <a:bodyPr/>
                    <a:lstStyle/>
                    <a:p>
                      <a:pPr>
                        <a:buNone/>
                      </a:pPr>
                      <a:r>
                        <a:rPr lang="en-IN" sz="700"/>
                        <a:t>Persistent until deleted</a:t>
                      </a:r>
                    </a:p>
                  </a:txBody>
                  <a:tcPr marL="43888" marR="43888" marT="21944" marB="21944" anchor="ctr"/>
                </a:tc>
                <a:tc>
                  <a:txBody>
                    <a:bodyPr/>
                    <a:lstStyle/>
                    <a:p>
                      <a:pPr>
                        <a:buNone/>
                      </a:pPr>
                      <a:r>
                        <a:rPr lang="en-IN" sz="700"/>
                        <a:t>Persistent until deleted</a:t>
                      </a:r>
                    </a:p>
                  </a:txBody>
                  <a:tcPr marL="43888" marR="43888" marT="21944" marB="21944" anchor="ctr"/>
                </a:tc>
                <a:tc>
                  <a:txBody>
                    <a:bodyPr/>
                    <a:lstStyle/>
                    <a:p>
                      <a:pPr>
                        <a:buNone/>
                      </a:pPr>
                      <a:r>
                        <a:rPr lang="en-IN" sz="700"/>
                        <a:t>Persistent until deleted</a:t>
                      </a:r>
                    </a:p>
                  </a:txBody>
                  <a:tcPr marL="43888" marR="43888" marT="21944" marB="21944" anchor="ctr"/>
                </a:tc>
                <a:extLst>
                  <a:ext uri="{0D108BD9-81ED-4DB2-BD59-A6C34878D82A}">
                    <a16:rowId xmlns:a16="http://schemas.microsoft.com/office/drawing/2014/main" val="2096697591"/>
                  </a:ext>
                </a:extLst>
              </a:tr>
              <a:tr h="351101">
                <a:tc>
                  <a:txBody>
                    <a:bodyPr/>
                    <a:lstStyle/>
                    <a:p>
                      <a:pPr>
                        <a:buNone/>
                      </a:pPr>
                      <a:r>
                        <a:rPr lang="en-IN" sz="700" b="1"/>
                        <a:t>Scalability</a:t>
                      </a:r>
                      <a:endParaRPr lang="en-IN" sz="700"/>
                    </a:p>
                  </a:txBody>
                  <a:tcPr marL="43888" marR="43888" marT="21944" marB="21944" anchor="ctr"/>
                </a:tc>
                <a:tc>
                  <a:txBody>
                    <a:bodyPr/>
                    <a:lstStyle/>
                    <a:p>
                      <a:pPr>
                        <a:buNone/>
                      </a:pPr>
                      <a:r>
                        <a:rPr lang="en-US" sz="700"/>
                        <a:t>Fixed (depends on instance type)</a:t>
                      </a:r>
                    </a:p>
                  </a:txBody>
                  <a:tcPr marL="43888" marR="43888" marT="21944" marB="21944" anchor="ctr"/>
                </a:tc>
                <a:tc>
                  <a:txBody>
                    <a:bodyPr/>
                    <a:lstStyle/>
                    <a:p>
                      <a:pPr>
                        <a:buNone/>
                      </a:pPr>
                      <a:r>
                        <a:rPr lang="en-US" sz="700"/>
                        <a:t>Scales up to petabytes per volume</a:t>
                      </a:r>
                    </a:p>
                  </a:txBody>
                  <a:tcPr marL="43888" marR="43888" marT="21944" marB="21944" anchor="ctr"/>
                </a:tc>
                <a:tc>
                  <a:txBody>
                    <a:bodyPr/>
                    <a:lstStyle/>
                    <a:p>
                      <a:pPr>
                        <a:buNone/>
                      </a:pPr>
                      <a:r>
                        <a:rPr lang="en-IN" sz="700"/>
                        <a:t>Scales automatically (exabytes)</a:t>
                      </a:r>
                    </a:p>
                  </a:txBody>
                  <a:tcPr marL="43888" marR="43888" marT="21944" marB="21944" anchor="ctr"/>
                </a:tc>
                <a:tc>
                  <a:txBody>
                    <a:bodyPr/>
                    <a:lstStyle/>
                    <a:p>
                      <a:pPr>
                        <a:buNone/>
                      </a:pPr>
                      <a:r>
                        <a:rPr lang="en-IN" sz="700"/>
                        <a:t>Virtually unlimited (exabytes)</a:t>
                      </a:r>
                    </a:p>
                  </a:txBody>
                  <a:tcPr marL="43888" marR="43888" marT="21944" marB="21944" anchor="ctr"/>
                </a:tc>
                <a:extLst>
                  <a:ext uri="{0D108BD9-81ED-4DB2-BD59-A6C34878D82A}">
                    <a16:rowId xmlns:a16="http://schemas.microsoft.com/office/drawing/2014/main" val="2072674466"/>
                  </a:ext>
                </a:extLst>
              </a:tr>
              <a:tr h="351101">
                <a:tc>
                  <a:txBody>
                    <a:bodyPr/>
                    <a:lstStyle/>
                    <a:p>
                      <a:pPr>
                        <a:buNone/>
                      </a:pPr>
                      <a:r>
                        <a:rPr lang="en-IN" sz="700" b="1"/>
                        <a:t>Durability</a:t>
                      </a:r>
                      <a:endParaRPr lang="en-IN" sz="700"/>
                    </a:p>
                  </a:txBody>
                  <a:tcPr marL="43888" marR="43888" marT="21944" marB="21944" anchor="ctr"/>
                </a:tc>
                <a:tc>
                  <a:txBody>
                    <a:bodyPr/>
                    <a:lstStyle/>
                    <a:p>
                      <a:pPr>
                        <a:buNone/>
                      </a:pPr>
                      <a:r>
                        <a:rPr lang="en-US" sz="700"/>
                        <a:t>Not durable (data loss on stop)</a:t>
                      </a:r>
                    </a:p>
                  </a:txBody>
                  <a:tcPr marL="43888" marR="43888" marT="21944" marB="21944" anchor="ctr"/>
                </a:tc>
                <a:tc>
                  <a:txBody>
                    <a:bodyPr/>
                    <a:lstStyle/>
                    <a:p>
                      <a:pPr>
                        <a:buNone/>
                      </a:pPr>
                      <a:r>
                        <a:rPr lang="en-IN" sz="700"/>
                        <a:t>Replicated within AZ</a:t>
                      </a:r>
                    </a:p>
                  </a:txBody>
                  <a:tcPr marL="43888" marR="43888" marT="21944" marB="21944" anchor="ctr"/>
                </a:tc>
                <a:tc>
                  <a:txBody>
                    <a:bodyPr/>
                    <a:lstStyle/>
                    <a:p>
                      <a:pPr>
                        <a:buNone/>
                      </a:pPr>
                      <a:r>
                        <a:rPr lang="en-IN" sz="700"/>
                        <a:t>Multi-AZ replication</a:t>
                      </a:r>
                    </a:p>
                  </a:txBody>
                  <a:tcPr marL="43888" marR="43888" marT="21944" marB="21944" anchor="ctr"/>
                </a:tc>
                <a:tc>
                  <a:txBody>
                    <a:bodyPr/>
                    <a:lstStyle/>
                    <a:p>
                      <a:pPr>
                        <a:buNone/>
                      </a:pPr>
                      <a:r>
                        <a:rPr lang="en-IN" sz="700"/>
                        <a:t>11 nines (99.999999999%)</a:t>
                      </a:r>
                    </a:p>
                  </a:txBody>
                  <a:tcPr marL="43888" marR="43888" marT="21944" marB="21944" anchor="ctr"/>
                </a:tc>
                <a:extLst>
                  <a:ext uri="{0D108BD9-81ED-4DB2-BD59-A6C34878D82A}">
                    <a16:rowId xmlns:a16="http://schemas.microsoft.com/office/drawing/2014/main" val="4024590974"/>
                  </a:ext>
                </a:extLst>
              </a:tr>
              <a:tr h="453505">
                <a:tc>
                  <a:txBody>
                    <a:bodyPr/>
                    <a:lstStyle/>
                    <a:p>
                      <a:pPr>
                        <a:buNone/>
                      </a:pPr>
                      <a:r>
                        <a:rPr lang="en-IN" sz="700" b="1"/>
                        <a:t>Performance</a:t>
                      </a:r>
                      <a:endParaRPr lang="en-IN" sz="700"/>
                    </a:p>
                  </a:txBody>
                  <a:tcPr marL="43888" marR="43888" marT="21944" marB="21944" anchor="ctr"/>
                </a:tc>
                <a:tc>
                  <a:txBody>
                    <a:bodyPr/>
                    <a:lstStyle/>
                    <a:p>
                      <a:pPr>
                        <a:buNone/>
                      </a:pPr>
                      <a:r>
                        <a:rPr lang="en-US" sz="700"/>
                        <a:t>Very high IOPS, low latency</a:t>
                      </a:r>
                    </a:p>
                  </a:txBody>
                  <a:tcPr marL="43888" marR="43888" marT="21944" marB="21944" anchor="ctr"/>
                </a:tc>
                <a:tc>
                  <a:txBody>
                    <a:bodyPr/>
                    <a:lstStyle/>
                    <a:p>
                      <a:pPr>
                        <a:buNone/>
                      </a:pPr>
                      <a:r>
                        <a:rPr lang="en-US" sz="700"/>
                        <a:t>High IOPS/throughput (depends on type)</a:t>
                      </a:r>
                    </a:p>
                  </a:txBody>
                  <a:tcPr marL="43888" marR="43888" marT="21944" marB="21944" anchor="ctr"/>
                </a:tc>
                <a:tc>
                  <a:txBody>
                    <a:bodyPr/>
                    <a:lstStyle/>
                    <a:p>
                      <a:pPr>
                        <a:buNone/>
                      </a:pPr>
                      <a:r>
                        <a:rPr lang="en-IN" sz="700"/>
                        <a:t>Low-latency, scalable throughput</a:t>
                      </a:r>
                    </a:p>
                  </a:txBody>
                  <a:tcPr marL="43888" marR="43888" marT="21944" marB="21944" anchor="ctr"/>
                </a:tc>
                <a:tc>
                  <a:txBody>
                    <a:bodyPr/>
                    <a:lstStyle/>
                    <a:p>
                      <a:pPr>
                        <a:buNone/>
                      </a:pPr>
                      <a:r>
                        <a:rPr lang="en-IN" sz="700"/>
                        <a:t>Optimized for large-scale throughput</a:t>
                      </a:r>
                    </a:p>
                  </a:txBody>
                  <a:tcPr marL="43888" marR="43888" marT="21944" marB="21944" anchor="ctr"/>
                </a:tc>
                <a:extLst>
                  <a:ext uri="{0D108BD9-81ED-4DB2-BD59-A6C34878D82A}">
                    <a16:rowId xmlns:a16="http://schemas.microsoft.com/office/drawing/2014/main" val="2907374"/>
                  </a:ext>
                </a:extLst>
              </a:tr>
              <a:tr h="351101">
                <a:tc>
                  <a:txBody>
                    <a:bodyPr/>
                    <a:lstStyle/>
                    <a:p>
                      <a:pPr>
                        <a:buNone/>
                      </a:pPr>
                      <a:r>
                        <a:rPr lang="en-IN" sz="700" b="1"/>
                        <a:t>Accessibility</a:t>
                      </a:r>
                      <a:endParaRPr lang="en-IN" sz="700"/>
                    </a:p>
                  </a:txBody>
                  <a:tcPr marL="43888" marR="43888" marT="21944" marB="21944" anchor="ctr"/>
                </a:tc>
                <a:tc>
                  <a:txBody>
                    <a:bodyPr/>
                    <a:lstStyle/>
                    <a:p>
                      <a:pPr>
                        <a:buNone/>
                      </a:pPr>
                      <a:r>
                        <a:rPr lang="en-IN" sz="700"/>
                        <a:t>Single EC2 instance only</a:t>
                      </a:r>
                    </a:p>
                  </a:txBody>
                  <a:tcPr marL="43888" marR="43888" marT="21944" marB="21944" anchor="ctr"/>
                </a:tc>
                <a:tc>
                  <a:txBody>
                    <a:bodyPr/>
                    <a:lstStyle/>
                    <a:p>
                      <a:pPr>
                        <a:buNone/>
                      </a:pPr>
                      <a:r>
                        <a:rPr lang="it-IT" sz="700"/>
                        <a:t>Single EC2 (Multi-Attach for io1/io2)</a:t>
                      </a:r>
                    </a:p>
                  </a:txBody>
                  <a:tcPr marL="43888" marR="43888" marT="21944" marB="21944" anchor="ctr"/>
                </a:tc>
                <a:tc>
                  <a:txBody>
                    <a:bodyPr/>
                    <a:lstStyle/>
                    <a:p>
                      <a:pPr>
                        <a:buNone/>
                      </a:pPr>
                      <a:r>
                        <a:rPr lang="en-US" sz="700"/>
                        <a:t>Multiple EC2 instances across AZs</a:t>
                      </a:r>
                    </a:p>
                  </a:txBody>
                  <a:tcPr marL="43888" marR="43888" marT="21944" marB="21944" anchor="ctr"/>
                </a:tc>
                <a:tc>
                  <a:txBody>
                    <a:bodyPr/>
                    <a:lstStyle/>
                    <a:p>
                      <a:pPr>
                        <a:buNone/>
                      </a:pPr>
                      <a:r>
                        <a:rPr lang="en-IN" sz="700"/>
                        <a:t>Accessed via API/HTTP endpoints</a:t>
                      </a:r>
                    </a:p>
                  </a:txBody>
                  <a:tcPr marL="43888" marR="43888" marT="21944" marB="21944" anchor="ctr"/>
                </a:tc>
                <a:extLst>
                  <a:ext uri="{0D108BD9-81ED-4DB2-BD59-A6C34878D82A}">
                    <a16:rowId xmlns:a16="http://schemas.microsoft.com/office/drawing/2014/main" val="1491192769"/>
                  </a:ext>
                </a:extLst>
              </a:tr>
              <a:tr h="351101">
                <a:tc>
                  <a:txBody>
                    <a:bodyPr/>
                    <a:lstStyle/>
                    <a:p>
                      <a:pPr>
                        <a:buNone/>
                      </a:pPr>
                      <a:r>
                        <a:rPr lang="en-IN" sz="700" b="1"/>
                        <a:t>Cost</a:t>
                      </a:r>
                      <a:endParaRPr lang="en-IN" sz="700"/>
                    </a:p>
                  </a:txBody>
                  <a:tcPr marL="43888" marR="43888" marT="21944" marB="21944" anchor="ctr"/>
                </a:tc>
                <a:tc>
                  <a:txBody>
                    <a:bodyPr/>
                    <a:lstStyle/>
                    <a:p>
                      <a:pPr>
                        <a:buNone/>
                      </a:pPr>
                      <a:r>
                        <a:rPr lang="en-IN" sz="700"/>
                        <a:t>Free (included with EC2)</a:t>
                      </a:r>
                    </a:p>
                  </a:txBody>
                  <a:tcPr marL="43888" marR="43888" marT="21944" marB="21944" anchor="ctr"/>
                </a:tc>
                <a:tc>
                  <a:txBody>
                    <a:bodyPr/>
                    <a:lstStyle/>
                    <a:p>
                      <a:pPr>
                        <a:buNone/>
                      </a:pPr>
                      <a:r>
                        <a:rPr lang="en-US" sz="700"/>
                        <a:t>Pay per GB + provisioned IOPS/throughput</a:t>
                      </a:r>
                    </a:p>
                  </a:txBody>
                  <a:tcPr marL="43888" marR="43888" marT="21944" marB="21944" anchor="ctr"/>
                </a:tc>
                <a:tc>
                  <a:txBody>
                    <a:bodyPr/>
                    <a:lstStyle/>
                    <a:p>
                      <a:pPr>
                        <a:buNone/>
                      </a:pPr>
                      <a:r>
                        <a:rPr lang="en-US" sz="700"/>
                        <a:t>Pay per GB (scales automatically)</a:t>
                      </a:r>
                    </a:p>
                  </a:txBody>
                  <a:tcPr marL="43888" marR="43888" marT="21944" marB="21944" anchor="ctr"/>
                </a:tc>
                <a:tc>
                  <a:txBody>
                    <a:bodyPr/>
                    <a:lstStyle/>
                    <a:p>
                      <a:pPr>
                        <a:buNone/>
                      </a:pPr>
                      <a:r>
                        <a:rPr lang="en-US" sz="700"/>
                        <a:t>Pay per GB/month + requests</a:t>
                      </a:r>
                    </a:p>
                  </a:txBody>
                  <a:tcPr marL="43888" marR="43888" marT="21944" marB="21944" anchor="ctr"/>
                </a:tc>
                <a:extLst>
                  <a:ext uri="{0D108BD9-81ED-4DB2-BD59-A6C34878D82A}">
                    <a16:rowId xmlns:a16="http://schemas.microsoft.com/office/drawing/2014/main" val="1987064814"/>
                  </a:ext>
                </a:extLst>
              </a:tr>
              <a:tr h="453505">
                <a:tc>
                  <a:txBody>
                    <a:bodyPr/>
                    <a:lstStyle/>
                    <a:p>
                      <a:pPr>
                        <a:buNone/>
                      </a:pPr>
                      <a:r>
                        <a:rPr lang="en-IN" sz="700" b="1"/>
                        <a:t>Use Cases</a:t>
                      </a:r>
                      <a:endParaRPr lang="en-IN" sz="700"/>
                    </a:p>
                  </a:txBody>
                  <a:tcPr marL="43888" marR="43888" marT="21944" marB="21944" anchor="ctr"/>
                </a:tc>
                <a:tc>
                  <a:txBody>
                    <a:bodyPr/>
                    <a:lstStyle/>
                    <a:p>
                      <a:pPr>
                        <a:buNone/>
                      </a:pPr>
                      <a:r>
                        <a:rPr lang="en-IN" sz="700"/>
                        <a:t>Caching, buffers, temp storage</a:t>
                      </a:r>
                    </a:p>
                  </a:txBody>
                  <a:tcPr marL="43888" marR="43888" marT="21944" marB="21944" anchor="ctr"/>
                </a:tc>
                <a:tc>
                  <a:txBody>
                    <a:bodyPr/>
                    <a:lstStyle/>
                    <a:p>
                      <a:pPr>
                        <a:buNone/>
                      </a:pPr>
                      <a:r>
                        <a:rPr lang="fr-FR" sz="700"/>
                        <a:t>Databases, boot volumes, enterprise apps</a:t>
                      </a:r>
                    </a:p>
                  </a:txBody>
                  <a:tcPr marL="43888" marR="43888" marT="21944" marB="21944" anchor="ctr"/>
                </a:tc>
                <a:tc>
                  <a:txBody>
                    <a:bodyPr/>
                    <a:lstStyle/>
                    <a:p>
                      <a:pPr>
                        <a:buNone/>
                      </a:pPr>
                      <a:r>
                        <a:rPr lang="en-US" sz="700"/>
                        <a:t>Web apps, content management, shared storage</a:t>
                      </a:r>
                    </a:p>
                  </a:txBody>
                  <a:tcPr marL="43888" marR="43888" marT="21944" marB="21944" anchor="ctr"/>
                </a:tc>
                <a:tc>
                  <a:txBody>
                    <a:bodyPr/>
                    <a:lstStyle/>
                    <a:p>
                      <a:pPr>
                        <a:buNone/>
                      </a:pPr>
                      <a:r>
                        <a:rPr lang="en-US" sz="700"/>
                        <a:t>Backups, static websites, data lakes</a:t>
                      </a:r>
                    </a:p>
                  </a:txBody>
                  <a:tcPr marL="43888" marR="43888" marT="21944" marB="21944" anchor="ctr"/>
                </a:tc>
                <a:extLst>
                  <a:ext uri="{0D108BD9-81ED-4DB2-BD59-A6C34878D82A}">
                    <a16:rowId xmlns:a16="http://schemas.microsoft.com/office/drawing/2014/main" val="549021058"/>
                  </a:ext>
                </a:extLst>
              </a:tr>
            </a:tbl>
          </a:graphicData>
        </a:graphic>
      </p:graphicFrame>
    </p:spTree>
    <p:extLst>
      <p:ext uri="{BB962C8B-B14F-4D97-AF65-F5344CB8AC3E}">
        <p14:creationId xmlns:p14="http://schemas.microsoft.com/office/powerpoint/2010/main" val="4246126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BC484E84-74B0-7AAA-8443-BCC6D0AF59EC}"/>
            </a:ext>
          </a:extLst>
        </p:cNvPr>
        <p:cNvGrpSpPr/>
        <p:nvPr/>
      </p:nvGrpSpPr>
      <p:grpSpPr>
        <a:xfrm>
          <a:off x="0" y="0"/>
          <a:ext cx="0" cy="0"/>
          <a:chOff x="0" y="0"/>
          <a:chExt cx="0" cy="0"/>
        </a:xfrm>
      </p:grpSpPr>
      <p:sp>
        <p:nvSpPr>
          <p:cNvPr id="656" name="Google Shape;656;p38">
            <a:extLst>
              <a:ext uri="{FF2B5EF4-FFF2-40B4-BE49-F238E27FC236}">
                <a16:creationId xmlns:a16="http://schemas.microsoft.com/office/drawing/2014/main" id="{076A8887-53D6-4D67-2684-2819B96768B3}"/>
              </a:ext>
            </a:extLst>
          </p:cNvPr>
          <p:cNvSpPr txBox="1"/>
          <p:nvPr/>
        </p:nvSpPr>
        <p:spPr>
          <a:xfrm>
            <a:off x="385994" y="126216"/>
            <a:ext cx="5588544"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US" sz="2340">
                <a:solidFill>
                  <a:schemeClr val="lt1"/>
                </a:solidFill>
                <a:latin typeface="Proxima Nova"/>
                <a:ea typeface="Proxima Nova"/>
                <a:cs typeface="Proxima Nova"/>
                <a:sym typeface="Proxima Nova"/>
              </a:rPr>
              <a:t>EBS Volume Types</a:t>
            </a:r>
            <a:endParaRPr lang="en-IN" sz="2340">
              <a:solidFill>
                <a:schemeClr val="lt1"/>
              </a:solidFill>
              <a:latin typeface="Proxima Nova"/>
              <a:ea typeface="Proxima Nova"/>
              <a:cs typeface="Proxima Nova"/>
              <a:sym typeface="Proxima Nova"/>
            </a:endParaRPr>
          </a:p>
        </p:txBody>
      </p:sp>
      <p:sp>
        <p:nvSpPr>
          <p:cNvPr id="657" name="Google Shape;657;p38">
            <a:extLst>
              <a:ext uri="{FF2B5EF4-FFF2-40B4-BE49-F238E27FC236}">
                <a16:creationId xmlns:a16="http://schemas.microsoft.com/office/drawing/2014/main" id="{C0644568-7515-1856-A8F3-379F3590CE5F}"/>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E8DD4AE6-4681-60AB-694F-2929362AADCE}"/>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
        <p:nvSpPr>
          <p:cNvPr id="659" name="Google Shape;659;p38">
            <a:extLst>
              <a:ext uri="{FF2B5EF4-FFF2-40B4-BE49-F238E27FC236}">
                <a16:creationId xmlns:a16="http://schemas.microsoft.com/office/drawing/2014/main" id="{130E25C6-B03D-CBF9-4FE2-CA856B16D859}"/>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12</a:t>
            </a:fld>
            <a:endParaRPr sz="900">
              <a:solidFill>
                <a:srgbClr val="FF0000"/>
              </a:solidFill>
              <a:latin typeface="Proxima Nova"/>
              <a:ea typeface="Proxima Nova"/>
              <a:cs typeface="Proxima Nova"/>
              <a:sym typeface="Proxima Nova"/>
            </a:endParaRPr>
          </a:p>
        </p:txBody>
      </p:sp>
      <p:graphicFrame>
        <p:nvGraphicFramePr>
          <p:cNvPr id="3" name="Table 2">
            <a:extLst>
              <a:ext uri="{FF2B5EF4-FFF2-40B4-BE49-F238E27FC236}">
                <a16:creationId xmlns:a16="http://schemas.microsoft.com/office/drawing/2014/main" id="{E1646070-2C0E-7EBC-7F17-3A357A20B93F}"/>
              </a:ext>
            </a:extLst>
          </p:cNvPr>
          <p:cNvGraphicFramePr>
            <a:graphicFrameLocks noGrp="1"/>
          </p:cNvGraphicFramePr>
          <p:nvPr>
            <p:extLst>
              <p:ext uri="{D42A27DB-BD31-4B8C-83A1-F6EECF244321}">
                <p14:modId xmlns:p14="http://schemas.microsoft.com/office/powerpoint/2010/main" val="759761049"/>
              </p:ext>
            </p:extLst>
          </p:nvPr>
        </p:nvGraphicFramePr>
        <p:xfrm>
          <a:off x="1325373" y="1220837"/>
          <a:ext cx="6493254" cy="3560664"/>
        </p:xfrm>
        <a:graphic>
          <a:graphicData uri="http://schemas.openxmlformats.org/drawingml/2006/table">
            <a:tbl>
              <a:tblPr>
                <a:tableStyleId>{284E427A-3D55-4303-BF80-6455036E1DE7}</a:tableStyleId>
              </a:tblPr>
              <a:tblGrid>
                <a:gridCol w="1082209">
                  <a:extLst>
                    <a:ext uri="{9D8B030D-6E8A-4147-A177-3AD203B41FA5}">
                      <a16:colId xmlns:a16="http://schemas.microsoft.com/office/drawing/2014/main" val="2764578918"/>
                    </a:ext>
                  </a:extLst>
                </a:gridCol>
                <a:gridCol w="1082209">
                  <a:extLst>
                    <a:ext uri="{9D8B030D-6E8A-4147-A177-3AD203B41FA5}">
                      <a16:colId xmlns:a16="http://schemas.microsoft.com/office/drawing/2014/main" val="222093668"/>
                    </a:ext>
                  </a:extLst>
                </a:gridCol>
                <a:gridCol w="1082209">
                  <a:extLst>
                    <a:ext uri="{9D8B030D-6E8A-4147-A177-3AD203B41FA5}">
                      <a16:colId xmlns:a16="http://schemas.microsoft.com/office/drawing/2014/main" val="1242137715"/>
                    </a:ext>
                  </a:extLst>
                </a:gridCol>
                <a:gridCol w="1082209">
                  <a:extLst>
                    <a:ext uri="{9D8B030D-6E8A-4147-A177-3AD203B41FA5}">
                      <a16:colId xmlns:a16="http://schemas.microsoft.com/office/drawing/2014/main" val="1648210456"/>
                    </a:ext>
                  </a:extLst>
                </a:gridCol>
                <a:gridCol w="1082209">
                  <a:extLst>
                    <a:ext uri="{9D8B030D-6E8A-4147-A177-3AD203B41FA5}">
                      <a16:colId xmlns:a16="http://schemas.microsoft.com/office/drawing/2014/main" val="3741164894"/>
                    </a:ext>
                  </a:extLst>
                </a:gridCol>
                <a:gridCol w="1082209">
                  <a:extLst>
                    <a:ext uri="{9D8B030D-6E8A-4147-A177-3AD203B41FA5}">
                      <a16:colId xmlns:a16="http://schemas.microsoft.com/office/drawing/2014/main" val="2007719617"/>
                    </a:ext>
                  </a:extLst>
                </a:gridCol>
              </a:tblGrid>
              <a:tr h="426610">
                <a:tc>
                  <a:txBody>
                    <a:bodyPr/>
                    <a:lstStyle/>
                    <a:p>
                      <a:pPr>
                        <a:buNone/>
                      </a:pPr>
                      <a:r>
                        <a:rPr lang="en-IN" sz="1200" b="1"/>
                        <a:t>Volume Type</a:t>
                      </a:r>
                    </a:p>
                  </a:txBody>
                  <a:tcPr marL="75284" marR="75284" marT="37642" marB="37642" anchor="ctr"/>
                </a:tc>
                <a:tc>
                  <a:txBody>
                    <a:bodyPr/>
                    <a:lstStyle/>
                    <a:p>
                      <a:pPr>
                        <a:buNone/>
                      </a:pPr>
                      <a:r>
                        <a:rPr lang="en-IN" sz="1200" b="1"/>
                        <a:t>Storage Type</a:t>
                      </a:r>
                    </a:p>
                  </a:txBody>
                  <a:tcPr marL="75284" marR="75284" marT="37642" marB="37642" anchor="ctr"/>
                </a:tc>
                <a:tc>
                  <a:txBody>
                    <a:bodyPr/>
                    <a:lstStyle/>
                    <a:p>
                      <a:pPr>
                        <a:buNone/>
                      </a:pPr>
                      <a:r>
                        <a:rPr lang="en-IN" sz="1200" b="1"/>
                        <a:t>Performance Focus</a:t>
                      </a:r>
                    </a:p>
                  </a:txBody>
                  <a:tcPr marL="75284" marR="75284" marT="37642" marB="37642" anchor="ctr"/>
                </a:tc>
                <a:tc>
                  <a:txBody>
                    <a:bodyPr/>
                    <a:lstStyle/>
                    <a:p>
                      <a:pPr>
                        <a:buNone/>
                      </a:pPr>
                      <a:r>
                        <a:rPr lang="en-IN" sz="1200" b="1"/>
                        <a:t>Max IOPS / Throughput</a:t>
                      </a:r>
                    </a:p>
                  </a:txBody>
                  <a:tcPr marL="75284" marR="75284" marT="37642" marB="37642" anchor="ctr"/>
                </a:tc>
                <a:tc>
                  <a:txBody>
                    <a:bodyPr/>
                    <a:lstStyle/>
                    <a:p>
                      <a:pPr>
                        <a:buNone/>
                      </a:pPr>
                      <a:r>
                        <a:rPr lang="en-IN" sz="1200" b="1"/>
                        <a:t>Cost ($/GB </a:t>
                      </a:r>
                      <a:r>
                        <a:rPr lang="en-IN" sz="1200" b="1" err="1"/>
                        <a:t>approx</a:t>
                      </a:r>
                      <a:r>
                        <a:rPr lang="en-IN" sz="1200" b="1"/>
                        <a:t>)</a:t>
                      </a:r>
                    </a:p>
                  </a:txBody>
                  <a:tcPr marL="75284" marR="75284" marT="37642" marB="37642" anchor="ctr"/>
                </a:tc>
                <a:tc>
                  <a:txBody>
                    <a:bodyPr/>
                    <a:lstStyle/>
                    <a:p>
                      <a:pPr>
                        <a:buNone/>
                      </a:pPr>
                      <a:r>
                        <a:rPr lang="en-IN" sz="1200" b="1"/>
                        <a:t>Typical Use Cases</a:t>
                      </a:r>
                    </a:p>
                  </a:txBody>
                  <a:tcPr marL="75284" marR="75284" marT="37642" marB="37642" anchor="ctr"/>
                </a:tc>
                <a:extLst>
                  <a:ext uri="{0D108BD9-81ED-4DB2-BD59-A6C34878D82A}">
                    <a16:rowId xmlns:a16="http://schemas.microsoft.com/office/drawing/2014/main" val="1012392554"/>
                  </a:ext>
                </a:extLst>
              </a:tr>
              <a:tr h="602273">
                <a:tc>
                  <a:txBody>
                    <a:bodyPr/>
                    <a:lstStyle/>
                    <a:p>
                      <a:pPr>
                        <a:buNone/>
                      </a:pPr>
                      <a:r>
                        <a:rPr lang="en-IN" sz="1200" b="1"/>
                        <a:t>gp3</a:t>
                      </a:r>
                      <a:endParaRPr lang="en-IN" sz="1200"/>
                    </a:p>
                  </a:txBody>
                  <a:tcPr marL="75284" marR="75284" marT="37642" marB="37642" anchor="ctr"/>
                </a:tc>
                <a:tc>
                  <a:txBody>
                    <a:bodyPr/>
                    <a:lstStyle/>
                    <a:p>
                      <a:pPr>
                        <a:buNone/>
                      </a:pPr>
                      <a:r>
                        <a:rPr lang="en-IN" sz="1200"/>
                        <a:t>SSD</a:t>
                      </a:r>
                    </a:p>
                  </a:txBody>
                  <a:tcPr marL="75284" marR="75284" marT="37642" marB="37642" anchor="ctr"/>
                </a:tc>
                <a:tc>
                  <a:txBody>
                    <a:bodyPr/>
                    <a:lstStyle/>
                    <a:p>
                      <a:pPr>
                        <a:buNone/>
                      </a:pPr>
                      <a:r>
                        <a:rPr lang="en-IN" sz="1200"/>
                        <a:t>Balanced price/performance</a:t>
                      </a:r>
                    </a:p>
                  </a:txBody>
                  <a:tcPr marL="75284" marR="75284" marT="37642" marB="37642" anchor="ctr"/>
                </a:tc>
                <a:tc>
                  <a:txBody>
                    <a:bodyPr/>
                    <a:lstStyle/>
                    <a:p>
                      <a:pPr>
                        <a:buNone/>
                      </a:pPr>
                      <a:r>
                        <a:rPr lang="en-US" sz="1200"/>
                        <a:t>16,000 IOPS / 1,000 MB/s</a:t>
                      </a:r>
                    </a:p>
                  </a:txBody>
                  <a:tcPr marL="75284" marR="75284" marT="37642" marB="37642" anchor="ctr"/>
                </a:tc>
                <a:tc>
                  <a:txBody>
                    <a:bodyPr/>
                    <a:lstStyle/>
                    <a:p>
                      <a:pPr>
                        <a:buNone/>
                      </a:pPr>
                      <a:r>
                        <a:rPr lang="en-IN" sz="1200"/>
                        <a:t>Low</a:t>
                      </a:r>
                    </a:p>
                  </a:txBody>
                  <a:tcPr marL="75284" marR="75284" marT="37642" marB="37642" anchor="ctr"/>
                </a:tc>
                <a:tc>
                  <a:txBody>
                    <a:bodyPr/>
                    <a:lstStyle/>
                    <a:p>
                      <a:pPr>
                        <a:buNone/>
                      </a:pPr>
                      <a:r>
                        <a:rPr lang="en-IN" sz="1200"/>
                        <a:t>General workloads, dev/test</a:t>
                      </a:r>
                    </a:p>
                  </a:txBody>
                  <a:tcPr marL="75284" marR="75284" marT="37642" marB="37642" anchor="ctr"/>
                </a:tc>
                <a:extLst>
                  <a:ext uri="{0D108BD9-81ED-4DB2-BD59-A6C34878D82A}">
                    <a16:rowId xmlns:a16="http://schemas.microsoft.com/office/drawing/2014/main" val="3457745026"/>
                  </a:ext>
                </a:extLst>
              </a:tr>
              <a:tr h="602273">
                <a:tc>
                  <a:txBody>
                    <a:bodyPr/>
                    <a:lstStyle/>
                    <a:p>
                      <a:pPr>
                        <a:buNone/>
                      </a:pPr>
                      <a:r>
                        <a:rPr lang="en-IN" sz="1200" b="1"/>
                        <a:t>gp2</a:t>
                      </a:r>
                      <a:endParaRPr lang="en-IN" sz="1200"/>
                    </a:p>
                  </a:txBody>
                  <a:tcPr marL="75284" marR="75284" marT="37642" marB="37642" anchor="ctr"/>
                </a:tc>
                <a:tc>
                  <a:txBody>
                    <a:bodyPr/>
                    <a:lstStyle/>
                    <a:p>
                      <a:pPr>
                        <a:buNone/>
                      </a:pPr>
                      <a:r>
                        <a:rPr lang="en-IN" sz="1200"/>
                        <a:t>SSD</a:t>
                      </a:r>
                    </a:p>
                  </a:txBody>
                  <a:tcPr marL="75284" marR="75284" marT="37642" marB="37642" anchor="ctr"/>
                </a:tc>
                <a:tc>
                  <a:txBody>
                    <a:bodyPr/>
                    <a:lstStyle/>
                    <a:p>
                      <a:pPr>
                        <a:buNone/>
                      </a:pPr>
                      <a:r>
                        <a:rPr lang="en-IN" sz="1200"/>
                        <a:t>General purpose (legacy)</a:t>
                      </a:r>
                    </a:p>
                  </a:txBody>
                  <a:tcPr marL="75284" marR="75284" marT="37642" marB="37642" anchor="ctr"/>
                </a:tc>
                <a:tc>
                  <a:txBody>
                    <a:bodyPr/>
                    <a:lstStyle/>
                    <a:p>
                      <a:pPr>
                        <a:buNone/>
                      </a:pPr>
                      <a:r>
                        <a:rPr lang="en-US" sz="1200"/>
                        <a:t>16,000 IOPS / 250 MB/s</a:t>
                      </a:r>
                    </a:p>
                  </a:txBody>
                  <a:tcPr marL="75284" marR="75284" marT="37642" marB="37642" anchor="ctr"/>
                </a:tc>
                <a:tc>
                  <a:txBody>
                    <a:bodyPr/>
                    <a:lstStyle/>
                    <a:p>
                      <a:pPr>
                        <a:buNone/>
                      </a:pPr>
                      <a:r>
                        <a:rPr lang="en-IN" sz="1200"/>
                        <a:t>Moderate</a:t>
                      </a:r>
                    </a:p>
                  </a:txBody>
                  <a:tcPr marL="75284" marR="75284" marT="37642" marB="37642" anchor="ctr"/>
                </a:tc>
                <a:tc>
                  <a:txBody>
                    <a:bodyPr/>
                    <a:lstStyle/>
                    <a:p>
                      <a:pPr>
                        <a:buNone/>
                      </a:pPr>
                      <a:r>
                        <a:rPr lang="en-IN" sz="1200"/>
                        <a:t>Standard apps, boot volumes</a:t>
                      </a:r>
                    </a:p>
                  </a:txBody>
                  <a:tcPr marL="75284" marR="75284" marT="37642" marB="37642" anchor="ctr"/>
                </a:tc>
                <a:extLst>
                  <a:ext uri="{0D108BD9-81ED-4DB2-BD59-A6C34878D82A}">
                    <a16:rowId xmlns:a16="http://schemas.microsoft.com/office/drawing/2014/main" val="3111214826"/>
                  </a:ext>
                </a:extLst>
              </a:tr>
              <a:tr h="602273">
                <a:tc>
                  <a:txBody>
                    <a:bodyPr/>
                    <a:lstStyle/>
                    <a:p>
                      <a:pPr>
                        <a:buNone/>
                      </a:pPr>
                      <a:r>
                        <a:rPr lang="en-IN" sz="1200" b="1"/>
                        <a:t>io1 / io2</a:t>
                      </a:r>
                      <a:endParaRPr lang="en-IN" sz="1200"/>
                    </a:p>
                  </a:txBody>
                  <a:tcPr marL="75284" marR="75284" marT="37642" marB="37642" anchor="ctr"/>
                </a:tc>
                <a:tc>
                  <a:txBody>
                    <a:bodyPr/>
                    <a:lstStyle/>
                    <a:p>
                      <a:pPr>
                        <a:buNone/>
                      </a:pPr>
                      <a:r>
                        <a:rPr lang="en-IN" sz="1200"/>
                        <a:t>SSD</a:t>
                      </a:r>
                    </a:p>
                  </a:txBody>
                  <a:tcPr marL="75284" marR="75284" marT="37642" marB="37642" anchor="ctr"/>
                </a:tc>
                <a:tc>
                  <a:txBody>
                    <a:bodyPr/>
                    <a:lstStyle/>
                    <a:p>
                      <a:pPr>
                        <a:buNone/>
                      </a:pPr>
                      <a:r>
                        <a:rPr lang="en-IN" sz="1200"/>
                        <a:t>Provisioned IOPS (high)</a:t>
                      </a:r>
                    </a:p>
                  </a:txBody>
                  <a:tcPr marL="75284" marR="75284" marT="37642" marB="37642" anchor="ctr"/>
                </a:tc>
                <a:tc>
                  <a:txBody>
                    <a:bodyPr/>
                    <a:lstStyle/>
                    <a:p>
                      <a:pPr>
                        <a:buNone/>
                      </a:pPr>
                      <a:r>
                        <a:rPr lang="en-US" sz="1200"/>
                        <a:t>64,000 IOPS / 1,000 MB/s</a:t>
                      </a:r>
                    </a:p>
                  </a:txBody>
                  <a:tcPr marL="75284" marR="75284" marT="37642" marB="37642" anchor="ctr"/>
                </a:tc>
                <a:tc>
                  <a:txBody>
                    <a:bodyPr/>
                    <a:lstStyle/>
                    <a:p>
                      <a:pPr>
                        <a:buNone/>
                      </a:pPr>
                      <a:r>
                        <a:rPr lang="en-IN" sz="1200"/>
                        <a:t>High</a:t>
                      </a:r>
                    </a:p>
                  </a:txBody>
                  <a:tcPr marL="75284" marR="75284" marT="37642" marB="37642" anchor="ctr"/>
                </a:tc>
                <a:tc>
                  <a:txBody>
                    <a:bodyPr/>
                    <a:lstStyle/>
                    <a:p>
                      <a:pPr>
                        <a:buNone/>
                      </a:pPr>
                      <a:r>
                        <a:rPr lang="en-IN" sz="1200"/>
                        <a:t>Critical DBs, latency-sensitive apps</a:t>
                      </a:r>
                    </a:p>
                  </a:txBody>
                  <a:tcPr marL="75284" marR="75284" marT="37642" marB="37642" anchor="ctr"/>
                </a:tc>
                <a:extLst>
                  <a:ext uri="{0D108BD9-81ED-4DB2-BD59-A6C34878D82A}">
                    <a16:rowId xmlns:a16="http://schemas.microsoft.com/office/drawing/2014/main" val="1284906649"/>
                  </a:ext>
                </a:extLst>
              </a:tr>
              <a:tr h="426610">
                <a:tc>
                  <a:txBody>
                    <a:bodyPr/>
                    <a:lstStyle/>
                    <a:p>
                      <a:pPr>
                        <a:buNone/>
                      </a:pPr>
                      <a:r>
                        <a:rPr lang="en-IN" sz="1200" b="1"/>
                        <a:t>st1</a:t>
                      </a:r>
                      <a:endParaRPr lang="en-IN" sz="1200"/>
                    </a:p>
                  </a:txBody>
                  <a:tcPr marL="75284" marR="75284" marT="37642" marB="37642" anchor="ctr"/>
                </a:tc>
                <a:tc>
                  <a:txBody>
                    <a:bodyPr/>
                    <a:lstStyle/>
                    <a:p>
                      <a:pPr>
                        <a:buNone/>
                      </a:pPr>
                      <a:r>
                        <a:rPr lang="en-IN" sz="1200"/>
                        <a:t>HDD</a:t>
                      </a:r>
                    </a:p>
                  </a:txBody>
                  <a:tcPr marL="75284" marR="75284" marT="37642" marB="37642" anchor="ctr"/>
                </a:tc>
                <a:tc>
                  <a:txBody>
                    <a:bodyPr/>
                    <a:lstStyle/>
                    <a:p>
                      <a:pPr>
                        <a:buNone/>
                      </a:pPr>
                      <a:r>
                        <a:rPr lang="en-IN" sz="1200"/>
                        <a:t>High throughput</a:t>
                      </a:r>
                    </a:p>
                  </a:txBody>
                  <a:tcPr marL="75284" marR="75284" marT="37642" marB="37642" anchor="ctr"/>
                </a:tc>
                <a:tc>
                  <a:txBody>
                    <a:bodyPr/>
                    <a:lstStyle/>
                    <a:p>
                      <a:pPr>
                        <a:buNone/>
                      </a:pPr>
                      <a:r>
                        <a:rPr lang="en-US" sz="1200"/>
                        <a:t>500 IOPS / 500 MB/s</a:t>
                      </a:r>
                    </a:p>
                  </a:txBody>
                  <a:tcPr marL="75284" marR="75284" marT="37642" marB="37642" anchor="ctr"/>
                </a:tc>
                <a:tc>
                  <a:txBody>
                    <a:bodyPr/>
                    <a:lstStyle/>
                    <a:p>
                      <a:pPr>
                        <a:buNone/>
                      </a:pPr>
                      <a:r>
                        <a:rPr lang="en-IN" sz="1200"/>
                        <a:t>Low</a:t>
                      </a:r>
                    </a:p>
                  </a:txBody>
                  <a:tcPr marL="75284" marR="75284" marT="37642" marB="37642" anchor="ctr"/>
                </a:tc>
                <a:tc>
                  <a:txBody>
                    <a:bodyPr/>
                    <a:lstStyle/>
                    <a:p>
                      <a:pPr>
                        <a:buNone/>
                      </a:pPr>
                      <a:r>
                        <a:rPr lang="en-IN" sz="1200"/>
                        <a:t>Big data, log processing</a:t>
                      </a:r>
                    </a:p>
                  </a:txBody>
                  <a:tcPr marL="75284" marR="75284" marT="37642" marB="37642" anchor="ctr"/>
                </a:tc>
                <a:extLst>
                  <a:ext uri="{0D108BD9-81ED-4DB2-BD59-A6C34878D82A}">
                    <a16:rowId xmlns:a16="http://schemas.microsoft.com/office/drawing/2014/main" val="2036011655"/>
                  </a:ext>
                </a:extLst>
              </a:tr>
              <a:tr h="602273">
                <a:tc>
                  <a:txBody>
                    <a:bodyPr/>
                    <a:lstStyle/>
                    <a:p>
                      <a:pPr>
                        <a:buNone/>
                      </a:pPr>
                      <a:r>
                        <a:rPr lang="en-IN" sz="1200" b="1"/>
                        <a:t>sc1</a:t>
                      </a:r>
                      <a:endParaRPr lang="en-IN" sz="1200"/>
                    </a:p>
                  </a:txBody>
                  <a:tcPr marL="75284" marR="75284" marT="37642" marB="37642" anchor="ctr"/>
                </a:tc>
                <a:tc>
                  <a:txBody>
                    <a:bodyPr/>
                    <a:lstStyle/>
                    <a:p>
                      <a:pPr>
                        <a:buNone/>
                      </a:pPr>
                      <a:r>
                        <a:rPr lang="en-IN" sz="1200"/>
                        <a:t>HDD</a:t>
                      </a:r>
                    </a:p>
                  </a:txBody>
                  <a:tcPr marL="75284" marR="75284" marT="37642" marB="37642" anchor="ctr"/>
                </a:tc>
                <a:tc>
                  <a:txBody>
                    <a:bodyPr/>
                    <a:lstStyle/>
                    <a:p>
                      <a:pPr>
                        <a:buNone/>
                      </a:pPr>
                      <a:r>
                        <a:rPr lang="en-IN" sz="1200"/>
                        <a:t>Lowest cost</a:t>
                      </a:r>
                    </a:p>
                  </a:txBody>
                  <a:tcPr marL="75284" marR="75284" marT="37642" marB="37642" anchor="ctr"/>
                </a:tc>
                <a:tc>
                  <a:txBody>
                    <a:bodyPr/>
                    <a:lstStyle/>
                    <a:p>
                      <a:pPr>
                        <a:buNone/>
                      </a:pPr>
                      <a:r>
                        <a:rPr lang="en-US" sz="1200"/>
                        <a:t>250 IOPS / 250 MB/s</a:t>
                      </a:r>
                    </a:p>
                  </a:txBody>
                  <a:tcPr marL="75284" marR="75284" marT="37642" marB="37642" anchor="ctr"/>
                </a:tc>
                <a:tc>
                  <a:txBody>
                    <a:bodyPr/>
                    <a:lstStyle/>
                    <a:p>
                      <a:pPr>
                        <a:buNone/>
                      </a:pPr>
                      <a:r>
                        <a:rPr lang="en-IN" sz="1200"/>
                        <a:t>Very Low</a:t>
                      </a:r>
                    </a:p>
                  </a:txBody>
                  <a:tcPr marL="75284" marR="75284" marT="37642" marB="37642" anchor="ctr"/>
                </a:tc>
                <a:tc>
                  <a:txBody>
                    <a:bodyPr/>
                    <a:lstStyle/>
                    <a:p>
                      <a:pPr>
                        <a:buNone/>
                      </a:pPr>
                      <a:r>
                        <a:rPr lang="en-IN" sz="1200"/>
                        <a:t>Cold data, rarely accessed</a:t>
                      </a:r>
                    </a:p>
                  </a:txBody>
                  <a:tcPr marL="75284" marR="75284" marT="37642" marB="37642" anchor="ctr"/>
                </a:tc>
                <a:extLst>
                  <a:ext uri="{0D108BD9-81ED-4DB2-BD59-A6C34878D82A}">
                    <a16:rowId xmlns:a16="http://schemas.microsoft.com/office/drawing/2014/main" val="2766797589"/>
                  </a:ext>
                </a:extLst>
              </a:tr>
            </a:tbl>
          </a:graphicData>
        </a:graphic>
      </p:graphicFrame>
    </p:spTree>
    <p:extLst>
      <p:ext uri="{BB962C8B-B14F-4D97-AF65-F5344CB8AC3E}">
        <p14:creationId xmlns:p14="http://schemas.microsoft.com/office/powerpoint/2010/main" val="3052769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54">
          <a:extLst>
            <a:ext uri="{FF2B5EF4-FFF2-40B4-BE49-F238E27FC236}">
              <a16:creationId xmlns:a16="http://schemas.microsoft.com/office/drawing/2014/main" id="{B9BCD13E-CB3D-B55A-99A4-D14D7701D9B2}"/>
            </a:ext>
          </a:extLst>
        </p:cNvPr>
        <p:cNvGrpSpPr/>
        <p:nvPr/>
      </p:nvGrpSpPr>
      <p:grpSpPr>
        <a:xfrm>
          <a:off x="0" y="0"/>
          <a:ext cx="0" cy="0"/>
          <a:chOff x="0" y="0"/>
          <a:chExt cx="0" cy="0"/>
        </a:xfrm>
      </p:grpSpPr>
      <p:sp>
        <p:nvSpPr>
          <p:cNvPr id="656" name="Google Shape;656;p38">
            <a:extLst>
              <a:ext uri="{FF2B5EF4-FFF2-40B4-BE49-F238E27FC236}">
                <a16:creationId xmlns:a16="http://schemas.microsoft.com/office/drawing/2014/main" id="{1EEBBC96-0825-47C9-5000-2376022D12B8}"/>
              </a:ext>
            </a:extLst>
          </p:cNvPr>
          <p:cNvSpPr txBox="1"/>
          <p:nvPr/>
        </p:nvSpPr>
        <p:spPr>
          <a:xfrm>
            <a:off x="385994" y="126216"/>
            <a:ext cx="5588544"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US" sz="2340">
                <a:solidFill>
                  <a:schemeClr val="lt1"/>
                </a:solidFill>
                <a:latin typeface="Proxima Nova"/>
                <a:ea typeface="Proxima Nova"/>
                <a:cs typeface="Proxima Nova"/>
                <a:sym typeface="Proxima Nova"/>
              </a:rPr>
              <a:t>S3 Storage Classes</a:t>
            </a:r>
            <a:endParaRPr lang="en-IN" sz="2340">
              <a:solidFill>
                <a:schemeClr val="lt1"/>
              </a:solidFill>
              <a:latin typeface="Proxima Nova"/>
              <a:ea typeface="Proxima Nova"/>
              <a:cs typeface="Proxima Nova"/>
              <a:sym typeface="Proxima Nova"/>
            </a:endParaRPr>
          </a:p>
        </p:txBody>
      </p:sp>
      <p:sp>
        <p:nvSpPr>
          <p:cNvPr id="657" name="Google Shape;657;p38">
            <a:extLst>
              <a:ext uri="{FF2B5EF4-FFF2-40B4-BE49-F238E27FC236}">
                <a16:creationId xmlns:a16="http://schemas.microsoft.com/office/drawing/2014/main" id="{7246B4D4-6F6F-04EB-5C61-A0D1D94F5065}"/>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58" name="Google Shape;658;p38">
            <a:extLst>
              <a:ext uri="{FF2B5EF4-FFF2-40B4-BE49-F238E27FC236}">
                <a16:creationId xmlns:a16="http://schemas.microsoft.com/office/drawing/2014/main" id="{9A9908A2-92B3-E616-462A-A39C412815D0}"/>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
        <p:nvSpPr>
          <p:cNvPr id="659" name="Google Shape;659;p38">
            <a:extLst>
              <a:ext uri="{FF2B5EF4-FFF2-40B4-BE49-F238E27FC236}">
                <a16:creationId xmlns:a16="http://schemas.microsoft.com/office/drawing/2014/main" id="{E85EDE64-B7C5-77D6-78F1-D8DF393550AF}"/>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13</a:t>
            </a:fld>
            <a:endParaRPr sz="900">
              <a:solidFill>
                <a:srgbClr val="FF0000"/>
              </a:solidFill>
              <a:latin typeface="Proxima Nova"/>
              <a:ea typeface="Proxima Nova"/>
              <a:cs typeface="Proxima Nova"/>
              <a:sym typeface="Proxima Nova"/>
            </a:endParaRPr>
          </a:p>
        </p:txBody>
      </p:sp>
      <p:graphicFrame>
        <p:nvGraphicFramePr>
          <p:cNvPr id="2" name="Table 1">
            <a:extLst>
              <a:ext uri="{FF2B5EF4-FFF2-40B4-BE49-F238E27FC236}">
                <a16:creationId xmlns:a16="http://schemas.microsoft.com/office/drawing/2014/main" id="{E2813CAB-05BC-F061-6E5D-408421CB0EEB}"/>
              </a:ext>
            </a:extLst>
          </p:cNvPr>
          <p:cNvGraphicFramePr>
            <a:graphicFrameLocks noGrp="1"/>
          </p:cNvGraphicFramePr>
          <p:nvPr>
            <p:extLst>
              <p:ext uri="{D42A27DB-BD31-4B8C-83A1-F6EECF244321}">
                <p14:modId xmlns:p14="http://schemas.microsoft.com/office/powerpoint/2010/main" val="2610365697"/>
              </p:ext>
            </p:extLst>
          </p:nvPr>
        </p:nvGraphicFramePr>
        <p:xfrm>
          <a:off x="1203157" y="1370014"/>
          <a:ext cx="6813312" cy="3262310"/>
        </p:xfrm>
        <a:graphic>
          <a:graphicData uri="http://schemas.openxmlformats.org/drawingml/2006/table">
            <a:tbl>
              <a:tblPr>
                <a:tableStyleId>{284E427A-3D55-4303-BF80-6455036E1DE7}</a:tableStyleId>
              </a:tblPr>
              <a:tblGrid>
                <a:gridCol w="1135552">
                  <a:extLst>
                    <a:ext uri="{9D8B030D-6E8A-4147-A177-3AD203B41FA5}">
                      <a16:colId xmlns:a16="http://schemas.microsoft.com/office/drawing/2014/main" val="2095159151"/>
                    </a:ext>
                  </a:extLst>
                </a:gridCol>
                <a:gridCol w="1135552">
                  <a:extLst>
                    <a:ext uri="{9D8B030D-6E8A-4147-A177-3AD203B41FA5}">
                      <a16:colId xmlns:a16="http://schemas.microsoft.com/office/drawing/2014/main" val="3780918703"/>
                    </a:ext>
                  </a:extLst>
                </a:gridCol>
                <a:gridCol w="1135552">
                  <a:extLst>
                    <a:ext uri="{9D8B030D-6E8A-4147-A177-3AD203B41FA5}">
                      <a16:colId xmlns:a16="http://schemas.microsoft.com/office/drawing/2014/main" val="663638706"/>
                    </a:ext>
                  </a:extLst>
                </a:gridCol>
                <a:gridCol w="1135552">
                  <a:extLst>
                    <a:ext uri="{9D8B030D-6E8A-4147-A177-3AD203B41FA5}">
                      <a16:colId xmlns:a16="http://schemas.microsoft.com/office/drawing/2014/main" val="2018452884"/>
                    </a:ext>
                  </a:extLst>
                </a:gridCol>
                <a:gridCol w="1135552">
                  <a:extLst>
                    <a:ext uri="{9D8B030D-6E8A-4147-A177-3AD203B41FA5}">
                      <a16:colId xmlns:a16="http://schemas.microsoft.com/office/drawing/2014/main" val="914286202"/>
                    </a:ext>
                  </a:extLst>
                </a:gridCol>
                <a:gridCol w="1135552">
                  <a:extLst>
                    <a:ext uri="{9D8B030D-6E8A-4147-A177-3AD203B41FA5}">
                      <a16:colId xmlns:a16="http://schemas.microsoft.com/office/drawing/2014/main" val="2410682329"/>
                    </a:ext>
                  </a:extLst>
                </a:gridCol>
              </a:tblGrid>
              <a:tr h="311569">
                <a:tc>
                  <a:txBody>
                    <a:bodyPr/>
                    <a:lstStyle/>
                    <a:p>
                      <a:pPr>
                        <a:buNone/>
                      </a:pPr>
                      <a:r>
                        <a:rPr lang="en-IN" sz="800" b="1"/>
                        <a:t>Storage Class</a:t>
                      </a:r>
                    </a:p>
                  </a:txBody>
                  <a:tcPr marL="54983" marR="54983" marT="27491" marB="27491" anchor="ctr"/>
                </a:tc>
                <a:tc>
                  <a:txBody>
                    <a:bodyPr/>
                    <a:lstStyle/>
                    <a:p>
                      <a:pPr>
                        <a:buNone/>
                      </a:pPr>
                      <a:r>
                        <a:rPr lang="en-IN" sz="800" b="1"/>
                        <a:t>Durability</a:t>
                      </a:r>
                    </a:p>
                  </a:txBody>
                  <a:tcPr marL="54983" marR="54983" marT="27491" marB="27491" anchor="ctr"/>
                </a:tc>
                <a:tc>
                  <a:txBody>
                    <a:bodyPr/>
                    <a:lstStyle/>
                    <a:p>
                      <a:pPr>
                        <a:buNone/>
                      </a:pPr>
                      <a:r>
                        <a:rPr lang="en-IN" sz="800" b="1"/>
                        <a:t>Availability</a:t>
                      </a:r>
                    </a:p>
                  </a:txBody>
                  <a:tcPr marL="54983" marR="54983" marT="27491" marB="27491" anchor="ctr"/>
                </a:tc>
                <a:tc>
                  <a:txBody>
                    <a:bodyPr/>
                    <a:lstStyle/>
                    <a:p>
                      <a:pPr>
                        <a:buNone/>
                      </a:pPr>
                      <a:r>
                        <a:rPr lang="en-IN" sz="800" b="1"/>
                        <a:t>Retrieval Time</a:t>
                      </a:r>
                    </a:p>
                  </a:txBody>
                  <a:tcPr marL="54983" marR="54983" marT="27491" marB="27491" anchor="ctr"/>
                </a:tc>
                <a:tc>
                  <a:txBody>
                    <a:bodyPr/>
                    <a:lstStyle/>
                    <a:p>
                      <a:pPr>
                        <a:buNone/>
                      </a:pPr>
                      <a:r>
                        <a:rPr lang="en-IN" sz="800" b="1"/>
                        <a:t>Cost (per GB)</a:t>
                      </a:r>
                    </a:p>
                  </a:txBody>
                  <a:tcPr marL="54983" marR="54983" marT="27491" marB="27491" anchor="ctr"/>
                </a:tc>
                <a:tc>
                  <a:txBody>
                    <a:bodyPr/>
                    <a:lstStyle/>
                    <a:p>
                      <a:pPr>
                        <a:buNone/>
                      </a:pPr>
                      <a:r>
                        <a:rPr lang="en-IN" sz="800" b="1"/>
                        <a:t>Use Cases</a:t>
                      </a:r>
                    </a:p>
                  </a:txBody>
                  <a:tcPr marL="54983" marR="54983" marT="27491" marB="27491" anchor="ctr"/>
                </a:tc>
                <a:extLst>
                  <a:ext uri="{0D108BD9-81ED-4DB2-BD59-A6C34878D82A}">
                    <a16:rowId xmlns:a16="http://schemas.microsoft.com/office/drawing/2014/main" val="2617943313"/>
                  </a:ext>
                </a:extLst>
              </a:tr>
              <a:tr h="439862">
                <a:tc>
                  <a:txBody>
                    <a:bodyPr/>
                    <a:lstStyle/>
                    <a:p>
                      <a:pPr>
                        <a:buNone/>
                      </a:pPr>
                      <a:r>
                        <a:rPr lang="en-IN" sz="800" b="1"/>
                        <a:t>S3 Standard</a:t>
                      </a:r>
                      <a:endParaRPr lang="en-IN" sz="800"/>
                    </a:p>
                  </a:txBody>
                  <a:tcPr marL="54983" marR="54983" marT="27491" marB="27491" anchor="ctr"/>
                </a:tc>
                <a:tc>
                  <a:txBody>
                    <a:bodyPr/>
                    <a:lstStyle/>
                    <a:p>
                      <a:pPr>
                        <a:buNone/>
                      </a:pPr>
                      <a:r>
                        <a:rPr lang="en-IN" sz="800"/>
                        <a:t>99.999999999%</a:t>
                      </a:r>
                    </a:p>
                  </a:txBody>
                  <a:tcPr marL="54983" marR="54983" marT="27491" marB="27491" anchor="ctr"/>
                </a:tc>
                <a:tc>
                  <a:txBody>
                    <a:bodyPr/>
                    <a:lstStyle/>
                    <a:p>
                      <a:pPr>
                        <a:buNone/>
                      </a:pPr>
                      <a:r>
                        <a:rPr lang="en-IN" sz="800"/>
                        <a:t>99.99%</a:t>
                      </a:r>
                    </a:p>
                  </a:txBody>
                  <a:tcPr marL="54983" marR="54983" marT="27491" marB="27491" anchor="ctr"/>
                </a:tc>
                <a:tc>
                  <a:txBody>
                    <a:bodyPr/>
                    <a:lstStyle/>
                    <a:p>
                      <a:pPr>
                        <a:buNone/>
                      </a:pPr>
                      <a:r>
                        <a:rPr lang="en-IN" sz="800"/>
                        <a:t>Milliseconds</a:t>
                      </a:r>
                    </a:p>
                  </a:txBody>
                  <a:tcPr marL="54983" marR="54983" marT="27491" marB="27491" anchor="ctr"/>
                </a:tc>
                <a:tc>
                  <a:txBody>
                    <a:bodyPr/>
                    <a:lstStyle/>
                    <a:p>
                      <a:pPr>
                        <a:buNone/>
                      </a:pPr>
                      <a:r>
                        <a:rPr lang="en-IN" sz="800"/>
                        <a:t>High</a:t>
                      </a:r>
                    </a:p>
                  </a:txBody>
                  <a:tcPr marL="54983" marR="54983" marT="27491" marB="27491" anchor="ctr"/>
                </a:tc>
                <a:tc>
                  <a:txBody>
                    <a:bodyPr/>
                    <a:lstStyle/>
                    <a:p>
                      <a:pPr>
                        <a:buNone/>
                      </a:pPr>
                      <a:r>
                        <a:rPr lang="en-IN" sz="800"/>
                        <a:t>Frequently accessed data</a:t>
                      </a:r>
                    </a:p>
                  </a:txBody>
                  <a:tcPr marL="54983" marR="54983" marT="27491" marB="27491" anchor="ctr"/>
                </a:tc>
                <a:extLst>
                  <a:ext uri="{0D108BD9-81ED-4DB2-BD59-A6C34878D82A}">
                    <a16:rowId xmlns:a16="http://schemas.microsoft.com/office/drawing/2014/main" val="2478608420"/>
                  </a:ext>
                </a:extLst>
              </a:tr>
              <a:tr h="311569">
                <a:tc>
                  <a:txBody>
                    <a:bodyPr/>
                    <a:lstStyle/>
                    <a:p>
                      <a:pPr>
                        <a:buNone/>
                      </a:pPr>
                      <a:r>
                        <a:rPr lang="en-IN" sz="800" b="1"/>
                        <a:t>S3 Standard-IA</a:t>
                      </a:r>
                      <a:endParaRPr lang="en-IN" sz="800"/>
                    </a:p>
                  </a:txBody>
                  <a:tcPr marL="54983" marR="54983" marT="27491" marB="27491" anchor="ctr"/>
                </a:tc>
                <a:tc>
                  <a:txBody>
                    <a:bodyPr/>
                    <a:lstStyle/>
                    <a:p>
                      <a:pPr>
                        <a:buNone/>
                      </a:pPr>
                      <a:r>
                        <a:rPr lang="en-IN" sz="800"/>
                        <a:t>99.999999999%</a:t>
                      </a:r>
                    </a:p>
                  </a:txBody>
                  <a:tcPr marL="54983" marR="54983" marT="27491" marB="27491" anchor="ctr"/>
                </a:tc>
                <a:tc>
                  <a:txBody>
                    <a:bodyPr/>
                    <a:lstStyle/>
                    <a:p>
                      <a:pPr>
                        <a:buNone/>
                      </a:pPr>
                      <a:r>
                        <a:rPr lang="en-IN" sz="800"/>
                        <a:t>99.9%</a:t>
                      </a:r>
                    </a:p>
                  </a:txBody>
                  <a:tcPr marL="54983" marR="54983" marT="27491" marB="27491" anchor="ctr"/>
                </a:tc>
                <a:tc>
                  <a:txBody>
                    <a:bodyPr/>
                    <a:lstStyle/>
                    <a:p>
                      <a:pPr>
                        <a:buNone/>
                      </a:pPr>
                      <a:r>
                        <a:rPr lang="en-IN" sz="800"/>
                        <a:t>Milliseconds</a:t>
                      </a:r>
                    </a:p>
                  </a:txBody>
                  <a:tcPr marL="54983" marR="54983" marT="27491" marB="27491" anchor="ctr"/>
                </a:tc>
                <a:tc>
                  <a:txBody>
                    <a:bodyPr/>
                    <a:lstStyle/>
                    <a:p>
                      <a:pPr>
                        <a:buNone/>
                      </a:pPr>
                      <a:r>
                        <a:rPr lang="en-IN" sz="800"/>
                        <a:t>Lower</a:t>
                      </a:r>
                    </a:p>
                  </a:txBody>
                  <a:tcPr marL="54983" marR="54983" marT="27491" marB="27491" anchor="ctr"/>
                </a:tc>
                <a:tc>
                  <a:txBody>
                    <a:bodyPr/>
                    <a:lstStyle/>
                    <a:p>
                      <a:pPr>
                        <a:buNone/>
                      </a:pPr>
                      <a:r>
                        <a:rPr lang="en-IN" sz="800"/>
                        <a:t>Infrequent but critical data</a:t>
                      </a:r>
                    </a:p>
                  </a:txBody>
                  <a:tcPr marL="54983" marR="54983" marT="27491" marB="27491" anchor="ctr"/>
                </a:tc>
                <a:extLst>
                  <a:ext uri="{0D108BD9-81ED-4DB2-BD59-A6C34878D82A}">
                    <a16:rowId xmlns:a16="http://schemas.microsoft.com/office/drawing/2014/main" val="4099456548"/>
                  </a:ext>
                </a:extLst>
              </a:tr>
              <a:tr h="439862">
                <a:tc>
                  <a:txBody>
                    <a:bodyPr/>
                    <a:lstStyle/>
                    <a:p>
                      <a:pPr>
                        <a:buNone/>
                      </a:pPr>
                      <a:r>
                        <a:rPr lang="en-IN" sz="800" b="1"/>
                        <a:t>S3 One Zone-IA</a:t>
                      </a:r>
                      <a:endParaRPr lang="en-IN" sz="800"/>
                    </a:p>
                  </a:txBody>
                  <a:tcPr marL="54983" marR="54983" marT="27491" marB="27491" anchor="ctr"/>
                </a:tc>
                <a:tc>
                  <a:txBody>
                    <a:bodyPr/>
                    <a:lstStyle/>
                    <a:p>
                      <a:pPr>
                        <a:buNone/>
                      </a:pPr>
                      <a:r>
                        <a:rPr lang="en-IN" sz="800"/>
                        <a:t>99.999999999%</a:t>
                      </a:r>
                    </a:p>
                  </a:txBody>
                  <a:tcPr marL="54983" marR="54983" marT="27491" marB="27491" anchor="ctr"/>
                </a:tc>
                <a:tc>
                  <a:txBody>
                    <a:bodyPr/>
                    <a:lstStyle/>
                    <a:p>
                      <a:pPr>
                        <a:buNone/>
                      </a:pPr>
                      <a:r>
                        <a:rPr lang="en-IN" sz="800"/>
                        <a:t>99.5%</a:t>
                      </a:r>
                    </a:p>
                  </a:txBody>
                  <a:tcPr marL="54983" marR="54983" marT="27491" marB="27491" anchor="ctr"/>
                </a:tc>
                <a:tc>
                  <a:txBody>
                    <a:bodyPr/>
                    <a:lstStyle/>
                    <a:p>
                      <a:pPr>
                        <a:buNone/>
                      </a:pPr>
                      <a:r>
                        <a:rPr lang="en-IN" sz="800"/>
                        <a:t>Milliseconds</a:t>
                      </a:r>
                    </a:p>
                  </a:txBody>
                  <a:tcPr marL="54983" marR="54983" marT="27491" marB="27491" anchor="ctr"/>
                </a:tc>
                <a:tc>
                  <a:txBody>
                    <a:bodyPr/>
                    <a:lstStyle/>
                    <a:p>
                      <a:pPr>
                        <a:buNone/>
                      </a:pPr>
                      <a:r>
                        <a:rPr lang="en-IN" sz="800"/>
                        <a:t>Lower</a:t>
                      </a:r>
                    </a:p>
                  </a:txBody>
                  <a:tcPr marL="54983" marR="54983" marT="27491" marB="27491" anchor="ctr"/>
                </a:tc>
                <a:tc>
                  <a:txBody>
                    <a:bodyPr/>
                    <a:lstStyle/>
                    <a:p>
                      <a:pPr>
                        <a:buNone/>
                      </a:pPr>
                      <a:r>
                        <a:rPr lang="en-IN" sz="800"/>
                        <a:t>Infrequent data, non-critical</a:t>
                      </a:r>
                    </a:p>
                  </a:txBody>
                  <a:tcPr marL="54983" marR="54983" marT="27491" marB="27491" anchor="ctr"/>
                </a:tc>
                <a:extLst>
                  <a:ext uri="{0D108BD9-81ED-4DB2-BD59-A6C34878D82A}">
                    <a16:rowId xmlns:a16="http://schemas.microsoft.com/office/drawing/2014/main" val="33432953"/>
                  </a:ext>
                </a:extLst>
              </a:tr>
              <a:tr h="311569">
                <a:tc>
                  <a:txBody>
                    <a:bodyPr/>
                    <a:lstStyle/>
                    <a:p>
                      <a:pPr>
                        <a:buNone/>
                      </a:pPr>
                      <a:r>
                        <a:rPr lang="en-IN" sz="800" b="1"/>
                        <a:t>S3 Glacier Instant</a:t>
                      </a:r>
                      <a:endParaRPr lang="en-IN" sz="800"/>
                    </a:p>
                  </a:txBody>
                  <a:tcPr marL="54983" marR="54983" marT="27491" marB="27491" anchor="ctr"/>
                </a:tc>
                <a:tc>
                  <a:txBody>
                    <a:bodyPr/>
                    <a:lstStyle/>
                    <a:p>
                      <a:pPr>
                        <a:buNone/>
                      </a:pPr>
                      <a:r>
                        <a:rPr lang="en-IN" sz="800"/>
                        <a:t>99.999999999%</a:t>
                      </a:r>
                    </a:p>
                  </a:txBody>
                  <a:tcPr marL="54983" marR="54983" marT="27491" marB="27491" anchor="ctr"/>
                </a:tc>
                <a:tc>
                  <a:txBody>
                    <a:bodyPr/>
                    <a:lstStyle/>
                    <a:p>
                      <a:pPr>
                        <a:buNone/>
                      </a:pPr>
                      <a:r>
                        <a:rPr lang="en-IN" sz="800"/>
                        <a:t>99.9%</a:t>
                      </a:r>
                    </a:p>
                  </a:txBody>
                  <a:tcPr marL="54983" marR="54983" marT="27491" marB="27491" anchor="ctr"/>
                </a:tc>
                <a:tc>
                  <a:txBody>
                    <a:bodyPr/>
                    <a:lstStyle/>
                    <a:p>
                      <a:pPr>
                        <a:buNone/>
                      </a:pPr>
                      <a:r>
                        <a:rPr lang="en-IN" sz="800"/>
                        <a:t>Milliseconds</a:t>
                      </a:r>
                    </a:p>
                  </a:txBody>
                  <a:tcPr marL="54983" marR="54983" marT="27491" marB="27491" anchor="ctr"/>
                </a:tc>
                <a:tc>
                  <a:txBody>
                    <a:bodyPr/>
                    <a:lstStyle/>
                    <a:p>
                      <a:pPr>
                        <a:buNone/>
                      </a:pPr>
                      <a:r>
                        <a:rPr lang="en-IN" sz="800"/>
                        <a:t>Low</a:t>
                      </a:r>
                    </a:p>
                  </a:txBody>
                  <a:tcPr marL="54983" marR="54983" marT="27491" marB="27491" anchor="ctr"/>
                </a:tc>
                <a:tc>
                  <a:txBody>
                    <a:bodyPr/>
                    <a:lstStyle/>
                    <a:p>
                      <a:pPr>
                        <a:buNone/>
                      </a:pPr>
                      <a:r>
                        <a:rPr lang="en-IN" sz="800"/>
                        <a:t>Archival with fast access</a:t>
                      </a:r>
                    </a:p>
                  </a:txBody>
                  <a:tcPr marL="54983" marR="54983" marT="27491" marB="27491" anchor="ctr"/>
                </a:tc>
                <a:extLst>
                  <a:ext uri="{0D108BD9-81ED-4DB2-BD59-A6C34878D82A}">
                    <a16:rowId xmlns:a16="http://schemas.microsoft.com/office/drawing/2014/main" val="1526999649"/>
                  </a:ext>
                </a:extLst>
              </a:tr>
              <a:tr h="311569">
                <a:tc>
                  <a:txBody>
                    <a:bodyPr/>
                    <a:lstStyle/>
                    <a:p>
                      <a:pPr>
                        <a:buNone/>
                      </a:pPr>
                      <a:r>
                        <a:rPr lang="en-IN" sz="800" b="1"/>
                        <a:t>S3 Glacier Flexible</a:t>
                      </a:r>
                      <a:endParaRPr lang="en-IN" sz="800"/>
                    </a:p>
                  </a:txBody>
                  <a:tcPr marL="54983" marR="54983" marT="27491" marB="27491" anchor="ctr"/>
                </a:tc>
                <a:tc>
                  <a:txBody>
                    <a:bodyPr/>
                    <a:lstStyle/>
                    <a:p>
                      <a:pPr>
                        <a:buNone/>
                      </a:pPr>
                      <a:r>
                        <a:rPr lang="en-IN" sz="800"/>
                        <a:t>99.999999999%</a:t>
                      </a:r>
                    </a:p>
                  </a:txBody>
                  <a:tcPr marL="54983" marR="54983" marT="27491" marB="27491" anchor="ctr"/>
                </a:tc>
                <a:tc>
                  <a:txBody>
                    <a:bodyPr/>
                    <a:lstStyle/>
                    <a:p>
                      <a:pPr>
                        <a:buNone/>
                      </a:pPr>
                      <a:r>
                        <a:rPr lang="en-IN" sz="800"/>
                        <a:t>99.99%</a:t>
                      </a:r>
                    </a:p>
                  </a:txBody>
                  <a:tcPr marL="54983" marR="54983" marT="27491" marB="27491" anchor="ctr"/>
                </a:tc>
                <a:tc>
                  <a:txBody>
                    <a:bodyPr/>
                    <a:lstStyle/>
                    <a:p>
                      <a:pPr>
                        <a:buNone/>
                      </a:pPr>
                      <a:r>
                        <a:rPr lang="en-IN" sz="800"/>
                        <a:t>Minutes to hours</a:t>
                      </a:r>
                    </a:p>
                  </a:txBody>
                  <a:tcPr marL="54983" marR="54983" marT="27491" marB="27491" anchor="ctr"/>
                </a:tc>
                <a:tc>
                  <a:txBody>
                    <a:bodyPr/>
                    <a:lstStyle/>
                    <a:p>
                      <a:pPr>
                        <a:buNone/>
                      </a:pPr>
                      <a:r>
                        <a:rPr lang="en-IN" sz="800"/>
                        <a:t>Very Low</a:t>
                      </a:r>
                    </a:p>
                  </a:txBody>
                  <a:tcPr marL="54983" marR="54983" marT="27491" marB="27491" anchor="ctr"/>
                </a:tc>
                <a:tc>
                  <a:txBody>
                    <a:bodyPr/>
                    <a:lstStyle/>
                    <a:p>
                      <a:pPr>
                        <a:buNone/>
                      </a:pPr>
                      <a:r>
                        <a:rPr lang="en-IN" sz="800"/>
                        <a:t>Long-term backups</a:t>
                      </a:r>
                    </a:p>
                  </a:txBody>
                  <a:tcPr marL="54983" marR="54983" marT="27491" marB="27491" anchor="ctr"/>
                </a:tc>
                <a:extLst>
                  <a:ext uri="{0D108BD9-81ED-4DB2-BD59-A6C34878D82A}">
                    <a16:rowId xmlns:a16="http://schemas.microsoft.com/office/drawing/2014/main" val="2263977775"/>
                  </a:ext>
                </a:extLst>
              </a:tr>
              <a:tr h="568155">
                <a:tc>
                  <a:txBody>
                    <a:bodyPr/>
                    <a:lstStyle/>
                    <a:p>
                      <a:pPr>
                        <a:buNone/>
                      </a:pPr>
                      <a:r>
                        <a:rPr lang="en-IN" sz="800" b="1"/>
                        <a:t>S3 Glacier Deep Archive</a:t>
                      </a:r>
                      <a:endParaRPr lang="en-IN" sz="800"/>
                    </a:p>
                  </a:txBody>
                  <a:tcPr marL="54983" marR="54983" marT="27491" marB="27491" anchor="ctr"/>
                </a:tc>
                <a:tc>
                  <a:txBody>
                    <a:bodyPr/>
                    <a:lstStyle/>
                    <a:p>
                      <a:pPr>
                        <a:buNone/>
                      </a:pPr>
                      <a:r>
                        <a:rPr lang="en-IN" sz="800"/>
                        <a:t>99.999999999%</a:t>
                      </a:r>
                    </a:p>
                  </a:txBody>
                  <a:tcPr marL="54983" marR="54983" marT="27491" marB="27491" anchor="ctr"/>
                </a:tc>
                <a:tc>
                  <a:txBody>
                    <a:bodyPr/>
                    <a:lstStyle/>
                    <a:p>
                      <a:pPr>
                        <a:buNone/>
                      </a:pPr>
                      <a:r>
                        <a:rPr lang="en-IN" sz="800"/>
                        <a:t>99.99%</a:t>
                      </a:r>
                    </a:p>
                  </a:txBody>
                  <a:tcPr marL="54983" marR="54983" marT="27491" marB="27491" anchor="ctr"/>
                </a:tc>
                <a:tc>
                  <a:txBody>
                    <a:bodyPr/>
                    <a:lstStyle/>
                    <a:p>
                      <a:pPr>
                        <a:buNone/>
                      </a:pPr>
                      <a:r>
                        <a:rPr lang="en-IN" sz="800"/>
                        <a:t>Up to 12 hours</a:t>
                      </a:r>
                    </a:p>
                  </a:txBody>
                  <a:tcPr marL="54983" marR="54983" marT="27491" marB="27491" anchor="ctr"/>
                </a:tc>
                <a:tc>
                  <a:txBody>
                    <a:bodyPr/>
                    <a:lstStyle/>
                    <a:p>
                      <a:pPr>
                        <a:buNone/>
                      </a:pPr>
                      <a:r>
                        <a:rPr lang="en-IN" sz="800"/>
                        <a:t>Lowest</a:t>
                      </a:r>
                    </a:p>
                  </a:txBody>
                  <a:tcPr marL="54983" marR="54983" marT="27491" marB="27491" anchor="ctr"/>
                </a:tc>
                <a:tc>
                  <a:txBody>
                    <a:bodyPr/>
                    <a:lstStyle/>
                    <a:p>
                      <a:pPr>
                        <a:buNone/>
                      </a:pPr>
                      <a:r>
                        <a:rPr lang="en-IN" sz="800"/>
                        <a:t>Compliance, rarely accessed data</a:t>
                      </a:r>
                    </a:p>
                  </a:txBody>
                  <a:tcPr marL="54983" marR="54983" marT="27491" marB="27491" anchor="ctr"/>
                </a:tc>
                <a:extLst>
                  <a:ext uri="{0D108BD9-81ED-4DB2-BD59-A6C34878D82A}">
                    <a16:rowId xmlns:a16="http://schemas.microsoft.com/office/drawing/2014/main" val="3918597038"/>
                  </a:ext>
                </a:extLst>
              </a:tr>
              <a:tr h="568155">
                <a:tc>
                  <a:txBody>
                    <a:bodyPr/>
                    <a:lstStyle/>
                    <a:p>
                      <a:pPr>
                        <a:buNone/>
                      </a:pPr>
                      <a:r>
                        <a:rPr lang="en-IN" sz="800" b="1"/>
                        <a:t>S3 Express One Zone</a:t>
                      </a:r>
                      <a:endParaRPr lang="en-IN" sz="800"/>
                    </a:p>
                  </a:txBody>
                  <a:tcPr marL="54983" marR="54983" marT="27491" marB="27491" anchor="ctr"/>
                </a:tc>
                <a:tc>
                  <a:txBody>
                    <a:bodyPr/>
                    <a:lstStyle/>
                    <a:p>
                      <a:pPr>
                        <a:buNone/>
                      </a:pPr>
                      <a:r>
                        <a:rPr lang="en-IN" sz="800"/>
                        <a:t>99.999999999%</a:t>
                      </a:r>
                    </a:p>
                  </a:txBody>
                  <a:tcPr marL="54983" marR="54983" marT="27491" marB="27491" anchor="ctr"/>
                </a:tc>
                <a:tc>
                  <a:txBody>
                    <a:bodyPr/>
                    <a:lstStyle/>
                    <a:p>
                      <a:pPr>
                        <a:buNone/>
                      </a:pPr>
                      <a:r>
                        <a:rPr lang="en-IN" sz="800"/>
                        <a:t>Zonal</a:t>
                      </a:r>
                    </a:p>
                  </a:txBody>
                  <a:tcPr marL="54983" marR="54983" marT="27491" marB="27491" anchor="ctr"/>
                </a:tc>
                <a:tc>
                  <a:txBody>
                    <a:bodyPr/>
                    <a:lstStyle/>
                    <a:p>
                      <a:pPr>
                        <a:buNone/>
                      </a:pPr>
                      <a:r>
                        <a:rPr lang="en-IN" sz="800"/>
                        <a:t>Milliseconds</a:t>
                      </a:r>
                    </a:p>
                  </a:txBody>
                  <a:tcPr marL="54983" marR="54983" marT="27491" marB="27491" anchor="ctr"/>
                </a:tc>
                <a:tc>
                  <a:txBody>
                    <a:bodyPr/>
                    <a:lstStyle/>
                    <a:p>
                      <a:pPr>
                        <a:buNone/>
                      </a:pPr>
                      <a:r>
                        <a:rPr lang="en-IN" sz="800"/>
                        <a:t>Premium</a:t>
                      </a:r>
                    </a:p>
                  </a:txBody>
                  <a:tcPr marL="54983" marR="54983" marT="27491" marB="27491" anchor="ctr"/>
                </a:tc>
                <a:tc>
                  <a:txBody>
                    <a:bodyPr/>
                    <a:lstStyle/>
                    <a:p>
                      <a:pPr>
                        <a:buNone/>
                      </a:pPr>
                      <a:r>
                        <a:rPr lang="en-IN" sz="800"/>
                        <a:t>Ultra-low latency, high-frequency access</a:t>
                      </a:r>
                    </a:p>
                  </a:txBody>
                  <a:tcPr marL="54983" marR="54983" marT="27491" marB="27491" anchor="ctr"/>
                </a:tc>
                <a:extLst>
                  <a:ext uri="{0D108BD9-81ED-4DB2-BD59-A6C34878D82A}">
                    <a16:rowId xmlns:a16="http://schemas.microsoft.com/office/drawing/2014/main" val="3624824715"/>
                  </a:ext>
                </a:extLst>
              </a:tr>
            </a:tbl>
          </a:graphicData>
        </a:graphic>
      </p:graphicFrame>
    </p:spTree>
    <p:extLst>
      <p:ext uri="{BB962C8B-B14F-4D97-AF65-F5344CB8AC3E}">
        <p14:creationId xmlns:p14="http://schemas.microsoft.com/office/powerpoint/2010/main" val="4210471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3">
          <a:extLst>
            <a:ext uri="{FF2B5EF4-FFF2-40B4-BE49-F238E27FC236}">
              <a16:creationId xmlns:a16="http://schemas.microsoft.com/office/drawing/2014/main" id="{DC1601C6-E5F1-8AAD-DEE3-A17B24530905}"/>
            </a:ext>
          </a:extLst>
        </p:cNvPr>
        <p:cNvGrpSpPr/>
        <p:nvPr/>
      </p:nvGrpSpPr>
      <p:grpSpPr>
        <a:xfrm>
          <a:off x="0" y="0"/>
          <a:ext cx="0" cy="0"/>
          <a:chOff x="0" y="0"/>
          <a:chExt cx="0" cy="0"/>
        </a:xfrm>
      </p:grpSpPr>
      <p:sp>
        <p:nvSpPr>
          <p:cNvPr id="904" name="Google Shape;904;p63">
            <a:extLst>
              <a:ext uri="{FF2B5EF4-FFF2-40B4-BE49-F238E27FC236}">
                <a16:creationId xmlns:a16="http://schemas.microsoft.com/office/drawing/2014/main" id="{410529FF-46B9-CF5C-9BD0-1FA16FA86AA2}"/>
              </a:ext>
            </a:extLst>
          </p:cNvPr>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14</a:t>
            </a:fld>
            <a:endParaRPr sz="900">
              <a:latin typeface="Proxima Nova"/>
              <a:ea typeface="Proxima Nova"/>
              <a:cs typeface="Proxima Nova"/>
              <a:sym typeface="Proxima Nova"/>
            </a:endParaRPr>
          </a:p>
        </p:txBody>
      </p:sp>
      <p:sp>
        <p:nvSpPr>
          <p:cNvPr id="905" name="Google Shape;905;p63">
            <a:extLst>
              <a:ext uri="{FF2B5EF4-FFF2-40B4-BE49-F238E27FC236}">
                <a16:creationId xmlns:a16="http://schemas.microsoft.com/office/drawing/2014/main" id="{286FB24B-8598-7744-024B-FC537E0A0377}"/>
              </a:ext>
            </a:extLst>
          </p:cNvPr>
          <p:cNvSpPr txBox="1"/>
          <p:nvPr/>
        </p:nvSpPr>
        <p:spPr>
          <a:xfrm>
            <a:off x="2355788" y="2310144"/>
            <a:ext cx="4432500" cy="5232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1100"/>
              <a:buNone/>
            </a:pPr>
            <a:r>
              <a:rPr lang="en-IN" sz="2800">
                <a:solidFill>
                  <a:schemeClr val="lt1"/>
                </a:solidFill>
                <a:latin typeface="Calibri"/>
                <a:ea typeface="Calibri"/>
                <a:cs typeface="Calibri"/>
                <a:sym typeface="Calibri"/>
              </a:rPr>
              <a:t>Poll Questions</a:t>
            </a:r>
            <a:endParaRPr sz="280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1945408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A5737AB1-CA09-DB4D-293A-0EF65BC87466}"/>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100B6F9E-2E30-53DF-1EC8-00FDF271CA36}"/>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15</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F4E9CE90-CD45-9F81-1458-C4D6358FB988}"/>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a:t>A tech company's developer team A has set up a application on an EC2 instance with an EBS volume attached in us-west-1a for the application to store data. After terminating the EC2 instances, the corresponding EBS volume is now available. Another team say team B attempts to attach it to an EC2 instance running in us-west-1b but is unsuccessful. What is the likely reason of this?</a:t>
            </a:r>
          </a:p>
          <a:p>
            <a:pPr marL="228600" indent="0" algn="l"/>
            <a:endParaRPr lang="en-US" sz="1400" b="1"/>
          </a:p>
          <a:p>
            <a:pPr marL="571500" indent="-342900" algn="l">
              <a:buFont typeface="+mj-lt"/>
              <a:buAutoNum type="alphaUcPeriod"/>
            </a:pPr>
            <a:r>
              <a:rPr lang="en-US" sz="1400"/>
              <a:t>The team B does not have the necessary IAM permissions to attach the EBS volume.</a:t>
            </a:r>
          </a:p>
          <a:p>
            <a:pPr marL="571500" indent="-342900" algn="l">
              <a:buFont typeface="+mj-lt"/>
              <a:buAutoNum type="alphaUcPeriod"/>
            </a:pPr>
            <a:r>
              <a:rPr lang="en-US" sz="1400"/>
              <a:t>EBS volumes are restricted to an AWS Region.</a:t>
            </a:r>
          </a:p>
          <a:p>
            <a:pPr marL="571500" indent="-342900" algn="l">
              <a:buFont typeface="+mj-lt"/>
              <a:buAutoNum type="alphaUcPeriod"/>
            </a:pPr>
            <a:r>
              <a:rPr lang="en-US" sz="1400"/>
              <a:t>EBS volumes are locked to an Availability zone</a:t>
            </a:r>
          </a:p>
          <a:p>
            <a:pPr marL="571500" indent="-342900" algn="l">
              <a:buFont typeface="+mj-lt"/>
              <a:buAutoNum type="alphaUcPeriod"/>
            </a:pPr>
            <a:r>
              <a:rPr lang="en-US" sz="1400"/>
              <a:t>EBS volume was restricted to an EC2 instance and cannot be reused</a:t>
            </a:r>
          </a:p>
          <a:p>
            <a:pPr marL="571500" indent="-342900" algn="l">
              <a:buFont typeface="+mj-lt"/>
              <a:buAutoNum type="alphaUcPeriod"/>
            </a:pPr>
            <a:endParaRPr lang="en-US" sz="1400"/>
          </a:p>
          <a:p>
            <a:pPr marL="571500" indent="-342900" algn="l">
              <a:buFont typeface="+mj-lt"/>
              <a:buAutoNum type="alphaUcPeriod"/>
            </a:pPr>
            <a:endParaRPr lang="en-US" sz="1400"/>
          </a:p>
        </p:txBody>
      </p:sp>
      <p:sp>
        <p:nvSpPr>
          <p:cNvPr id="646" name="Google Shape;646;p37">
            <a:extLst>
              <a:ext uri="{FF2B5EF4-FFF2-40B4-BE49-F238E27FC236}">
                <a16:creationId xmlns:a16="http://schemas.microsoft.com/office/drawing/2014/main" id="{D28893CF-C921-894E-683A-CC3168B392F5}"/>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1</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50292832-D659-C32A-A22C-062823F0D574}"/>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016EF668-5AC9-456C-C46D-2AC517AF5413}"/>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455541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34513A05-1BE7-875E-BE00-170E15B20D24}"/>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1A3286EC-9546-5AFE-9D2F-3F2D29F099D0}"/>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16</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54647ED5-60AF-7F56-CC7C-4DE721AEC021}"/>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a:t>A tech company's developer team A has set up a application on an EC2 instance with an EBS volume attached in us-west-1a for the application to store data. After terminating the EC2 instances, the corresponding EBS volume is now available. Another team say team B attempts to attach it to an EC2 instance running in us-west-1b but is unsuccessful. What is the likely reason of this?</a:t>
            </a:r>
          </a:p>
          <a:p>
            <a:pPr marL="228600" indent="0" algn="l"/>
            <a:endParaRPr lang="en-US" sz="1400" b="1"/>
          </a:p>
          <a:p>
            <a:pPr marL="571500" indent="-342900" algn="l">
              <a:buFont typeface="+mj-lt"/>
              <a:buAutoNum type="alphaUcPeriod"/>
            </a:pPr>
            <a:r>
              <a:rPr lang="en-US" sz="1400"/>
              <a:t>The team B does not have the necessary IAM permissions to attach the EBS volume.</a:t>
            </a:r>
          </a:p>
          <a:p>
            <a:pPr marL="571500" indent="-342900" algn="l">
              <a:buFont typeface="+mj-lt"/>
              <a:buAutoNum type="alphaUcPeriod"/>
            </a:pPr>
            <a:r>
              <a:rPr lang="en-US" sz="1400"/>
              <a:t>EBS volumes are restricted to an AWS Region.</a:t>
            </a:r>
          </a:p>
          <a:p>
            <a:pPr marL="571500" indent="-342900" algn="l">
              <a:buFont typeface="+mj-lt"/>
              <a:buAutoNum type="alphaUcPeriod"/>
            </a:pPr>
            <a:r>
              <a:rPr lang="en-US" sz="1400" b="1"/>
              <a:t>EBS volumes are locked to an Availability zone</a:t>
            </a:r>
          </a:p>
          <a:p>
            <a:pPr marL="571500" indent="-342900" algn="l">
              <a:buFont typeface="+mj-lt"/>
              <a:buAutoNum type="alphaUcPeriod"/>
            </a:pPr>
            <a:r>
              <a:rPr lang="en-US" sz="1400"/>
              <a:t>EBS volume was restricted to an EC2 instance and cannot be reused</a:t>
            </a:r>
          </a:p>
          <a:p>
            <a:pPr marL="571500" indent="-342900" algn="l">
              <a:buFont typeface="+mj-lt"/>
              <a:buAutoNum type="alphaUcPeriod"/>
            </a:pPr>
            <a:endParaRPr lang="en-US" sz="1400"/>
          </a:p>
          <a:p>
            <a:pPr marL="571500" indent="-342900" algn="l">
              <a:buFont typeface="+mj-lt"/>
              <a:buAutoNum type="alphaUcPeriod"/>
            </a:pPr>
            <a:endParaRPr lang="en-US" sz="1400"/>
          </a:p>
        </p:txBody>
      </p:sp>
      <p:sp>
        <p:nvSpPr>
          <p:cNvPr id="646" name="Google Shape;646;p37">
            <a:extLst>
              <a:ext uri="{FF2B5EF4-FFF2-40B4-BE49-F238E27FC236}">
                <a16:creationId xmlns:a16="http://schemas.microsoft.com/office/drawing/2014/main" id="{1423BFB6-47CD-6C6F-A672-7F302D6C7709}"/>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1</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1499FD0A-DD28-06F8-799D-F7C4FC10F278}"/>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9BF92399-09FC-1EAD-D656-048E5E1A24E9}"/>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660423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DE35F839-6576-6527-C71E-6F643E175358}"/>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79EFCC38-4116-44F4-22CA-72219319361B}"/>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17</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962B55A5-2916-191A-550F-AE977DFD72D3}"/>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a:t>A tech company's developer team A has set up a application on an EC2 instance with an EBS volume attached in us-west-1a for the application to store data. After terminating the EC2 instances, the corresponding EBS volume is now available. Another team say team B attempts to attach it to an EC2 instance running in us-west-1b but is unsuccessful. What is the likely reason of this?</a:t>
            </a:r>
          </a:p>
          <a:p>
            <a:pPr marL="228600" indent="0" algn="l"/>
            <a:endParaRPr lang="en-US" sz="1400" b="1"/>
          </a:p>
          <a:p>
            <a:pPr marL="571500" indent="-342900" algn="l">
              <a:buFont typeface="+mj-lt"/>
              <a:buAutoNum type="alphaUcPeriod"/>
            </a:pPr>
            <a:r>
              <a:rPr lang="en-US" sz="1400"/>
              <a:t>The team B does not have the necessary IAM permissions to attach the EBS volume.</a:t>
            </a:r>
          </a:p>
          <a:p>
            <a:pPr marL="571500" indent="-342900" algn="l">
              <a:buFont typeface="+mj-lt"/>
              <a:buAutoNum type="alphaUcPeriod"/>
            </a:pPr>
            <a:r>
              <a:rPr lang="en-US" sz="1400"/>
              <a:t>EBS volumes are restricted to an AWS Region.</a:t>
            </a:r>
          </a:p>
          <a:p>
            <a:pPr marL="571500" indent="-342900" algn="l">
              <a:buFont typeface="+mj-lt"/>
              <a:buAutoNum type="alphaUcPeriod"/>
            </a:pPr>
            <a:r>
              <a:rPr lang="en-US" sz="1400"/>
              <a:t>EBS volumes are locked to an Availability zone</a:t>
            </a:r>
          </a:p>
          <a:p>
            <a:pPr marL="571500" indent="-342900" algn="l">
              <a:buFont typeface="+mj-lt"/>
              <a:buAutoNum type="alphaUcPeriod"/>
            </a:pPr>
            <a:r>
              <a:rPr lang="en-US" sz="1400"/>
              <a:t>EBS volume was restricted to an EC2 instance and cannot be reused</a:t>
            </a:r>
          </a:p>
          <a:p>
            <a:pPr marL="571500" indent="-342900" algn="l">
              <a:buFont typeface="+mj-lt"/>
              <a:buAutoNum type="alphaUcPeriod"/>
            </a:pPr>
            <a:endParaRPr lang="en-US" sz="1400"/>
          </a:p>
          <a:p>
            <a:pPr marL="571500" indent="-342900" algn="l">
              <a:buFont typeface="+mj-lt"/>
              <a:buAutoNum type="alphaUcPeriod"/>
            </a:pPr>
            <a:endParaRPr lang="en-US" sz="1400"/>
          </a:p>
        </p:txBody>
      </p:sp>
      <p:sp>
        <p:nvSpPr>
          <p:cNvPr id="646" name="Google Shape;646;p37">
            <a:extLst>
              <a:ext uri="{FF2B5EF4-FFF2-40B4-BE49-F238E27FC236}">
                <a16:creationId xmlns:a16="http://schemas.microsoft.com/office/drawing/2014/main" id="{93500400-ECC4-500B-B137-BAD081C05ECB}"/>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1</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29BF815D-665B-29BE-7758-0EB86B6194F9}"/>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80221278-0243-AE8A-40C5-EB24947FE91B}"/>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219902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466AB8C1-DDB7-5448-4C3A-EABC7AC6AEBF}"/>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B6B1D185-DCE3-9AAE-6DDB-8C4C92C783F6}"/>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18</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E940845D-A2CD-4226-2404-EBF14254678B}"/>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a:t>A tech company's developer team A has set up a application on an EC2 instance with an EBS volume attached in us-west-1a for the application to store data. After terminating the EC2 instances, the corresponding EBS volume is now available. Another team say team B attempts to attach it to an EC2 instance running in us-west-1b but is unsuccessful. What is the likely reason of this?</a:t>
            </a:r>
          </a:p>
          <a:p>
            <a:pPr marL="228600" indent="0" algn="l"/>
            <a:endParaRPr lang="en-US" sz="1400" b="1"/>
          </a:p>
          <a:p>
            <a:pPr marL="571500" indent="-342900" algn="l">
              <a:buFont typeface="+mj-lt"/>
              <a:buAutoNum type="alphaUcPeriod"/>
            </a:pPr>
            <a:r>
              <a:rPr lang="en-US" sz="1400"/>
              <a:t>The team B does not have the necessary IAM permissions to attach the EBS volume.</a:t>
            </a:r>
          </a:p>
          <a:p>
            <a:pPr marL="571500" indent="-342900" algn="l">
              <a:buFont typeface="+mj-lt"/>
              <a:buAutoNum type="alphaUcPeriod"/>
            </a:pPr>
            <a:r>
              <a:rPr lang="en-US" sz="1400"/>
              <a:t>EBS volumes are restricted to an AWS Region.</a:t>
            </a:r>
          </a:p>
          <a:p>
            <a:pPr marL="571500" indent="-342900" algn="l">
              <a:buFont typeface="+mj-lt"/>
              <a:buAutoNum type="alphaUcPeriod"/>
            </a:pPr>
            <a:r>
              <a:rPr lang="en-US" sz="1400" b="1"/>
              <a:t>EBS volumes are locked to an Availability zone</a:t>
            </a:r>
          </a:p>
          <a:p>
            <a:pPr marL="571500" indent="-342900" algn="l">
              <a:buFont typeface="+mj-lt"/>
              <a:buAutoNum type="alphaUcPeriod"/>
            </a:pPr>
            <a:r>
              <a:rPr lang="en-US" sz="1400"/>
              <a:t>EBS volume was restricted to an EC2 instance and cannot be reused</a:t>
            </a:r>
          </a:p>
          <a:p>
            <a:pPr marL="571500" indent="-342900" algn="l">
              <a:buFont typeface="+mj-lt"/>
              <a:buAutoNum type="alphaUcPeriod"/>
            </a:pPr>
            <a:endParaRPr lang="en-US" sz="1400"/>
          </a:p>
          <a:p>
            <a:pPr marL="571500" indent="-342900" algn="l">
              <a:buFont typeface="+mj-lt"/>
              <a:buAutoNum type="alphaUcPeriod"/>
            </a:pPr>
            <a:endParaRPr lang="en-US" sz="1400"/>
          </a:p>
        </p:txBody>
      </p:sp>
      <p:sp>
        <p:nvSpPr>
          <p:cNvPr id="646" name="Google Shape;646;p37">
            <a:extLst>
              <a:ext uri="{FF2B5EF4-FFF2-40B4-BE49-F238E27FC236}">
                <a16:creationId xmlns:a16="http://schemas.microsoft.com/office/drawing/2014/main" id="{171AFE9C-BDA4-74A1-13D3-0A4C019C0D73}"/>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1</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AF4BCC40-B9F8-DAAF-B314-CFDA21BE6C9B}"/>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9241D362-2BB6-E427-B21F-0D275F73B220}"/>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740094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F6BC978F-C877-986E-0A66-1AAED99A8534}"/>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151697DF-4715-F3AA-2C3E-A917D5C2DC50}"/>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19</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4141782D-8C26-6D1D-00AA-EEFE5481AD7B}"/>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a:t>A tech company's developer team A has set up a application on an EC2 instance with an EBS volume attached in us-west-1a for the application to store data. After terminating the EC2 instances, the corresponding EBS volume is now available. Another team say team B attempts to attach it to an EC2 instance running in us-west-1b but is unsuccessful. What is the likely reason of this?</a:t>
            </a:r>
          </a:p>
          <a:p>
            <a:pPr marL="228600" indent="0" algn="l"/>
            <a:endParaRPr lang="en-US" sz="1400" b="1"/>
          </a:p>
          <a:p>
            <a:pPr marL="571500" indent="-342900" algn="l">
              <a:buFont typeface="+mj-lt"/>
              <a:buAutoNum type="alphaUcPeriod"/>
            </a:pPr>
            <a:r>
              <a:rPr lang="en-US" sz="1400"/>
              <a:t>The team B does not have the necessary IAM permissions to attach the EBS volume.</a:t>
            </a:r>
          </a:p>
          <a:p>
            <a:pPr marL="571500" indent="-342900" algn="l">
              <a:buFont typeface="+mj-lt"/>
              <a:buAutoNum type="alphaUcPeriod"/>
            </a:pPr>
            <a:r>
              <a:rPr lang="en-US" sz="1400"/>
              <a:t>EBS volumes are restricted to an AWS Region.</a:t>
            </a:r>
          </a:p>
          <a:p>
            <a:pPr marL="571500" indent="-342900" algn="l">
              <a:buFont typeface="+mj-lt"/>
              <a:buAutoNum type="alphaUcPeriod"/>
            </a:pPr>
            <a:r>
              <a:rPr lang="en-US" sz="1400"/>
              <a:t>EBS volumes are locked to an Availability zone</a:t>
            </a:r>
          </a:p>
          <a:p>
            <a:pPr marL="571500" indent="-342900" algn="l">
              <a:buFont typeface="+mj-lt"/>
              <a:buAutoNum type="alphaUcPeriod"/>
            </a:pPr>
            <a:r>
              <a:rPr lang="en-US" sz="1400"/>
              <a:t>EBS volume was restricted to an EC2 instance and cannot be reused</a:t>
            </a:r>
          </a:p>
          <a:p>
            <a:pPr marL="571500" indent="-342900" algn="l">
              <a:buFont typeface="+mj-lt"/>
              <a:buAutoNum type="alphaUcPeriod"/>
            </a:pPr>
            <a:endParaRPr lang="en-US" sz="1400"/>
          </a:p>
          <a:p>
            <a:pPr marL="571500" indent="-342900" algn="l">
              <a:buFont typeface="+mj-lt"/>
              <a:buAutoNum type="alphaUcPeriod"/>
            </a:pPr>
            <a:endParaRPr lang="en-US" sz="1400"/>
          </a:p>
        </p:txBody>
      </p:sp>
      <p:sp>
        <p:nvSpPr>
          <p:cNvPr id="646" name="Google Shape;646;p37">
            <a:extLst>
              <a:ext uri="{FF2B5EF4-FFF2-40B4-BE49-F238E27FC236}">
                <a16:creationId xmlns:a16="http://schemas.microsoft.com/office/drawing/2014/main" id="{2DE7F7CA-87ED-C185-8C23-80D20AA7EA21}"/>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1</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9CBFB129-4AA2-5834-6A25-2DCE4E4CB500}"/>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F32A2E3A-D049-ADBC-14CA-86494C0EE1BE}"/>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926705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1D4BFFF8-D8C1-8B40-7EE9-59EDAA9180C8}"/>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AC042555-4218-7626-20DC-A8D1890B1305}"/>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20</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D529E78F-CAA2-18AB-6EC7-F6B89538F447}"/>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a:t>A tech company's developer team A has set up a application on an EC2 instance with an EBS volume attached in us-west-1a for the application to store data. After terminating the EC2 instances, the corresponding EBS volume is now available. Another team say team B attempts to attach it to an EC2 instance running in us-west-1b but is unsuccessful. What is the likely reason of this?</a:t>
            </a:r>
          </a:p>
          <a:p>
            <a:pPr marL="228600" indent="0" algn="l"/>
            <a:endParaRPr lang="en-US" sz="1400" b="1"/>
          </a:p>
          <a:p>
            <a:pPr marL="571500" indent="-342900" algn="l">
              <a:buFont typeface="+mj-lt"/>
              <a:buAutoNum type="alphaUcPeriod"/>
            </a:pPr>
            <a:r>
              <a:rPr lang="en-US" sz="1400"/>
              <a:t>The team B does not have the necessary IAM permissions to attach the EBS volume.</a:t>
            </a:r>
          </a:p>
          <a:p>
            <a:pPr marL="571500" indent="-342900" algn="l">
              <a:buFont typeface="+mj-lt"/>
              <a:buAutoNum type="alphaUcPeriod"/>
            </a:pPr>
            <a:r>
              <a:rPr lang="en-US" sz="1400"/>
              <a:t>EBS volumes are restricted to an AWS Region.</a:t>
            </a:r>
          </a:p>
          <a:p>
            <a:pPr marL="571500" indent="-342900" algn="l">
              <a:buFont typeface="+mj-lt"/>
              <a:buAutoNum type="alphaUcPeriod"/>
            </a:pPr>
            <a:r>
              <a:rPr lang="en-US" sz="1400" b="1"/>
              <a:t>EBS volumes are locked to an Availability zone</a:t>
            </a:r>
          </a:p>
          <a:p>
            <a:pPr marL="571500" indent="-342900" algn="l">
              <a:buFont typeface="+mj-lt"/>
              <a:buAutoNum type="alphaUcPeriod"/>
            </a:pPr>
            <a:r>
              <a:rPr lang="en-US" sz="1400"/>
              <a:t>EBS volume was restricted to an EC2 instance and cannot be reused</a:t>
            </a:r>
          </a:p>
          <a:p>
            <a:pPr marL="571500" indent="-342900" algn="l">
              <a:buFont typeface="+mj-lt"/>
              <a:buAutoNum type="alphaUcPeriod"/>
            </a:pPr>
            <a:endParaRPr lang="en-US" sz="1400"/>
          </a:p>
          <a:p>
            <a:pPr marL="571500" indent="-342900" algn="l">
              <a:buFont typeface="+mj-lt"/>
              <a:buAutoNum type="alphaUcPeriod"/>
            </a:pPr>
            <a:endParaRPr lang="en-US" sz="1400"/>
          </a:p>
        </p:txBody>
      </p:sp>
      <p:sp>
        <p:nvSpPr>
          <p:cNvPr id="646" name="Google Shape;646;p37">
            <a:extLst>
              <a:ext uri="{FF2B5EF4-FFF2-40B4-BE49-F238E27FC236}">
                <a16:creationId xmlns:a16="http://schemas.microsoft.com/office/drawing/2014/main" id="{8B8AD346-59CA-B31D-C63C-3FCE045B6CF2}"/>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1</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43098294-C329-292F-F678-70BB7AD27D9A}"/>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697D1B9F-93C5-E790-FF77-349BC6E975C8}"/>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256779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FAC5C33D-7FD4-87D0-A159-700F38540EBD}"/>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864837E2-F7E2-3C16-DE2A-0B1C9B967FBD}"/>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21</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0297CED6-4E59-AFBD-E8E9-00393745CE47}"/>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a:t>An EC2 instance with two EBS volumes has been launched by you. The Root volume type is used to store the OS, Jenkins, and configuration files, while the other EBS volume type is to store data. You intend to terminate the EC2 instance after a week. What's the default behavior that will happen to each EBS volume?</a:t>
            </a:r>
          </a:p>
          <a:p>
            <a:pPr marL="228600" indent="0" algn="l"/>
            <a:endParaRPr lang="en-US" sz="1400" b="1"/>
          </a:p>
          <a:p>
            <a:pPr marL="571500" indent="-342900" algn="l">
              <a:buFont typeface="+mj-lt"/>
              <a:buAutoNum type="alphaUcPeriod"/>
            </a:pPr>
            <a:r>
              <a:rPr lang="en-US" sz="1400"/>
              <a:t>The EBS volume type and the root volume type will both be deleted</a:t>
            </a:r>
          </a:p>
          <a:p>
            <a:pPr marL="571500" indent="-342900" algn="l">
              <a:buFont typeface="+mj-lt"/>
              <a:buAutoNum type="alphaUcPeriod"/>
            </a:pPr>
            <a:r>
              <a:rPr lang="en-US" sz="1400"/>
              <a:t>The root volume will be deleted and EBS volume will not be deleted</a:t>
            </a:r>
          </a:p>
          <a:p>
            <a:pPr marL="571500" indent="-342900" algn="l">
              <a:buFont typeface="+mj-lt"/>
              <a:buAutoNum type="alphaUcPeriod"/>
            </a:pPr>
            <a:r>
              <a:rPr lang="en-US" sz="1400"/>
              <a:t>While the EBS volume will be deleted, the root volume will remain intact</a:t>
            </a:r>
          </a:p>
          <a:p>
            <a:pPr marL="571500" indent="-342900" algn="l">
              <a:buFont typeface="+mj-lt"/>
              <a:buAutoNum type="alphaUcPeriod"/>
            </a:pPr>
            <a:r>
              <a:rPr lang="en-US" sz="1400"/>
              <a:t>The EBS volume type and the root volume type both won't be deleted.</a:t>
            </a:r>
          </a:p>
          <a:p>
            <a:pPr marL="571500" indent="-342900" algn="l">
              <a:buFont typeface="+mj-lt"/>
              <a:buAutoNum type="alphaUcPeriod"/>
            </a:pPr>
            <a:endParaRPr lang="en-US" sz="1400"/>
          </a:p>
          <a:p>
            <a:pPr marL="571500" indent="-342900" algn="l">
              <a:buFont typeface="+mj-lt"/>
              <a:buAutoNum type="alphaUcPeriod"/>
            </a:pPr>
            <a:endParaRPr lang="en-US" sz="1400"/>
          </a:p>
          <a:p>
            <a:pPr marL="571500" indent="-342900" algn="l">
              <a:buFont typeface="+mj-lt"/>
              <a:buAutoNum type="alphaUcPeriod"/>
            </a:pPr>
            <a:endParaRPr lang="en-US" sz="1400"/>
          </a:p>
        </p:txBody>
      </p:sp>
      <p:sp>
        <p:nvSpPr>
          <p:cNvPr id="646" name="Google Shape;646;p37">
            <a:extLst>
              <a:ext uri="{FF2B5EF4-FFF2-40B4-BE49-F238E27FC236}">
                <a16:creationId xmlns:a16="http://schemas.microsoft.com/office/drawing/2014/main" id="{2A974453-0C0F-F9BA-999D-6F57E4D0423A}"/>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2</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C39ED09A-E718-50A4-1C6B-780AEFE85D42}"/>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00504574-E23B-7AD3-9AAB-CD9555088691}"/>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4127070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676E5FA0-1744-B6FD-96BB-C9D8A6E69BF8}"/>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62895778-0AE4-8853-646D-5F796E07CA96}"/>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22</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DBB5889D-8187-EEFA-B1CE-7E13F5DF4C3E}"/>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a:t>An EC2 instance with two EBS volumes has been launched by you. The Root volume type is used to store the OS, Jenkins, and configuration files, while the other EBS volume type is to store data. You intend to terminate the EC2 instance after a week. What's the default behavior that will happen to each EBS volume?</a:t>
            </a:r>
          </a:p>
          <a:p>
            <a:pPr marL="228600" indent="0" algn="l"/>
            <a:endParaRPr lang="en-US" sz="1400" b="1"/>
          </a:p>
          <a:p>
            <a:pPr marL="571500" indent="-342900" algn="l">
              <a:buFont typeface="+mj-lt"/>
              <a:buAutoNum type="alphaUcPeriod"/>
            </a:pPr>
            <a:r>
              <a:rPr lang="en-US" sz="1400"/>
              <a:t>The EBS volume type and the root volume type will both be deleted</a:t>
            </a:r>
          </a:p>
          <a:p>
            <a:pPr marL="571500" indent="-342900" algn="l">
              <a:buFont typeface="+mj-lt"/>
              <a:buAutoNum type="alphaUcPeriod"/>
            </a:pPr>
            <a:r>
              <a:rPr lang="en-US" sz="1400" b="1"/>
              <a:t>The root volume will be deleted and EBS volume will not be deleted</a:t>
            </a:r>
          </a:p>
          <a:p>
            <a:pPr marL="571500" indent="-342900" algn="l">
              <a:buFont typeface="+mj-lt"/>
              <a:buAutoNum type="alphaUcPeriod"/>
            </a:pPr>
            <a:r>
              <a:rPr lang="en-US" sz="1400"/>
              <a:t>While the EBS volume will be deleted, the root volume will remain intact</a:t>
            </a:r>
          </a:p>
          <a:p>
            <a:pPr marL="571500" indent="-342900" algn="l">
              <a:buFont typeface="+mj-lt"/>
              <a:buAutoNum type="alphaUcPeriod"/>
            </a:pPr>
            <a:r>
              <a:rPr lang="en-US" sz="1400"/>
              <a:t>The EBS volume type and the root volume type both won't be deleted.</a:t>
            </a:r>
          </a:p>
          <a:p>
            <a:pPr marL="571500" indent="-342900" algn="l">
              <a:buFont typeface="+mj-lt"/>
              <a:buAutoNum type="alphaUcPeriod"/>
            </a:pPr>
            <a:endParaRPr lang="en-US" sz="1400"/>
          </a:p>
          <a:p>
            <a:pPr marL="571500" indent="-342900" algn="l">
              <a:buFont typeface="+mj-lt"/>
              <a:buAutoNum type="alphaUcPeriod"/>
            </a:pPr>
            <a:endParaRPr lang="en-US" sz="1400"/>
          </a:p>
          <a:p>
            <a:pPr marL="571500" indent="-342900" algn="l">
              <a:buFont typeface="+mj-lt"/>
              <a:buAutoNum type="alphaUcPeriod"/>
            </a:pPr>
            <a:endParaRPr lang="en-US" sz="1400"/>
          </a:p>
        </p:txBody>
      </p:sp>
      <p:sp>
        <p:nvSpPr>
          <p:cNvPr id="646" name="Google Shape;646;p37">
            <a:extLst>
              <a:ext uri="{FF2B5EF4-FFF2-40B4-BE49-F238E27FC236}">
                <a16:creationId xmlns:a16="http://schemas.microsoft.com/office/drawing/2014/main" id="{A7A4906B-C7DB-86C6-81AE-20FD0267D482}"/>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2</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912B60C9-F663-A0F9-3202-A62494B373D2}"/>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3D8AED49-49F3-2FFE-3921-D59F739B4821}"/>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4220307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3411D090-555D-367B-CCF8-70DF74193816}"/>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1DA3A8B6-C96F-EC1A-0420-8D8B93B51777}"/>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23</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B0EF169E-3831-C015-6340-D7FE294F1B4B}"/>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a:t>EC2 instances with EBS data volume attached recently started facing some issues, you were troubleshooting problem by detaching the volume, but it remain stuck in the detaching state for several minutes. What action you need to take to resolve this issue? </a:t>
            </a:r>
          </a:p>
          <a:p>
            <a:pPr marL="228600" indent="0" algn="l"/>
            <a:endParaRPr lang="en-US" sz="1400" b="1"/>
          </a:p>
          <a:p>
            <a:pPr marL="571500" indent="-342900" algn="l">
              <a:buFont typeface="+mj-lt"/>
              <a:buAutoNum type="alphaUcPeriod"/>
            </a:pPr>
            <a:r>
              <a:rPr lang="en-US" sz="1400"/>
              <a:t>Force Detach</a:t>
            </a:r>
          </a:p>
          <a:p>
            <a:pPr marL="571500" indent="-342900" algn="l">
              <a:buFont typeface="+mj-lt"/>
              <a:buAutoNum type="alphaUcPeriod"/>
            </a:pPr>
            <a:r>
              <a:rPr lang="en-US" sz="1400"/>
              <a:t>Detach Instance</a:t>
            </a:r>
          </a:p>
          <a:p>
            <a:pPr marL="571500" indent="-342900" algn="l">
              <a:buFont typeface="+mj-lt"/>
              <a:buAutoNum type="alphaUcPeriod"/>
            </a:pPr>
            <a:r>
              <a:rPr lang="en-US" sz="1400" err="1"/>
              <a:t>AttachVolume</a:t>
            </a:r>
            <a:r>
              <a:rPr lang="en-US" sz="1400"/>
              <a:t> </a:t>
            </a:r>
          </a:p>
          <a:p>
            <a:pPr marL="571500" indent="-342900" algn="l">
              <a:buFont typeface="+mj-lt"/>
              <a:buAutoNum type="alphaUcPeriod"/>
            </a:pPr>
            <a:r>
              <a:rPr lang="en-US" sz="1400" err="1"/>
              <a:t>AttachInstance</a:t>
            </a:r>
            <a:endParaRPr lang="en-US" sz="1400"/>
          </a:p>
          <a:p>
            <a:pPr marL="571500" indent="-342900" algn="l">
              <a:buFont typeface="+mj-lt"/>
              <a:buAutoNum type="alphaUcPeriod"/>
            </a:pPr>
            <a:endParaRPr lang="en-US" sz="1400"/>
          </a:p>
          <a:p>
            <a:pPr marL="571500" indent="-342900" algn="l">
              <a:buFont typeface="+mj-lt"/>
              <a:buAutoNum type="alphaUcPeriod"/>
            </a:pPr>
            <a:endParaRPr lang="en-US" sz="1400"/>
          </a:p>
        </p:txBody>
      </p:sp>
      <p:sp>
        <p:nvSpPr>
          <p:cNvPr id="646" name="Google Shape;646;p37">
            <a:extLst>
              <a:ext uri="{FF2B5EF4-FFF2-40B4-BE49-F238E27FC236}">
                <a16:creationId xmlns:a16="http://schemas.microsoft.com/office/drawing/2014/main" id="{252F9E4C-32D7-7D45-1A1C-D4A1BC04B955}"/>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3</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2B1A3A72-B655-D7FF-626F-1D6EBCCF3D67}"/>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B52FA2D6-BF9B-1EF6-E52D-F8DEFA986968}"/>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099565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1C18F3E3-CDDD-5E32-3305-CC6BAE5EA5DE}"/>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83719A5A-B4BF-7379-8BE6-054A4412CFDF}"/>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24</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A1D93827-6AA5-7E54-C191-FAAACC52B3E2}"/>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a:t>EC2 instances with EBS data volume attached recently started facing some issues, you were troubleshooting problem by detaching the volume, but it remain stuck in the detaching state for several minutes. What action you need to take to resolve this issue? </a:t>
            </a:r>
          </a:p>
          <a:p>
            <a:pPr marL="228600" indent="0" algn="l"/>
            <a:endParaRPr lang="en-US" sz="1400" b="1"/>
          </a:p>
          <a:p>
            <a:pPr marL="571500" indent="-342900" algn="l">
              <a:buFont typeface="+mj-lt"/>
              <a:buAutoNum type="alphaUcPeriod"/>
            </a:pPr>
            <a:r>
              <a:rPr lang="en-US" sz="1400" b="1"/>
              <a:t>Force Detach</a:t>
            </a:r>
          </a:p>
          <a:p>
            <a:pPr marL="571500" indent="-342900" algn="l">
              <a:buFont typeface="+mj-lt"/>
              <a:buAutoNum type="alphaUcPeriod"/>
            </a:pPr>
            <a:r>
              <a:rPr lang="en-US" sz="1400"/>
              <a:t>Detach Instance</a:t>
            </a:r>
          </a:p>
          <a:p>
            <a:pPr marL="571500" indent="-342900" algn="l">
              <a:buFont typeface="+mj-lt"/>
              <a:buAutoNum type="alphaUcPeriod"/>
            </a:pPr>
            <a:r>
              <a:rPr lang="en-US" sz="1400" err="1"/>
              <a:t>AttachVolume</a:t>
            </a:r>
            <a:r>
              <a:rPr lang="en-US" sz="1400"/>
              <a:t> </a:t>
            </a:r>
          </a:p>
          <a:p>
            <a:pPr marL="571500" indent="-342900" algn="l">
              <a:buFont typeface="+mj-lt"/>
              <a:buAutoNum type="alphaUcPeriod"/>
            </a:pPr>
            <a:r>
              <a:rPr lang="en-US" sz="1400" err="1"/>
              <a:t>AttachInstance</a:t>
            </a:r>
            <a:endParaRPr lang="en-US" sz="1400"/>
          </a:p>
          <a:p>
            <a:pPr marL="571500" indent="-342900" algn="l">
              <a:buFont typeface="+mj-lt"/>
              <a:buAutoNum type="alphaUcPeriod"/>
            </a:pPr>
            <a:endParaRPr lang="en-US" sz="1400"/>
          </a:p>
          <a:p>
            <a:pPr marL="571500" indent="-342900" algn="l">
              <a:buFont typeface="+mj-lt"/>
              <a:buAutoNum type="alphaUcPeriod"/>
            </a:pPr>
            <a:endParaRPr lang="en-US" sz="1400"/>
          </a:p>
        </p:txBody>
      </p:sp>
      <p:sp>
        <p:nvSpPr>
          <p:cNvPr id="646" name="Google Shape;646;p37">
            <a:extLst>
              <a:ext uri="{FF2B5EF4-FFF2-40B4-BE49-F238E27FC236}">
                <a16:creationId xmlns:a16="http://schemas.microsoft.com/office/drawing/2014/main" id="{8B527946-740F-4ECC-CAEA-AB15719D46EB}"/>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3</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4F7B77CD-4BB7-C9DA-1CB1-E4DA315C9EBA}"/>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767DF904-AF5C-C9F5-44D2-84A7B594FAB6}"/>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3724939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FC4E9647-8BC8-37C7-941A-2E0CF9B2E771}"/>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AA61AF69-BEB5-0C9F-5EF6-E1E260104974}"/>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25</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56BAC43E-1C9A-826D-0A95-3D352EEFA02B}"/>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a:t>A media analytics startup stores video content and audience interaction logs in an Amazon S3 bucket located in the us-east-1 Region. To reduce latency and costs, the company wants the entire contents of the S3 bucket to be available in multiple Regions automatically, so that analysts in each Region (say </a:t>
            </a:r>
            <a:r>
              <a:rPr lang="en-US" sz="1400" b="1" err="1"/>
              <a:t>europe</a:t>
            </a:r>
            <a:r>
              <a:rPr lang="en-US" sz="1400" b="1"/>
              <a:t> and </a:t>
            </a:r>
            <a:r>
              <a:rPr lang="en-US" sz="1400" b="1" err="1"/>
              <a:t>asia</a:t>
            </a:r>
            <a:r>
              <a:rPr lang="en-US" sz="1400" b="1"/>
              <a:t>) can run data analysis locally without repeatedly fetching data from us-east-1. As a solution architect for the organization, which S3 feature should you use?</a:t>
            </a:r>
          </a:p>
          <a:p>
            <a:pPr marL="228600" indent="0" algn="l"/>
            <a:endParaRPr lang="en-US" sz="1400" b="1"/>
          </a:p>
          <a:p>
            <a:pPr marL="571500" indent="-342900" algn="l">
              <a:buFont typeface="+mj-lt"/>
              <a:buAutoNum type="alphaUcPeriod"/>
            </a:pPr>
            <a:r>
              <a:rPr lang="en-US" sz="1400"/>
              <a:t>S3 Transfer Acceleration</a:t>
            </a:r>
          </a:p>
          <a:p>
            <a:pPr marL="571500" indent="-342900" algn="l">
              <a:buFont typeface="+mj-lt"/>
              <a:buAutoNum type="alphaUcPeriod"/>
            </a:pPr>
            <a:r>
              <a:rPr lang="en-US" sz="1400"/>
              <a:t>use </a:t>
            </a:r>
            <a:r>
              <a:rPr lang="en-US" sz="1400" err="1"/>
              <a:t>cloudFront</a:t>
            </a:r>
            <a:r>
              <a:rPr lang="en-US" sz="1400"/>
              <a:t> distributions </a:t>
            </a:r>
          </a:p>
          <a:p>
            <a:pPr marL="571500" indent="-342900" algn="l">
              <a:buFont typeface="+mj-lt"/>
              <a:buAutoNum type="alphaUcPeriod"/>
            </a:pPr>
            <a:r>
              <a:rPr lang="en-US" sz="1400"/>
              <a:t>S3 replication</a:t>
            </a:r>
          </a:p>
          <a:p>
            <a:pPr marL="571500" indent="-342900" algn="l">
              <a:buFont typeface="+mj-lt"/>
              <a:buAutoNum type="alphaUcPeriod"/>
            </a:pPr>
            <a:r>
              <a:rPr lang="en-US" sz="1400"/>
              <a:t>Configure S3 Lifecycle Policies</a:t>
            </a:r>
          </a:p>
        </p:txBody>
      </p:sp>
      <p:sp>
        <p:nvSpPr>
          <p:cNvPr id="646" name="Google Shape;646;p37">
            <a:extLst>
              <a:ext uri="{FF2B5EF4-FFF2-40B4-BE49-F238E27FC236}">
                <a16:creationId xmlns:a16="http://schemas.microsoft.com/office/drawing/2014/main" id="{F4EA36FF-81F2-3BAE-3CCD-84C21AF537A4}"/>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4</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28741E8B-C7A8-DCE9-F434-736E5FF6BE0E}"/>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77A3A320-F15F-04C4-0C29-8CFFD9AAB84D}"/>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476121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F1280CFB-94A9-07BA-F694-EB0617B48027}"/>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2993A4BE-9AC1-9F37-DEAA-1A610900EF53}"/>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26</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23955B59-37EF-1F82-83FA-97BC3CCBA25C}"/>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a:t>A media analytics startup stores video content and audience interaction logs in an Amazon S3 bucket located in the us-east-1 Region. To reduce latency and costs, the company wants the entire contents of the S3 bucket to be available in multiple Regions automatically, so that analysts in each Region (say </a:t>
            </a:r>
            <a:r>
              <a:rPr lang="en-US" sz="1400" b="1" err="1"/>
              <a:t>europe</a:t>
            </a:r>
            <a:r>
              <a:rPr lang="en-US" sz="1400" b="1"/>
              <a:t> and </a:t>
            </a:r>
            <a:r>
              <a:rPr lang="en-US" sz="1400" b="1" err="1"/>
              <a:t>asia</a:t>
            </a:r>
            <a:r>
              <a:rPr lang="en-US" sz="1400" b="1"/>
              <a:t>) can run data analysis locally without repeatedly fetching data from us-east-1. As a solution architect for the organization, which S3 feature should you use?</a:t>
            </a:r>
          </a:p>
          <a:p>
            <a:pPr marL="228600" indent="0" algn="l"/>
            <a:endParaRPr lang="en-US" sz="1400" b="1"/>
          </a:p>
          <a:p>
            <a:pPr marL="571500" indent="-342900" algn="l">
              <a:buFont typeface="+mj-lt"/>
              <a:buAutoNum type="alphaUcPeriod"/>
            </a:pPr>
            <a:r>
              <a:rPr lang="en-US" sz="1400"/>
              <a:t>S3 Transfer Acceleration</a:t>
            </a:r>
          </a:p>
          <a:p>
            <a:pPr marL="571500" indent="-342900" algn="l">
              <a:buFont typeface="+mj-lt"/>
              <a:buAutoNum type="alphaUcPeriod"/>
            </a:pPr>
            <a:r>
              <a:rPr lang="en-US" sz="1400"/>
              <a:t>use </a:t>
            </a:r>
            <a:r>
              <a:rPr lang="en-US" sz="1400" err="1"/>
              <a:t>cloudFront</a:t>
            </a:r>
            <a:r>
              <a:rPr lang="en-US" sz="1400"/>
              <a:t> distributions </a:t>
            </a:r>
          </a:p>
          <a:p>
            <a:pPr marL="571500" indent="-342900" algn="l">
              <a:buFont typeface="+mj-lt"/>
              <a:buAutoNum type="alphaUcPeriod"/>
            </a:pPr>
            <a:r>
              <a:rPr lang="en-US" sz="1400" b="1"/>
              <a:t>S3 replication</a:t>
            </a:r>
          </a:p>
          <a:p>
            <a:pPr marL="571500" indent="-342900" algn="l">
              <a:buFont typeface="+mj-lt"/>
              <a:buAutoNum type="alphaUcPeriod"/>
            </a:pPr>
            <a:r>
              <a:rPr lang="en-US" sz="1400"/>
              <a:t>Configure S3 Lifecycle Policies</a:t>
            </a:r>
          </a:p>
        </p:txBody>
      </p:sp>
      <p:sp>
        <p:nvSpPr>
          <p:cNvPr id="646" name="Google Shape;646;p37">
            <a:extLst>
              <a:ext uri="{FF2B5EF4-FFF2-40B4-BE49-F238E27FC236}">
                <a16:creationId xmlns:a16="http://schemas.microsoft.com/office/drawing/2014/main" id="{5AB9EB7D-9A34-5CBD-55F8-358B6EB758E9}"/>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4</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16CC96CC-7936-DDF0-1C1D-098FD384A276}"/>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B6A82E45-B46E-710C-41E0-AC98D667DAE2}"/>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17561746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0FB96B0E-6EC2-67B2-D05E-1FCA654CDB8C}"/>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DBF9C53A-357C-6FE8-6E0F-970AC4A755E6}"/>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27</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FFD8E35D-2234-46CA-787A-C0A6B44F80CD}"/>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a:t>A solutions architect is planning a law firm's move from on-premises to AWS. The firm's infrastructure currently consists of numerous servers and 40 TB of data stored on shared NFS storage. Based on the requirements, he recommended S3 as a storage option; however, which AWS service should he use to </a:t>
            </a:r>
            <a:r>
              <a:rPr lang="en-US" sz="1400" b="1" err="1"/>
              <a:t>to</a:t>
            </a:r>
            <a:r>
              <a:rPr lang="en-US" sz="1400" b="1"/>
              <a:t> efficiently migrate the large amounts of data quickly and securely from on-premises to S3?</a:t>
            </a:r>
          </a:p>
          <a:p>
            <a:pPr marL="228600" indent="0" algn="l"/>
            <a:endParaRPr lang="en-US" sz="1400" b="1"/>
          </a:p>
          <a:p>
            <a:pPr marL="571500" indent="-342900" algn="l">
              <a:buFont typeface="+mj-lt"/>
              <a:buAutoNum type="alphaUcPeriod"/>
            </a:pPr>
            <a:r>
              <a:rPr lang="en-US" sz="1400"/>
              <a:t>AWS Storage </a:t>
            </a:r>
          </a:p>
          <a:p>
            <a:pPr marL="571500" indent="-342900" algn="l">
              <a:buFont typeface="+mj-lt"/>
              <a:buAutoNum type="alphaUcPeriod"/>
            </a:pPr>
            <a:r>
              <a:rPr lang="en-US" sz="1400"/>
              <a:t>Tape Gateway Amazon EBS</a:t>
            </a:r>
          </a:p>
          <a:p>
            <a:pPr marL="571500" indent="-342900" algn="l">
              <a:buFont typeface="+mj-lt"/>
              <a:buAutoNum type="alphaUcPeriod"/>
            </a:pPr>
            <a:r>
              <a:rPr lang="en-US" sz="1400"/>
              <a:t>AWS Transfer </a:t>
            </a:r>
          </a:p>
          <a:p>
            <a:pPr marL="571500" indent="-342900" algn="l">
              <a:buFont typeface="+mj-lt"/>
              <a:buAutoNum type="alphaUcPeriod"/>
            </a:pPr>
            <a:r>
              <a:rPr lang="en-US" sz="1400"/>
              <a:t>Family AWS </a:t>
            </a:r>
            <a:r>
              <a:rPr lang="en-US" sz="1400" err="1"/>
              <a:t>DataSync</a:t>
            </a:r>
            <a:r>
              <a:rPr lang="en-US" sz="1400"/>
              <a:t> </a:t>
            </a:r>
          </a:p>
        </p:txBody>
      </p:sp>
      <p:sp>
        <p:nvSpPr>
          <p:cNvPr id="646" name="Google Shape;646;p37">
            <a:extLst>
              <a:ext uri="{FF2B5EF4-FFF2-40B4-BE49-F238E27FC236}">
                <a16:creationId xmlns:a16="http://schemas.microsoft.com/office/drawing/2014/main" id="{5C62CDFF-8D3C-D194-476A-68697C53685E}"/>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5</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0A3DC825-D291-1053-15D9-8F8DC5191DAE}"/>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0B265874-BF2B-9406-2C15-3AEFC5D6717C}"/>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306405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F80AFADD-13E9-C120-6A84-6AC10846C75C}"/>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3EDA5D8A-0DCA-BA3C-D950-6B3262D7E4E4}"/>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28</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D3A18ED3-2592-49A2-977F-12178E8B078D}"/>
              </a:ext>
            </a:extLst>
          </p:cNvPr>
          <p:cNvSpPr txBox="1">
            <a:spLocks noGrp="1"/>
          </p:cNvSpPr>
          <p:nvPr>
            <p:ph type="body" idx="1"/>
          </p:nvPr>
        </p:nvSpPr>
        <p:spPr>
          <a:xfrm>
            <a:off x="1441457" y="1292514"/>
            <a:ext cx="6054718" cy="3216285"/>
          </a:xfrm>
          <a:prstGeom prst="rect">
            <a:avLst/>
          </a:prstGeom>
          <a:noFill/>
          <a:ln>
            <a:noFill/>
          </a:ln>
        </p:spPr>
        <p:txBody>
          <a:bodyPr spcFirstLastPara="1" wrap="square" lIns="91425" tIns="45700" rIns="91425" bIns="45700" anchor="t" anchorCtr="0">
            <a:noAutofit/>
          </a:bodyPr>
          <a:lstStyle/>
          <a:p>
            <a:pPr marL="228600" indent="0" algn="l"/>
            <a:r>
              <a:rPr lang="en-US" sz="1400" b="1"/>
              <a:t>A solutions architect is planning a law firm's move from on-premises to AWS. The firm's infrastructure currently consists of numerous servers and 40 TB of data stored on shared NFS storage. Based on the requirements, he recommended S3 as a storage option; however, which AWS service should he use to </a:t>
            </a:r>
            <a:r>
              <a:rPr lang="en-US" sz="1400" b="1" err="1"/>
              <a:t>to</a:t>
            </a:r>
            <a:r>
              <a:rPr lang="en-US" sz="1400" b="1"/>
              <a:t> efficiently migrate the large amounts of data quickly and securely from on-premises to S3?</a:t>
            </a:r>
          </a:p>
          <a:p>
            <a:pPr marL="228600" indent="0" algn="l"/>
            <a:endParaRPr lang="en-US" sz="1400" b="1"/>
          </a:p>
          <a:p>
            <a:pPr marL="571500" indent="-342900" algn="l">
              <a:buFont typeface="+mj-lt"/>
              <a:buAutoNum type="alphaUcPeriod"/>
            </a:pPr>
            <a:r>
              <a:rPr lang="en-US" sz="1400"/>
              <a:t>AWS Storage </a:t>
            </a:r>
          </a:p>
          <a:p>
            <a:pPr marL="571500" indent="-342900" algn="l">
              <a:buFont typeface="+mj-lt"/>
              <a:buAutoNum type="alphaUcPeriod"/>
            </a:pPr>
            <a:r>
              <a:rPr lang="en-US" sz="1400"/>
              <a:t>Tape Gateway Amazon EBS</a:t>
            </a:r>
          </a:p>
          <a:p>
            <a:pPr marL="571500" indent="-342900" algn="l">
              <a:buFont typeface="+mj-lt"/>
              <a:buAutoNum type="alphaUcPeriod"/>
            </a:pPr>
            <a:r>
              <a:rPr lang="en-US" sz="1400"/>
              <a:t>AWS Transfer </a:t>
            </a:r>
          </a:p>
          <a:p>
            <a:pPr marL="571500" indent="-342900" algn="l">
              <a:buFont typeface="+mj-lt"/>
              <a:buAutoNum type="alphaUcPeriod"/>
            </a:pPr>
            <a:r>
              <a:rPr lang="en-US" sz="1400" b="1"/>
              <a:t>Family AWS </a:t>
            </a:r>
            <a:r>
              <a:rPr lang="en-US" sz="1400" b="1" err="1"/>
              <a:t>DataSync</a:t>
            </a:r>
            <a:r>
              <a:rPr lang="en-US" sz="1400" b="1"/>
              <a:t> </a:t>
            </a:r>
          </a:p>
        </p:txBody>
      </p:sp>
      <p:sp>
        <p:nvSpPr>
          <p:cNvPr id="646" name="Google Shape;646;p37">
            <a:extLst>
              <a:ext uri="{FF2B5EF4-FFF2-40B4-BE49-F238E27FC236}">
                <a16:creationId xmlns:a16="http://schemas.microsoft.com/office/drawing/2014/main" id="{2CD7E9DB-E149-E896-FD75-681EC96865E7}"/>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5</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9E97CEBE-690B-1EAA-3B0F-16D630C7FB6C}"/>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10D1E386-FE74-E83B-5E27-990B1D6971FB}"/>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381630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5C30A5C0-F3D1-73E1-89DB-4AD26821A278}"/>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4B6F74F2-1ECC-42DA-7728-79056C509839}"/>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29</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4FEF2F72-17D2-DE31-55CC-A17C1EA0FF6A}"/>
              </a:ext>
            </a:extLst>
          </p:cNvPr>
          <p:cNvSpPr txBox="1">
            <a:spLocks noGrp="1"/>
          </p:cNvSpPr>
          <p:nvPr>
            <p:ph type="body" idx="1"/>
          </p:nvPr>
        </p:nvSpPr>
        <p:spPr>
          <a:xfrm>
            <a:off x="1441457" y="1292514"/>
            <a:ext cx="6054718" cy="3415557"/>
          </a:xfrm>
          <a:prstGeom prst="rect">
            <a:avLst/>
          </a:prstGeom>
          <a:noFill/>
          <a:ln>
            <a:noFill/>
          </a:ln>
        </p:spPr>
        <p:txBody>
          <a:bodyPr spcFirstLastPara="1" wrap="square" lIns="91425" tIns="45700" rIns="91425" bIns="45700" anchor="t" anchorCtr="0">
            <a:noAutofit/>
          </a:bodyPr>
          <a:lstStyle/>
          <a:p>
            <a:pPr marL="228600" indent="0" algn="l"/>
            <a:r>
              <a:rPr lang="en-US" sz="1400" b="1"/>
              <a:t>A bioinformatics company publishes protein datasets in an S3 bucket named </a:t>
            </a:r>
            <a:r>
              <a:rPr lang="en-US" sz="1400" b="1" err="1"/>
              <a:t>bioinformaticsbucket</a:t>
            </a:r>
            <a:r>
              <a:rPr lang="en-US" sz="1400" b="1"/>
              <a:t>. The corporation chose to make the datasets available to the public and data-analyst, so they can study and research on them. As the company's solution architect, you made the security decision to publish this database via FTP rather than making the S3 bucket public. What should you do to complete the requirement efficiently and with the least effort? </a:t>
            </a:r>
          </a:p>
          <a:p>
            <a:pPr marL="228600" indent="0" algn="l"/>
            <a:endParaRPr lang="en-US" sz="1400"/>
          </a:p>
          <a:p>
            <a:pPr marL="571500" indent="-342900" algn="l">
              <a:buFont typeface="+mj-lt"/>
              <a:buAutoNum type="alphaUcPeriod"/>
            </a:pPr>
            <a:r>
              <a:rPr lang="en-US" sz="1400"/>
              <a:t>Use AWS Transfer Family </a:t>
            </a:r>
          </a:p>
          <a:p>
            <a:pPr marL="571500" indent="-342900" algn="l">
              <a:buFont typeface="+mj-lt"/>
              <a:buAutoNum type="alphaUcPeriod"/>
            </a:pPr>
            <a:r>
              <a:rPr lang="en-US" sz="1400"/>
              <a:t>AWS Storage Gateway-volume gateway</a:t>
            </a:r>
          </a:p>
          <a:p>
            <a:pPr marL="571500" indent="-342900" algn="l">
              <a:buFont typeface="+mj-lt"/>
              <a:buAutoNum type="alphaUcPeriod"/>
            </a:pPr>
            <a:r>
              <a:rPr lang="en-US" sz="1400"/>
              <a:t>Create EC2 instances with FTP server installed, then copy data from S3 (</a:t>
            </a:r>
            <a:r>
              <a:rPr lang="en-US" sz="1400" err="1"/>
              <a:t>bioinformaticsbucket</a:t>
            </a:r>
            <a:r>
              <a:rPr lang="en-US" sz="1400"/>
              <a:t>) to the EC2 instance. </a:t>
            </a:r>
          </a:p>
          <a:p>
            <a:pPr marL="571500" indent="-342900" algn="l">
              <a:buFont typeface="+mj-lt"/>
              <a:buAutoNum type="alphaUcPeriod"/>
            </a:pPr>
            <a:r>
              <a:rPr lang="en-US" sz="1400"/>
              <a:t>Copying data from S3 (</a:t>
            </a:r>
            <a:r>
              <a:rPr lang="en-US" sz="1400" err="1"/>
              <a:t>bioinformaticsbucket</a:t>
            </a:r>
            <a:r>
              <a:rPr lang="en-US" sz="1400"/>
              <a:t>) to an EFS file system and exposing it over FTP.</a:t>
            </a:r>
            <a:endParaRPr lang="en-US" sz="1400" b="1"/>
          </a:p>
        </p:txBody>
      </p:sp>
      <p:sp>
        <p:nvSpPr>
          <p:cNvPr id="646" name="Google Shape;646;p37">
            <a:extLst>
              <a:ext uri="{FF2B5EF4-FFF2-40B4-BE49-F238E27FC236}">
                <a16:creationId xmlns:a16="http://schemas.microsoft.com/office/drawing/2014/main" id="{8BEA1F91-60B5-9802-EDCB-39DC8E380A0A}"/>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6</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652154DE-DC6F-D3AD-028E-71487805CCAF}"/>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11E4311C-E086-0D01-7405-C8BE61EAA84C}"/>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642396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4">
          <a:extLst>
            <a:ext uri="{FF2B5EF4-FFF2-40B4-BE49-F238E27FC236}">
              <a16:creationId xmlns:a16="http://schemas.microsoft.com/office/drawing/2014/main" id="{A71E37D7-1EDE-9153-DBE2-F7CB2107AB27}"/>
            </a:ext>
          </a:extLst>
        </p:cNvPr>
        <p:cNvGrpSpPr/>
        <p:nvPr/>
      </p:nvGrpSpPr>
      <p:grpSpPr>
        <a:xfrm>
          <a:off x="0" y="0"/>
          <a:ext cx="0" cy="0"/>
          <a:chOff x="0" y="0"/>
          <a:chExt cx="0" cy="0"/>
        </a:xfrm>
      </p:grpSpPr>
      <p:sp>
        <p:nvSpPr>
          <p:cNvPr id="649" name="Google Shape;649;p37">
            <a:extLst>
              <a:ext uri="{FF2B5EF4-FFF2-40B4-BE49-F238E27FC236}">
                <a16:creationId xmlns:a16="http://schemas.microsoft.com/office/drawing/2014/main" id="{4DF34ADB-5400-6283-5B6E-ED034AD422E9}"/>
              </a:ext>
            </a:extLst>
          </p:cNvPr>
          <p:cNvSpPr txBox="1">
            <a:spLocks noGrp="1"/>
          </p:cNvSpPr>
          <p:nvPr>
            <p:ph type="sldNum"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FF0000"/>
                </a:solidFill>
                <a:latin typeface="Proxima Nova"/>
                <a:ea typeface="Proxima Nova"/>
                <a:cs typeface="Proxima Nova"/>
                <a:sym typeface="Proxima Nova"/>
              </a:rPr>
              <a:t>30</a:t>
            </a:fld>
            <a:endParaRPr sz="900">
              <a:solidFill>
                <a:srgbClr val="FF0000"/>
              </a:solidFill>
              <a:latin typeface="Proxima Nova"/>
              <a:ea typeface="Proxima Nova"/>
              <a:cs typeface="Proxima Nova"/>
              <a:sym typeface="Proxima Nova"/>
            </a:endParaRPr>
          </a:p>
        </p:txBody>
      </p:sp>
      <p:sp>
        <p:nvSpPr>
          <p:cNvPr id="645" name="Google Shape;645;p37">
            <a:extLst>
              <a:ext uri="{FF2B5EF4-FFF2-40B4-BE49-F238E27FC236}">
                <a16:creationId xmlns:a16="http://schemas.microsoft.com/office/drawing/2014/main" id="{6E18EFB1-9353-2E67-CB65-F79419A825D3}"/>
              </a:ext>
            </a:extLst>
          </p:cNvPr>
          <p:cNvSpPr txBox="1">
            <a:spLocks noGrp="1"/>
          </p:cNvSpPr>
          <p:nvPr>
            <p:ph type="body" idx="1"/>
          </p:nvPr>
        </p:nvSpPr>
        <p:spPr>
          <a:xfrm>
            <a:off x="1441457" y="1292514"/>
            <a:ext cx="6054718" cy="3415557"/>
          </a:xfrm>
          <a:prstGeom prst="rect">
            <a:avLst/>
          </a:prstGeom>
          <a:noFill/>
          <a:ln>
            <a:noFill/>
          </a:ln>
        </p:spPr>
        <p:txBody>
          <a:bodyPr spcFirstLastPara="1" wrap="square" lIns="91425" tIns="45700" rIns="91425" bIns="45700" anchor="t" anchorCtr="0">
            <a:noAutofit/>
          </a:bodyPr>
          <a:lstStyle/>
          <a:p>
            <a:pPr marL="228600" indent="0" algn="l"/>
            <a:r>
              <a:rPr lang="en-US" sz="1400" b="1"/>
              <a:t>A bioinformatics company publishes protein datasets in an S3 bucket named </a:t>
            </a:r>
            <a:r>
              <a:rPr lang="en-US" sz="1400" b="1" err="1"/>
              <a:t>bioinformaticsbucket</a:t>
            </a:r>
            <a:r>
              <a:rPr lang="en-US" sz="1400" b="1"/>
              <a:t>. The corporation chose to make the datasets available to the public and data-analyst, so they can study and research on them. As the company's solution architect, you made the security decision to publish this database via FTP rather than making the S3 bucket public. What should you do to complete the requirement efficiently and with the least effort? </a:t>
            </a:r>
          </a:p>
          <a:p>
            <a:pPr marL="228600" indent="0" algn="l"/>
            <a:endParaRPr lang="en-US" sz="1400"/>
          </a:p>
          <a:p>
            <a:pPr marL="571500" indent="-342900" algn="l">
              <a:buFont typeface="+mj-lt"/>
              <a:buAutoNum type="alphaUcPeriod"/>
            </a:pPr>
            <a:r>
              <a:rPr lang="en-US" sz="1400" b="1"/>
              <a:t>Use AWS Transfer Family </a:t>
            </a:r>
          </a:p>
          <a:p>
            <a:pPr marL="571500" indent="-342900" algn="l">
              <a:buFont typeface="+mj-lt"/>
              <a:buAutoNum type="alphaUcPeriod"/>
            </a:pPr>
            <a:r>
              <a:rPr lang="en-US" sz="1400"/>
              <a:t>AWS Storage Gateway-volume gateway</a:t>
            </a:r>
          </a:p>
          <a:p>
            <a:pPr marL="571500" indent="-342900" algn="l">
              <a:buFont typeface="+mj-lt"/>
              <a:buAutoNum type="alphaUcPeriod"/>
            </a:pPr>
            <a:r>
              <a:rPr lang="en-US" sz="1400"/>
              <a:t>Create EC2 instances with FTP server installed, then copy data from S3 (</a:t>
            </a:r>
            <a:r>
              <a:rPr lang="en-US" sz="1400" err="1"/>
              <a:t>bioinformaticsbucket</a:t>
            </a:r>
            <a:r>
              <a:rPr lang="en-US" sz="1400"/>
              <a:t>) to the EC2 instance. </a:t>
            </a:r>
          </a:p>
          <a:p>
            <a:pPr marL="571500" indent="-342900" algn="l">
              <a:buFont typeface="+mj-lt"/>
              <a:buAutoNum type="alphaUcPeriod"/>
            </a:pPr>
            <a:r>
              <a:rPr lang="en-US" sz="1400"/>
              <a:t>Copying data from S3 (</a:t>
            </a:r>
            <a:r>
              <a:rPr lang="en-US" sz="1400" err="1"/>
              <a:t>bioinformaticsbucket</a:t>
            </a:r>
            <a:r>
              <a:rPr lang="en-US" sz="1400"/>
              <a:t>) to an EFS file system and exposing it over FTP.</a:t>
            </a:r>
            <a:endParaRPr lang="en-US" sz="1400" b="1"/>
          </a:p>
        </p:txBody>
      </p:sp>
      <p:sp>
        <p:nvSpPr>
          <p:cNvPr id="646" name="Google Shape;646;p37">
            <a:extLst>
              <a:ext uri="{FF2B5EF4-FFF2-40B4-BE49-F238E27FC236}">
                <a16:creationId xmlns:a16="http://schemas.microsoft.com/office/drawing/2014/main" id="{1E877DEF-ABBF-F38E-B515-42EB85DA4B67}"/>
              </a:ext>
            </a:extLst>
          </p:cNvPr>
          <p:cNvSpPr txBox="1"/>
          <p:nvPr/>
        </p:nvSpPr>
        <p:spPr>
          <a:xfrm>
            <a:off x="385994" y="126216"/>
            <a:ext cx="4292700" cy="402900"/>
          </a:xfrm>
          <a:prstGeom prst="rect">
            <a:avLst/>
          </a:prstGeom>
          <a:noFill/>
          <a:ln>
            <a:noFill/>
          </a:ln>
        </p:spPr>
        <p:txBody>
          <a:bodyPr spcFirstLastPara="1" wrap="square" lIns="91425" tIns="45700" rIns="91425" bIns="45700" anchor="ctr" anchorCtr="0">
            <a:noAutofit/>
          </a:bodyPr>
          <a:lstStyle/>
          <a:p>
            <a:pPr marL="0" marR="0" lvl="0" indent="0" algn="l" rtl="0">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Question 6</a:t>
            </a:r>
            <a:endParaRPr sz="1800">
              <a:solidFill>
                <a:schemeClr val="dk1"/>
              </a:solidFill>
              <a:latin typeface="Calibri"/>
              <a:ea typeface="Calibri"/>
              <a:cs typeface="Calibri"/>
              <a:sym typeface="Calibri"/>
            </a:endParaRPr>
          </a:p>
        </p:txBody>
      </p:sp>
      <p:sp>
        <p:nvSpPr>
          <p:cNvPr id="647" name="Google Shape;647;p37">
            <a:extLst>
              <a:ext uri="{FF2B5EF4-FFF2-40B4-BE49-F238E27FC236}">
                <a16:creationId xmlns:a16="http://schemas.microsoft.com/office/drawing/2014/main" id="{711632F6-0BDE-D472-CCD9-5FA20DB3709D}"/>
              </a:ext>
            </a:extLst>
          </p:cNvPr>
          <p:cNvSpPr/>
          <p:nvPr/>
        </p:nvSpPr>
        <p:spPr>
          <a:xfrm>
            <a:off x="0" y="634701"/>
            <a:ext cx="9144000" cy="346800"/>
          </a:xfrm>
          <a:prstGeom prst="rect">
            <a:avLst/>
          </a:prstGeom>
          <a:solidFill>
            <a:srgbClr val="E72D4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48" name="Google Shape;648;p37">
            <a:extLst>
              <a:ext uri="{FF2B5EF4-FFF2-40B4-BE49-F238E27FC236}">
                <a16:creationId xmlns:a16="http://schemas.microsoft.com/office/drawing/2014/main" id="{55FBDE10-F97F-3D72-73BA-47930C2E462B}"/>
              </a:ext>
            </a:extLst>
          </p:cNvPr>
          <p:cNvSpPr txBox="1"/>
          <p:nvPr/>
        </p:nvSpPr>
        <p:spPr>
          <a:xfrm>
            <a:off x="407344" y="435429"/>
            <a:ext cx="4955400" cy="7515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1600"/>
              <a:buFont typeface="Proxima Nova"/>
              <a:buNone/>
            </a:pPr>
            <a:endParaRPr sz="1600" b="0" i="0">
              <a:solidFill>
                <a:schemeClr val="lt1"/>
              </a:solidFill>
              <a:latin typeface="Proxima Nova"/>
              <a:ea typeface="Proxima Nova"/>
              <a:cs typeface="Proxima Nova"/>
              <a:sym typeface="Proxima Nova"/>
            </a:endParaRPr>
          </a:p>
        </p:txBody>
      </p:sp>
    </p:spTree>
    <p:extLst>
      <p:ext uri="{BB962C8B-B14F-4D97-AF65-F5344CB8AC3E}">
        <p14:creationId xmlns:p14="http://schemas.microsoft.com/office/powerpoint/2010/main" val="20762906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p63"/>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31</a:t>
            </a:fld>
            <a:endParaRPr sz="900">
              <a:latin typeface="Proxima Nova"/>
              <a:ea typeface="Proxima Nova"/>
              <a:cs typeface="Proxima Nova"/>
              <a:sym typeface="Proxima Nova"/>
            </a:endParaRPr>
          </a:p>
        </p:txBody>
      </p:sp>
      <p:sp>
        <p:nvSpPr>
          <p:cNvPr id="905" name="Google Shape;905;p63"/>
          <p:cNvSpPr txBox="1"/>
          <p:nvPr/>
        </p:nvSpPr>
        <p:spPr>
          <a:xfrm>
            <a:off x="2355788" y="2310144"/>
            <a:ext cx="4432500" cy="523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en-IN" sz="2800">
                <a:solidFill>
                  <a:schemeClr val="lt1"/>
                </a:solidFill>
                <a:latin typeface="Calibri"/>
                <a:ea typeface="Calibri"/>
                <a:cs typeface="Calibri"/>
                <a:sym typeface="Calibri"/>
              </a:rPr>
              <a:t>Questions and Discussions</a:t>
            </a:r>
            <a:endParaRPr sz="2800">
              <a:solidFill>
                <a:schemeClr val="lt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p64"/>
          <p:cNvSpPr txBox="1"/>
          <p:nvPr/>
        </p:nvSpPr>
        <p:spPr>
          <a:xfrm>
            <a:off x="555037" y="2114911"/>
            <a:ext cx="6895200" cy="11721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4000"/>
              <a:buFont typeface="Proxima Nova"/>
              <a:buNone/>
            </a:pPr>
            <a:r>
              <a:rPr lang="en-IN" sz="4000">
                <a:solidFill>
                  <a:schemeClr val="dk1"/>
                </a:solidFill>
                <a:latin typeface="Proxima Nova"/>
                <a:ea typeface="Proxima Nova"/>
                <a:cs typeface="Proxima Nova"/>
                <a:sym typeface="Proxima Nova"/>
              </a:rPr>
              <a:t>Thank You!</a:t>
            </a:r>
            <a:endParaRPr sz="4000">
              <a:solidFill>
                <a:schemeClr val="dk1"/>
              </a:solidFill>
              <a:latin typeface="Proxima Nova"/>
              <a:ea typeface="Proxima Nova"/>
              <a:cs typeface="Proxima Nova"/>
              <a:sym typeface="Proxima Nova"/>
            </a:endParaRPr>
          </a:p>
        </p:txBody>
      </p:sp>
      <p:pic>
        <p:nvPicPr>
          <p:cNvPr id="912" name="Google Shape;912;p64"/>
          <p:cNvPicPr preferRelativeResize="0"/>
          <p:nvPr/>
        </p:nvPicPr>
        <p:blipFill rotWithShape="1">
          <a:blip r:embed="rId3">
            <a:alphaModFix/>
          </a:blip>
          <a:srcRect/>
          <a:stretch/>
        </p:blipFill>
        <p:spPr>
          <a:xfrm>
            <a:off x="7582370" y="0"/>
            <a:ext cx="1356541" cy="1577482"/>
          </a:xfrm>
          <a:prstGeom prst="rect">
            <a:avLst/>
          </a:prstGeom>
          <a:noFill/>
          <a:ln>
            <a:noFill/>
          </a:ln>
        </p:spPr>
      </p:pic>
      <p:sp>
        <p:nvSpPr>
          <p:cNvPr id="913" name="Google Shape;913;p64"/>
          <p:cNvSpPr txBox="1">
            <a:spLocks noGrp="1"/>
          </p:cNvSpPr>
          <p:nvPr>
            <p:ph type="sldNum" sz="quarter" idx="12"/>
          </p:nvPr>
        </p:nvSpPr>
        <p:spPr>
          <a:xfrm>
            <a:off x="6467475" y="4767263"/>
            <a:ext cx="20574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32</a:t>
            </a:fld>
            <a:endParaRPr sz="900">
              <a:latin typeface="Proxima Nova"/>
              <a:ea typeface="Proxima Nova"/>
              <a:cs typeface="Proxima Nova"/>
              <a:sym typeface="Proxima Nov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CE0E-AB31-624D-7343-2BBEC8C68753}"/>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EEE4F068-1A13-E720-94DB-2135838CD9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33</a:t>
            </a:fld>
            <a:endParaRPr lang="en-IN"/>
          </a:p>
        </p:txBody>
      </p:sp>
    </p:spTree>
    <p:extLst>
      <p:ext uri="{BB962C8B-B14F-4D97-AF65-F5344CB8AC3E}">
        <p14:creationId xmlns:p14="http://schemas.microsoft.com/office/powerpoint/2010/main" val="2828240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019504"/>
            <a:ext cx="9144000" cy="2063512"/>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800"/>
          </a:p>
        </p:txBody>
      </p:sp>
      <p:sp>
        <p:nvSpPr>
          <p:cNvPr id="615" name="Google Shape;615;p34"/>
          <p:cNvSpPr txBox="1"/>
          <p:nvPr/>
        </p:nvSpPr>
        <p:spPr>
          <a:xfrm>
            <a:off x="871629" y="2571750"/>
            <a:ext cx="7400744" cy="974008"/>
          </a:xfrm>
          <a:prstGeom prst="rect">
            <a:avLst/>
          </a:prstGeom>
          <a:noFill/>
          <a:ln>
            <a:noFill/>
          </a:ln>
        </p:spPr>
        <p:txBody>
          <a:bodyPr spcFirstLastPara="1" wrap="square" lIns="91425" tIns="45700" rIns="91425" bIns="4570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lnSpc>
                <a:spcPct val="90000"/>
              </a:lnSpc>
              <a:buClr>
                <a:schemeClr val="dk1"/>
              </a:buClr>
              <a:buSzPts val="4000"/>
            </a:pPr>
            <a:r>
              <a:rPr lang="en-US" sz="3600" dirty="0" err="1">
                <a:solidFill>
                  <a:schemeClr val="bg1"/>
                </a:solidFill>
                <a:latin typeface="Lato"/>
                <a:ea typeface="Lato"/>
                <a:cs typeface="Lato"/>
                <a:sym typeface="Lato"/>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0"/>
                  </a:ext>
                </a:extLst>
              </a:rPr>
              <a:t>DevSecOps</a:t>
            </a:r>
            <a:endParaRPr lang="en-US" sz="3600" dirty="0">
              <a:solidFill>
                <a:schemeClr val="bg1"/>
              </a:solidFill>
              <a:latin typeface="Lato"/>
              <a:ea typeface="Lato"/>
              <a:cs typeface="Lato"/>
              <a:sym typeface="Lato"/>
            </a:endParaRPr>
          </a:p>
        </p:txBody>
      </p:sp>
      <p:sp>
        <p:nvSpPr>
          <p:cNvPr id="617" name="Google Shape;617;p34"/>
          <p:cNvSpPr txBox="1">
            <a:spLocks noGrp="1"/>
          </p:cNvSpPr>
          <p:nvPr>
            <p:ph type="sldNum" sz="quarter" idx="12"/>
          </p:nvPr>
        </p:nvSpPr>
        <p:spPr>
          <a:xfrm>
            <a:off x="6511925" y="4767263"/>
            <a:ext cx="2057400" cy="274500"/>
          </a:xfrm>
          <a:prstGeom prst="rect">
            <a:avLst/>
          </a:prstGeom>
          <a:noFill/>
          <a:ln>
            <a:noFill/>
          </a:ln>
        </p:spPr>
        <p:txBody>
          <a:bodyPr spcFirstLastPara="1" vert="horz" wrap="square" lIns="91425" tIns="45700" rIns="91425" bIns="45700" rtlCol="0"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00000000-1234-1234-1234-123412341234}" type="slidenum">
              <a:rPr lang="en-IN">
                <a:solidFill>
                  <a:srgbClr val="FF0000"/>
                </a:solidFill>
                <a:latin typeface="Proxima Nova"/>
                <a:ea typeface="Proxima Nova"/>
                <a:cs typeface="Proxima Nova"/>
                <a:sym typeface="Proxima Nova"/>
              </a:rPr>
              <a:pPr/>
              <a:t>34</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7084752" y="101738"/>
            <a:ext cx="1544050" cy="1544050"/>
          </a:xfrm>
          <a:prstGeom prst="rect">
            <a:avLst/>
          </a:prstGeom>
          <a:noFill/>
          <a:ln>
            <a:noFill/>
          </a:ln>
        </p:spPr>
      </p:pic>
      <p:pic>
        <p:nvPicPr>
          <p:cNvPr id="7" name="Picture 6">
            <a:extLst>
              <a:ext uri="{FF2B5EF4-FFF2-40B4-BE49-F238E27FC236}">
                <a16:creationId xmlns:a16="http://schemas.microsoft.com/office/drawing/2014/main" id="{8343D47F-0850-4C54-ECA1-347E58687108}"/>
              </a:ext>
            </a:extLst>
          </p:cNvPr>
          <p:cNvPicPr>
            <a:picLocks noChangeAspect="1"/>
          </p:cNvPicPr>
          <p:nvPr/>
        </p:nvPicPr>
        <p:blipFill rotWithShape="1">
          <a:blip r:embed="rId4"/>
          <a:srcRect l="25725" t="37867" r="34750" b="40666"/>
          <a:stretch/>
        </p:blipFill>
        <p:spPr>
          <a:xfrm>
            <a:off x="781813" y="532238"/>
            <a:ext cx="2628515" cy="80301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35</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35;p4">
            <a:extLst>
              <a:ext uri="{FF2B5EF4-FFF2-40B4-BE49-F238E27FC236}">
                <a16:creationId xmlns:a16="http://schemas.microsoft.com/office/drawing/2014/main" id="{7B6968E5-4ABC-CF75-7812-4383DD23AC66}"/>
              </a:ext>
            </a:extLst>
          </p:cNvPr>
          <p:cNvSpPr txBox="1"/>
          <p:nvPr/>
        </p:nvSpPr>
        <p:spPr>
          <a:xfrm>
            <a:off x="2501100" y="1300076"/>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1905" dirty="0">
                <a:solidFill>
                  <a:schemeClr val="tx1"/>
                </a:solidFill>
                <a:latin typeface="Proxima Nova"/>
                <a:ea typeface="Proxima Nova"/>
                <a:cs typeface="Proxima Nova"/>
                <a:sym typeface="Proxima Nova"/>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0"/>
                  </a:ext>
                </a:extLst>
              </a:rPr>
              <a:t>O</a:t>
            </a:r>
            <a:r>
              <a:rPr lang="en-IN" sz="1905" b="0" i="0" u="none" strike="noStrike" cap="none" dirty="0">
                <a:solidFill>
                  <a:schemeClr val="tx1"/>
                </a:solidFill>
                <a:latin typeface="Proxima Nova"/>
                <a:ea typeface="Proxima Nova"/>
                <a:cs typeface="Proxima Nova"/>
                <a:sym typeface="Proxima Nova"/>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0"/>
                  </a:ext>
                </a:extLst>
              </a:rPr>
              <a:t>verview</a:t>
            </a:r>
            <a:endParaRPr sz="1905" b="0" i="0" u="none" strike="noStrike" cap="none" dirty="0">
              <a:solidFill>
                <a:schemeClr val="tx1"/>
              </a:solidFill>
              <a:latin typeface="Proxima Nova"/>
              <a:ea typeface="Proxima Nova"/>
              <a:cs typeface="Proxima Nova"/>
              <a:sym typeface="Proxima Nova"/>
            </a:endParaRPr>
          </a:p>
        </p:txBody>
      </p:sp>
      <p:sp>
        <p:nvSpPr>
          <p:cNvPr id="10" name="Google Shape;636;p4">
            <a:extLst>
              <a:ext uri="{FF2B5EF4-FFF2-40B4-BE49-F238E27FC236}">
                <a16:creationId xmlns:a16="http://schemas.microsoft.com/office/drawing/2014/main" id="{92B88242-103D-B3A3-BDD9-952543158D2B}"/>
              </a:ext>
            </a:extLst>
          </p:cNvPr>
          <p:cNvSpPr txBox="1"/>
          <p:nvPr/>
        </p:nvSpPr>
        <p:spPr>
          <a:xfrm>
            <a:off x="1540243" y="1776516"/>
            <a:ext cx="6043275" cy="2008220"/>
          </a:xfrm>
          <a:prstGeom prst="rect">
            <a:avLst/>
          </a:prstGeom>
          <a:noFill/>
          <a:ln>
            <a:noFill/>
          </a:ln>
        </p:spPr>
        <p:txBody>
          <a:bodyPr spcFirstLastPara="1" wrap="square" lIns="68569" tIns="68569" rIns="68569" bIns="68569" anchor="t"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4313" indent="-214313">
              <a:buFont typeface="Arial" panose="020B0604020202020204" pitchFamily="34" charset="0"/>
              <a:buChar char="•"/>
            </a:pPr>
            <a:r>
              <a:rPr lang="en-US" sz="1350" dirty="0" err="1">
                <a:latin typeface="Proxima Nova"/>
              </a:rPr>
              <a:t>DevSecOps</a:t>
            </a:r>
            <a:r>
              <a:rPr lang="en-US" sz="1350" dirty="0">
                <a:latin typeface="Proxima Nova"/>
              </a:rPr>
              <a:t> stands for Development, security and Operations. It is extension of DevOps practices. </a:t>
            </a:r>
          </a:p>
          <a:p>
            <a:pPr marL="214313" indent="-214313">
              <a:buFont typeface="Arial" panose="020B0604020202020204" pitchFamily="34" charset="0"/>
              <a:buChar char="•"/>
            </a:pPr>
            <a:r>
              <a:rPr lang="en-US" sz="1350" dirty="0">
                <a:latin typeface="Proxima Nova"/>
              </a:rPr>
              <a:t>Security means introduction of security practices in software development cycle. Each coder ensures the code are free of security vulnerability and security practice as the part of software lifecycle.</a:t>
            </a:r>
          </a:p>
          <a:p>
            <a:pPr marL="214313" indent="-214313">
              <a:buFont typeface="Arial" panose="020B0604020202020204" pitchFamily="34" charset="0"/>
              <a:buChar char="•"/>
            </a:pPr>
            <a:r>
              <a:rPr lang="en-US" sz="1350" dirty="0">
                <a:latin typeface="Proxima Nova"/>
              </a:rPr>
              <a:t>During the code push, when we plan CICD pipeline, Security and Code scanning become the part of our normal CICD cycle.</a:t>
            </a:r>
          </a:p>
          <a:p>
            <a:pPr marL="214313" indent="-214313">
              <a:buFont typeface="Arial" panose="020B0604020202020204" pitchFamily="34" charset="0"/>
              <a:buChar char="•"/>
            </a:pPr>
            <a:r>
              <a:rPr lang="en-US" sz="1350" dirty="0">
                <a:latin typeface="Proxima Nova"/>
              </a:rPr>
              <a:t>The primary goal is to identify vulnerabilities early in the development cycle.</a:t>
            </a:r>
            <a:endParaRPr lang="en-IN" sz="1350" dirty="0">
              <a:latin typeface="Proxima Nova"/>
            </a:endParaRPr>
          </a:p>
        </p:txBody>
      </p:sp>
    </p:spTree>
    <p:extLst>
      <p:ext uri="{BB962C8B-B14F-4D97-AF65-F5344CB8AC3E}">
        <p14:creationId xmlns:p14="http://schemas.microsoft.com/office/powerpoint/2010/main" val="17502250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36</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43;p5">
            <a:extLst>
              <a:ext uri="{FF2B5EF4-FFF2-40B4-BE49-F238E27FC236}">
                <a16:creationId xmlns:a16="http://schemas.microsoft.com/office/drawing/2014/main" id="{2C76BB65-9873-7F7D-88BE-23E4B025E0E7}"/>
              </a:ext>
            </a:extLst>
          </p:cNvPr>
          <p:cNvSpPr txBox="1"/>
          <p:nvPr/>
        </p:nvSpPr>
        <p:spPr>
          <a:xfrm>
            <a:off x="1550363" y="2088427"/>
            <a:ext cx="6043275" cy="2423718"/>
          </a:xfrm>
          <a:prstGeom prst="rect">
            <a:avLst/>
          </a:prstGeom>
          <a:noFill/>
          <a:ln>
            <a:noFill/>
          </a:ln>
        </p:spPr>
        <p:txBody>
          <a:bodyPr spcFirstLastPara="1" wrap="square" lIns="68569" tIns="68569" rIns="68569" bIns="68569" anchor="t"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350" dirty="0">
                <a:latin typeface="Proxima Nova"/>
              </a:rPr>
              <a:t>The Software Development Lifecycle (SDLC) is a systematic framework designed to help software teams create high-quality applications. By following the SDLC, teams can lower costs, reduce errors, and ensure the software consistently meets project objectives. </a:t>
            </a:r>
          </a:p>
          <a:p>
            <a:endParaRPr lang="en-US" sz="1350" dirty="0">
              <a:latin typeface="Proxima Nova"/>
            </a:endParaRPr>
          </a:p>
          <a:p>
            <a:r>
              <a:rPr lang="en-US" sz="1350" dirty="0">
                <a:latin typeface="Proxima Nova"/>
              </a:rPr>
              <a:t>Phases:</a:t>
            </a:r>
          </a:p>
          <a:p>
            <a:pPr marL="214313" indent="-214313">
              <a:buFont typeface="Arial" panose="020B0604020202020204" pitchFamily="34" charset="0"/>
              <a:buChar char="•"/>
            </a:pPr>
            <a:r>
              <a:rPr lang="en-US" sz="1350" dirty="0">
                <a:latin typeface="Proxima Nova"/>
              </a:rPr>
              <a:t>Requirement Analysis</a:t>
            </a:r>
          </a:p>
          <a:p>
            <a:pPr marL="214313" indent="-214313">
              <a:buFont typeface="Arial" panose="020B0604020202020204" pitchFamily="34" charset="0"/>
              <a:buChar char="•"/>
            </a:pPr>
            <a:r>
              <a:rPr lang="en-US" sz="1350" dirty="0">
                <a:latin typeface="Proxima Nova"/>
              </a:rPr>
              <a:t>Planning</a:t>
            </a:r>
          </a:p>
          <a:p>
            <a:pPr marL="214313" indent="-214313">
              <a:buFont typeface="Arial" panose="020B0604020202020204" pitchFamily="34" charset="0"/>
              <a:buChar char="•"/>
            </a:pPr>
            <a:r>
              <a:rPr lang="en-US" sz="1350" dirty="0">
                <a:latin typeface="Proxima Nova"/>
              </a:rPr>
              <a:t>Software Development</a:t>
            </a:r>
          </a:p>
          <a:p>
            <a:pPr marL="214313" indent="-214313">
              <a:buFont typeface="Arial" panose="020B0604020202020204" pitchFamily="34" charset="0"/>
              <a:buChar char="•"/>
            </a:pPr>
            <a:r>
              <a:rPr lang="en-US" sz="1350" dirty="0">
                <a:latin typeface="Proxima Nova"/>
              </a:rPr>
              <a:t>Testing</a:t>
            </a:r>
          </a:p>
          <a:p>
            <a:pPr marL="214313" indent="-214313">
              <a:buFont typeface="Arial" panose="020B0604020202020204" pitchFamily="34" charset="0"/>
              <a:buChar char="•"/>
            </a:pPr>
            <a:r>
              <a:rPr lang="en-US" sz="1350" dirty="0">
                <a:latin typeface="Proxima Nova"/>
              </a:rPr>
              <a:t>Deployment</a:t>
            </a:r>
          </a:p>
        </p:txBody>
      </p:sp>
      <p:sp>
        <p:nvSpPr>
          <p:cNvPr id="10" name="Google Shape;644;p5">
            <a:extLst>
              <a:ext uri="{FF2B5EF4-FFF2-40B4-BE49-F238E27FC236}">
                <a16:creationId xmlns:a16="http://schemas.microsoft.com/office/drawing/2014/main" id="{D32A1FEC-83AF-38B4-C045-F28798C0D064}"/>
              </a:ext>
            </a:extLst>
          </p:cNvPr>
          <p:cNvSpPr txBox="1"/>
          <p:nvPr/>
        </p:nvSpPr>
        <p:spPr>
          <a:xfrm>
            <a:off x="2501100" y="1403700"/>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2100" b="1" i="0" dirty="0">
                <a:solidFill>
                  <a:srgbClr val="333333"/>
                </a:solidFill>
                <a:effectLst/>
                <a:latin typeface="Proxima Nova"/>
              </a:rPr>
              <a:t>Software Development </a:t>
            </a:r>
            <a:r>
              <a:rPr lang="en-IN" sz="2100" b="1" dirty="0">
                <a:solidFill>
                  <a:srgbClr val="333333"/>
                </a:solidFill>
                <a:latin typeface="Proxima Nova"/>
              </a:rPr>
              <a:t>L</a:t>
            </a:r>
            <a:r>
              <a:rPr lang="en-IN" sz="2100" b="1" i="0" dirty="0">
                <a:solidFill>
                  <a:srgbClr val="333333"/>
                </a:solidFill>
                <a:effectLst/>
                <a:latin typeface="Proxima Nova"/>
              </a:rPr>
              <a:t>ifecycle</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9224487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37</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50;p6">
            <a:extLst>
              <a:ext uri="{FF2B5EF4-FFF2-40B4-BE49-F238E27FC236}">
                <a16:creationId xmlns:a16="http://schemas.microsoft.com/office/drawing/2014/main" id="{56B59548-DA06-E389-7BED-7C1633EF5872}"/>
              </a:ext>
            </a:extLst>
          </p:cNvPr>
          <p:cNvSpPr txBox="1"/>
          <p:nvPr/>
        </p:nvSpPr>
        <p:spPr>
          <a:xfrm>
            <a:off x="2501100" y="1242497"/>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latin typeface="Proxima Nova"/>
              </a:rPr>
              <a:t>Benefits of </a:t>
            </a:r>
            <a:r>
              <a:rPr lang="en-US" sz="2100" dirty="0" err="1">
                <a:latin typeface="Proxima Nova"/>
              </a:rPr>
              <a:t>DevSecOps</a:t>
            </a:r>
            <a:endParaRPr sz="2100" b="0" i="0" u="none" strike="noStrike" cap="none" dirty="0">
              <a:solidFill>
                <a:schemeClr val="tx1"/>
              </a:solidFill>
              <a:latin typeface="Proxima Nova"/>
              <a:ea typeface="Proxima Nova"/>
              <a:cs typeface="Proxima Nova"/>
              <a:sym typeface="Proxima Nova"/>
            </a:endParaRPr>
          </a:p>
        </p:txBody>
      </p:sp>
      <p:sp>
        <p:nvSpPr>
          <p:cNvPr id="10" name="Google Shape;651;p6">
            <a:extLst>
              <a:ext uri="{FF2B5EF4-FFF2-40B4-BE49-F238E27FC236}">
                <a16:creationId xmlns:a16="http://schemas.microsoft.com/office/drawing/2014/main" id="{FE958133-4A7F-1C17-00C2-AE78960C15FB}"/>
              </a:ext>
            </a:extLst>
          </p:cNvPr>
          <p:cNvSpPr txBox="1"/>
          <p:nvPr/>
        </p:nvSpPr>
        <p:spPr>
          <a:xfrm>
            <a:off x="888484" y="1691244"/>
            <a:ext cx="7367033" cy="1177223"/>
          </a:xfrm>
          <a:prstGeom prst="rect">
            <a:avLst/>
          </a:prstGeom>
          <a:noFill/>
          <a:ln>
            <a:noFill/>
          </a:ln>
        </p:spPr>
        <p:txBody>
          <a:bodyPr spcFirstLastPara="1" wrap="square" lIns="68569" tIns="68569" rIns="68569" bIns="68569" anchor="t"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1350" dirty="0">
                <a:latin typeface="Proxima Nova"/>
              </a:rPr>
              <a:t>Identify software vulnerabilities at an early stage</a:t>
            </a:r>
          </a:p>
          <a:p>
            <a:pPr marL="342900" indent="-342900">
              <a:buFont typeface="Arial" panose="020B0604020202020204" pitchFamily="34" charset="0"/>
              <a:buChar char="•"/>
            </a:pPr>
            <a:r>
              <a:rPr lang="en-IN" sz="1350" dirty="0">
                <a:latin typeface="Proxima Nova"/>
              </a:rPr>
              <a:t>Accelerate time to market</a:t>
            </a:r>
            <a:endParaRPr lang="en-IN" sz="1350" b="1" i="0" dirty="0">
              <a:solidFill>
                <a:srgbClr val="333333"/>
              </a:solidFill>
              <a:effectLst/>
              <a:latin typeface="Proxima Nova"/>
            </a:endParaRPr>
          </a:p>
          <a:p>
            <a:pPr marL="342900" indent="-342900">
              <a:buFont typeface="Arial" panose="020B0604020202020204" pitchFamily="34" charset="0"/>
              <a:buChar char="•"/>
            </a:pPr>
            <a:r>
              <a:rPr lang="en-US" sz="1350" dirty="0">
                <a:latin typeface="Proxima Nova"/>
              </a:rPr>
              <a:t>Maintain adherence to regulatory requirements</a:t>
            </a:r>
          </a:p>
          <a:p>
            <a:pPr marL="342900" indent="-342900">
              <a:buFont typeface="Arial" panose="020B0604020202020204" pitchFamily="34" charset="0"/>
              <a:buChar char="•"/>
            </a:pPr>
            <a:r>
              <a:rPr lang="en-US" sz="1350" dirty="0">
                <a:latin typeface="Proxima Nova"/>
              </a:rPr>
              <a:t>Foster a culture of security awareness</a:t>
            </a:r>
          </a:p>
          <a:p>
            <a:pPr marL="342900" indent="-342900">
              <a:buFont typeface="Arial" panose="020B0604020202020204" pitchFamily="34" charset="0"/>
              <a:buChar char="•"/>
            </a:pPr>
            <a:r>
              <a:rPr lang="en-US" sz="1350" dirty="0">
                <a:latin typeface="Proxima Nova"/>
              </a:rPr>
              <a:t>Implement new features with security </a:t>
            </a:r>
            <a:endParaRPr lang="en-IN" sz="1350" b="1" i="0" dirty="0">
              <a:solidFill>
                <a:srgbClr val="333333"/>
              </a:solidFill>
              <a:effectLst/>
              <a:latin typeface="Proxima Nova"/>
            </a:endParaRPr>
          </a:p>
        </p:txBody>
      </p:sp>
    </p:spTree>
    <p:extLst>
      <p:ext uri="{BB962C8B-B14F-4D97-AF65-F5344CB8AC3E}">
        <p14:creationId xmlns:p14="http://schemas.microsoft.com/office/powerpoint/2010/main" val="37402745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38</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58;p7">
            <a:extLst>
              <a:ext uri="{FF2B5EF4-FFF2-40B4-BE49-F238E27FC236}">
                <a16:creationId xmlns:a16="http://schemas.microsoft.com/office/drawing/2014/main" id="{BBCAC742-4FCB-5B15-A832-A4BA80995192}"/>
              </a:ext>
            </a:extLst>
          </p:cNvPr>
          <p:cNvSpPr txBox="1"/>
          <p:nvPr/>
        </p:nvSpPr>
        <p:spPr>
          <a:xfrm>
            <a:off x="1503225" y="1603160"/>
            <a:ext cx="6137550" cy="1663608"/>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4313" indent="-214313">
              <a:buFont typeface="Arial" panose="020B0604020202020204" pitchFamily="34" charset="0"/>
              <a:buChar char="•"/>
            </a:pPr>
            <a:r>
              <a:rPr lang="en-US" sz="1350" dirty="0">
                <a:latin typeface="Proxima Nova"/>
              </a:rPr>
              <a:t>Software teams prioritize security controls throughout the entire development lifecycle. Rather than waiting until the software is finished, they perform checks at each stage. </a:t>
            </a:r>
          </a:p>
          <a:p>
            <a:pPr marL="214313" indent="-214313">
              <a:buFont typeface="Arial" panose="020B0604020202020204" pitchFamily="34" charset="0"/>
              <a:buChar char="•"/>
            </a:pPr>
            <a:r>
              <a:rPr lang="en-US" sz="1350" dirty="0">
                <a:latin typeface="Proxima Nova"/>
              </a:rPr>
              <a:t>This enables teams to identify security issues early, reducing both the cost and time required to address vulnerabilities.</a:t>
            </a:r>
          </a:p>
          <a:p>
            <a:pPr marL="214313" indent="-214313">
              <a:buFont typeface="Arial" panose="020B0604020202020204" pitchFamily="34" charset="0"/>
              <a:buChar char="•"/>
            </a:pPr>
            <a:r>
              <a:rPr lang="en-US" sz="1350" dirty="0">
                <a:latin typeface="Proxima Nova"/>
              </a:rPr>
              <a:t> As a result, users benefit from a more secure application with minimal disruption post-release.</a:t>
            </a:r>
          </a:p>
        </p:txBody>
      </p:sp>
      <p:sp>
        <p:nvSpPr>
          <p:cNvPr id="10" name="Google Shape;659;p7">
            <a:extLst>
              <a:ext uri="{FF2B5EF4-FFF2-40B4-BE49-F238E27FC236}">
                <a16:creationId xmlns:a16="http://schemas.microsoft.com/office/drawing/2014/main" id="{65837087-8249-DAAA-A682-F4078172F7B3}"/>
              </a:ext>
            </a:extLst>
          </p:cNvPr>
          <p:cNvSpPr txBox="1"/>
          <p:nvPr/>
        </p:nvSpPr>
        <p:spPr>
          <a:xfrm>
            <a:off x="2501100" y="1215341"/>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t>Identify software vulnerabilities</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29213877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39</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66;p8">
            <a:extLst>
              <a:ext uri="{FF2B5EF4-FFF2-40B4-BE49-F238E27FC236}">
                <a16:creationId xmlns:a16="http://schemas.microsoft.com/office/drawing/2014/main" id="{57E1CC3C-E400-779D-AA34-F205DEA84AEC}"/>
              </a:ext>
            </a:extLst>
          </p:cNvPr>
          <p:cNvSpPr txBox="1"/>
          <p:nvPr/>
        </p:nvSpPr>
        <p:spPr>
          <a:xfrm>
            <a:off x="2501100" y="1343897"/>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2100" dirty="0"/>
              <a:t>Development Efficiency and Compliance</a:t>
            </a:r>
            <a:endParaRPr sz="2100" b="0" i="0" u="none" strike="noStrike" cap="none" dirty="0">
              <a:solidFill>
                <a:schemeClr val="tx1"/>
              </a:solidFill>
              <a:latin typeface="Proxima Nova"/>
              <a:ea typeface="Proxima Nova"/>
              <a:cs typeface="Proxima Nova"/>
              <a:sym typeface="Proxima Nova"/>
            </a:endParaRPr>
          </a:p>
        </p:txBody>
      </p:sp>
      <p:sp>
        <p:nvSpPr>
          <p:cNvPr id="10" name="Google Shape;669;p8">
            <a:extLst>
              <a:ext uri="{FF2B5EF4-FFF2-40B4-BE49-F238E27FC236}">
                <a16:creationId xmlns:a16="http://schemas.microsoft.com/office/drawing/2014/main" id="{0D67D7D4-F15A-8A7C-0A02-C9D707725988}"/>
              </a:ext>
            </a:extLst>
          </p:cNvPr>
          <p:cNvSpPr txBox="1"/>
          <p:nvPr/>
        </p:nvSpPr>
        <p:spPr>
          <a:xfrm>
            <a:off x="1503225" y="1847201"/>
            <a:ext cx="6137550" cy="2426948"/>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4313" indent="-214313">
              <a:buFont typeface="Arial" panose="020B0604020202020204" pitchFamily="34" charset="0"/>
              <a:buChar char="•"/>
            </a:pPr>
            <a:r>
              <a:rPr lang="en-US" sz="1350" dirty="0" err="1">
                <a:latin typeface="Proxima Nova"/>
              </a:rPr>
              <a:t>DevSecOps</a:t>
            </a:r>
            <a:r>
              <a:rPr lang="en-US" sz="1350" dirty="0">
                <a:latin typeface="Proxima Nova"/>
              </a:rPr>
              <a:t> enables software teams to automate security tests, minimizing human errors and ensuring that security assessments do not slow down the development process.</a:t>
            </a:r>
          </a:p>
          <a:p>
            <a:pPr marL="214313" indent="-214313">
              <a:buFont typeface="Arial" panose="020B0604020202020204" pitchFamily="34" charset="0"/>
              <a:buChar char="•"/>
            </a:pPr>
            <a:r>
              <a:rPr lang="en-US" sz="1350" dirty="0">
                <a:latin typeface="Proxima Nova"/>
              </a:rPr>
              <a:t>By adopting best practices and technologies for security, software teams utilize </a:t>
            </a:r>
            <a:r>
              <a:rPr lang="en-US" sz="1350" dirty="0" err="1">
                <a:latin typeface="Proxima Nova"/>
              </a:rPr>
              <a:t>DevSecOps</a:t>
            </a:r>
            <a:r>
              <a:rPr lang="en-US" sz="1350" dirty="0">
                <a:latin typeface="Proxima Nova"/>
              </a:rPr>
              <a:t> to meet regulatory requirements. </a:t>
            </a:r>
          </a:p>
          <a:p>
            <a:pPr marL="214313" indent="-214313">
              <a:buFont typeface="Arial" panose="020B0604020202020204" pitchFamily="34" charset="0"/>
              <a:buChar char="•"/>
            </a:pPr>
            <a:r>
              <a:rPr lang="en-US" sz="1350" dirty="0">
                <a:latin typeface="Proxima Nova"/>
              </a:rPr>
              <a:t>They identify system data protection and security needs, such as using AWS Security Hub to automate security checks aligned with industry standards.</a:t>
            </a:r>
            <a:endParaRPr lang="en-IN" sz="1350" dirty="0">
              <a:latin typeface="Proxima Nova"/>
            </a:endParaRPr>
          </a:p>
        </p:txBody>
      </p:sp>
    </p:spTree>
    <p:extLst>
      <p:ext uri="{BB962C8B-B14F-4D97-AF65-F5344CB8AC3E}">
        <p14:creationId xmlns:p14="http://schemas.microsoft.com/office/powerpoint/2010/main" val="32039896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40</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74;p9">
            <a:extLst>
              <a:ext uri="{FF2B5EF4-FFF2-40B4-BE49-F238E27FC236}">
                <a16:creationId xmlns:a16="http://schemas.microsoft.com/office/drawing/2014/main" id="{D119D70E-A34F-6AA7-86DD-2185B55E2A8B}"/>
              </a:ext>
            </a:extLst>
          </p:cNvPr>
          <p:cNvSpPr txBox="1"/>
          <p:nvPr/>
        </p:nvSpPr>
        <p:spPr>
          <a:xfrm>
            <a:off x="1503225" y="1865644"/>
            <a:ext cx="6137550" cy="1926407"/>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4313" indent="-214313">
              <a:buFont typeface="Arial" panose="020B0604020202020204" pitchFamily="34" charset="0"/>
              <a:buChar char="•"/>
            </a:pPr>
            <a:r>
              <a:rPr lang="en-US" sz="1350" dirty="0">
                <a:latin typeface="Proxima Nova"/>
              </a:rPr>
              <a:t>Software teams become more attuned to security best practices during application development. They proactively identify potential security vulnerabilities in the code, modules, or technologies used in building the application.</a:t>
            </a:r>
          </a:p>
          <a:p>
            <a:pPr marL="214313" indent="-214313">
              <a:buFont typeface="Arial" panose="020B0604020202020204" pitchFamily="34" charset="0"/>
              <a:buChar char="•"/>
            </a:pPr>
            <a:r>
              <a:rPr lang="en-US" sz="1350" dirty="0" err="1">
                <a:latin typeface="Proxima Nova"/>
              </a:rPr>
              <a:t>DevSecOps</a:t>
            </a:r>
            <a:r>
              <a:rPr lang="en-US" sz="1350" dirty="0">
                <a:latin typeface="Proxima Nova"/>
              </a:rPr>
              <a:t> promotes seamless collaboration between development, operations, and security teams. With a shared understanding of software security and the use of common tools for automating assessments and reporting, all teams focus on delivering greater value to customers without sacrificing security.</a:t>
            </a:r>
            <a:endParaRPr lang="en-IN" sz="1350" dirty="0">
              <a:latin typeface="Proxima Nova"/>
            </a:endParaRPr>
          </a:p>
        </p:txBody>
      </p:sp>
      <p:sp>
        <p:nvSpPr>
          <p:cNvPr id="10" name="Google Shape;676;p9">
            <a:extLst>
              <a:ext uri="{FF2B5EF4-FFF2-40B4-BE49-F238E27FC236}">
                <a16:creationId xmlns:a16="http://schemas.microsoft.com/office/drawing/2014/main" id="{8D8F656A-2BC9-136D-C6E0-F24F4DC04371}"/>
              </a:ext>
            </a:extLst>
          </p:cNvPr>
          <p:cNvSpPr txBox="1"/>
          <p:nvPr/>
        </p:nvSpPr>
        <p:spPr>
          <a:xfrm>
            <a:off x="2501100" y="117037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2100" dirty="0"/>
              <a:t>Security Awareness and Collaboration</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19201579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F9A3A-942E-2C17-E5F6-C72FE44BE054}"/>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96B8DB89-2034-B854-4DF7-B54B7B55A56E}"/>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41</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28A8DA05-6289-7CC8-3E3E-3E11FF8A07C9}"/>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FA376B96-8E88-7776-8592-7E765E9ADB3F}"/>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EA479C36-5906-403F-3907-76EBC87D07C1}"/>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3E60E0AF-FE2C-9505-4D13-F3F3FCBEF62A}"/>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2D8E9E14-5A43-D7F3-7804-BA4C7530785A}"/>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93F4CFAD-35C6-B99F-5B7E-8FFABFFA6FA0}"/>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74;p9">
            <a:extLst>
              <a:ext uri="{FF2B5EF4-FFF2-40B4-BE49-F238E27FC236}">
                <a16:creationId xmlns:a16="http://schemas.microsoft.com/office/drawing/2014/main" id="{D2E5A7B6-F6EC-0FF2-CCED-4C501B976940}"/>
              </a:ext>
            </a:extLst>
          </p:cNvPr>
          <p:cNvSpPr txBox="1"/>
          <p:nvPr/>
        </p:nvSpPr>
        <p:spPr>
          <a:xfrm>
            <a:off x="1503225" y="1865644"/>
            <a:ext cx="6137550" cy="1926407"/>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1350" dirty="0" err="1">
                <a:latin typeface="Proxima Nova"/>
              </a:rPr>
              <a:t>DevSecOps</a:t>
            </a:r>
            <a:r>
              <a:rPr lang="en-US" sz="1350" dirty="0">
                <a:latin typeface="Proxima Nova"/>
              </a:rPr>
              <a:t> integrates security into the DevOps process by embedding security assessments throughout the CI/CD pipeline. It turns security into a collective responsibility for all team members involved in software development.</a:t>
            </a:r>
          </a:p>
          <a:p>
            <a:pPr marL="342900" indent="-342900">
              <a:buFont typeface="Arial" panose="020B0604020202020204" pitchFamily="34" charset="0"/>
              <a:buChar char="•"/>
            </a:pPr>
            <a:r>
              <a:rPr lang="en-US" sz="1350" dirty="0">
                <a:latin typeface="Proxima Nova"/>
              </a:rPr>
              <a:t> The development team works closely with the security team before writing any code, while operations teams continue to monitor the software for security concerns after deployment.</a:t>
            </a:r>
          </a:p>
          <a:p>
            <a:pPr marL="342900" indent="-342900">
              <a:buFont typeface="Arial" panose="020B0604020202020204" pitchFamily="34" charset="0"/>
              <a:buChar char="•"/>
            </a:pPr>
            <a:r>
              <a:rPr lang="en-US" sz="1350" dirty="0">
                <a:latin typeface="Proxima Nova"/>
              </a:rPr>
              <a:t> This approach enables companies to deliver secure software more quickly while maintaining compliance</a:t>
            </a:r>
            <a:endParaRPr lang="en-IN" sz="1350" dirty="0">
              <a:latin typeface="Proxima Nova"/>
            </a:endParaRPr>
          </a:p>
        </p:txBody>
      </p:sp>
      <p:sp>
        <p:nvSpPr>
          <p:cNvPr id="10" name="Google Shape;676;p9">
            <a:extLst>
              <a:ext uri="{FF2B5EF4-FFF2-40B4-BE49-F238E27FC236}">
                <a16:creationId xmlns:a16="http://schemas.microsoft.com/office/drawing/2014/main" id="{32477BD9-4D81-7A11-6CA0-EF40A4940A66}"/>
              </a:ext>
            </a:extLst>
          </p:cNvPr>
          <p:cNvSpPr txBox="1"/>
          <p:nvPr/>
        </p:nvSpPr>
        <p:spPr>
          <a:xfrm>
            <a:off x="2501100" y="117037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latin typeface="Proxima Nova"/>
              </a:rPr>
              <a:t>How </a:t>
            </a:r>
            <a:r>
              <a:rPr lang="en-US" sz="2100" dirty="0" err="1">
                <a:latin typeface="Proxima Nova"/>
              </a:rPr>
              <a:t>DevSecOps</a:t>
            </a:r>
            <a:r>
              <a:rPr lang="en-US" sz="2100" dirty="0">
                <a:latin typeface="Proxima Nova"/>
              </a:rPr>
              <a:t> works?</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23244692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42</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pic>
        <p:nvPicPr>
          <p:cNvPr id="12" name="Content Placeholder 4">
            <a:extLst>
              <a:ext uri="{FF2B5EF4-FFF2-40B4-BE49-F238E27FC236}">
                <a16:creationId xmlns:a16="http://schemas.microsoft.com/office/drawing/2014/main" id="{742F1B26-2303-658A-3090-0D7B517414C1}"/>
              </a:ext>
            </a:extLst>
          </p:cNvPr>
          <p:cNvPicPr>
            <a:picLocks noChangeAspect="1"/>
          </p:cNvPicPr>
          <p:nvPr/>
        </p:nvPicPr>
        <p:blipFill>
          <a:blip r:embed="rId6"/>
          <a:stretch>
            <a:fillRect/>
          </a:stretch>
        </p:blipFill>
        <p:spPr>
          <a:xfrm>
            <a:off x="1387929" y="1512094"/>
            <a:ext cx="6026528" cy="2587229"/>
          </a:xfrm>
          <a:prstGeom prst="rect">
            <a:avLst/>
          </a:prstGeom>
        </p:spPr>
      </p:pic>
    </p:spTree>
    <p:extLst>
      <p:ext uri="{BB962C8B-B14F-4D97-AF65-F5344CB8AC3E}">
        <p14:creationId xmlns:p14="http://schemas.microsoft.com/office/powerpoint/2010/main" val="13174572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43</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90;p11">
            <a:extLst>
              <a:ext uri="{FF2B5EF4-FFF2-40B4-BE49-F238E27FC236}">
                <a16:creationId xmlns:a16="http://schemas.microsoft.com/office/drawing/2014/main" id="{85B0F5EA-81F3-2B7B-C58F-D5B84702C71F}"/>
              </a:ext>
            </a:extLst>
          </p:cNvPr>
          <p:cNvSpPr txBox="1"/>
          <p:nvPr/>
        </p:nvSpPr>
        <p:spPr>
          <a:xfrm>
            <a:off x="1503225" y="1570486"/>
            <a:ext cx="6137550" cy="2818634"/>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4313" indent="-214313">
              <a:buFont typeface="Arial" panose="020B0604020202020204" pitchFamily="34" charset="0"/>
              <a:buChar char="•"/>
            </a:pPr>
            <a:r>
              <a:rPr lang="en-US" sz="1350" dirty="0">
                <a:latin typeface="Proxima Nova"/>
              </a:rPr>
              <a:t>DevOps is a methodology that unites development, operations, and security teams to accelerate the software development lifecycle.</a:t>
            </a:r>
          </a:p>
          <a:p>
            <a:pPr marL="214313" indent="-214313">
              <a:buFont typeface="Arial" panose="020B0604020202020204" pitchFamily="34" charset="0"/>
              <a:buChar char="•"/>
            </a:pPr>
            <a:r>
              <a:rPr lang="en-US" sz="1350" dirty="0" err="1">
                <a:latin typeface="Proxima Nova"/>
              </a:rPr>
              <a:t>DevSecOps</a:t>
            </a:r>
            <a:r>
              <a:rPr lang="en-US" sz="1350" dirty="0">
                <a:latin typeface="Proxima Nova"/>
              </a:rPr>
              <a:t> enhances this by embedding security into the DevOps process from the outset. It ensures security is prioritized throughout the entire software development lifecycle, rather than being an afterthought.</a:t>
            </a:r>
          </a:p>
          <a:p>
            <a:pPr marL="214313" indent="-214313">
              <a:buFont typeface="Arial" panose="020B0604020202020204" pitchFamily="34" charset="0"/>
              <a:buChar char="•"/>
            </a:pPr>
            <a:r>
              <a:rPr lang="en-US" sz="1350" dirty="0">
                <a:latin typeface="Proxima Nova"/>
              </a:rPr>
              <a:t>Key differences between </a:t>
            </a:r>
            <a:r>
              <a:rPr lang="en-US" sz="1350" dirty="0" err="1">
                <a:latin typeface="Proxima Nova"/>
              </a:rPr>
              <a:t>DevSecOps</a:t>
            </a:r>
            <a:r>
              <a:rPr lang="en-US" sz="1350" dirty="0">
                <a:latin typeface="Proxima Nova"/>
              </a:rPr>
              <a:t> and DevOps include:</a:t>
            </a:r>
          </a:p>
          <a:p>
            <a:pPr marL="557213" lvl="1" indent="-214313">
              <a:buFont typeface="Arial" panose="020B0604020202020204" pitchFamily="34" charset="0"/>
              <a:buChar char="•"/>
            </a:pPr>
            <a:r>
              <a:rPr lang="en-US" sz="1350" dirty="0" err="1">
                <a:latin typeface="Proxima Nova"/>
              </a:rPr>
              <a:t>DevSecOps</a:t>
            </a:r>
            <a:r>
              <a:rPr lang="en-US" sz="1350" dirty="0">
                <a:latin typeface="Proxima Nova"/>
              </a:rPr>
              <a:t> involves a wider range of stakeholders, including security teams.</a:t>
            </a:r>
          </a:p>
          <a:p>
            <a:pPr marL="557213" lvl="1" indent="-214313">
              <a:buFont typeface="Arial" panose="020B0604020202020204" pitchFamily="34" charset="0"/>
              <a:buChar char="•"/>
            </a:pPr>
            <a:r>
              <a:rPr lang="en-US" sz="1350" dirty="0" err="1">
                <a:latin typeface="Proxima Nova"/>
              </a:rPr>
              <a:t>DevSecOps</a:t>
            </a:r>
            <a:r>
              <a:rPr lang="en-US" sz="1350" dirty="0">
                <a:latin typeface="Proxima Nova"/>
              </a:rPr>
              <a:t> mandates a more thorough approach to security testing and scanning.</a:t>
            </a:r>
          </a:p>
          <a:p>
            <a:pPr marL="557213" lvl="1" indent="-214313">
              <a:buFont typeface="Arial" panose="020B0604020202020204" pitchFamily="34" charset="0"/>
              <a:buChar char="•"/>
            </a:pPr>
            <a:r>
              <a:rPr lang="en-US" sz="1350" dirty="0" err="1">
                <a:latin typeface="Proxima Nova"/>
              </a:rPr>
              <a:t>DevSecOps</a:t>
            </a:r>
            <a:r>
              <a:rPr lang="en-US" sz="1350" dirty="0">
                <a:latin typeface="Proxima Nova"/>
              </a:rPr>
              <a:t> emphasizes stronger compliance with security regulations.</a:t>
            </a:r>
          </a:p>
          <a:p>
            <a:pPr marL="214313" indent="-214313">
              <a:buFont typeface="Arial" panose="020B0604020202020204" pitchFamily="34" charset="0"/>
              <a:buChar char="•"/>
            </a:pPr>
            <a:endParaRPr lang="en-IN" sz="1350" dirty="0">
              <a:latin typeface="Proxima Nova"/>
            </a:endParaRPr>
          </a:p>
        </p:txBody>
      </p:sp>
      <p:sp>
        <p:nvSpPr>
          <p:cNvPr id="10" name="Google Shape;692;p11">
            <a:extLst>
              <a:ext uri="{FF2B5EF4-FFF2-40B4-BE49-F238E27FC236}">
                <a16:creationId xmlns:a16="http://schemas.microsoft.com/office/drawing/2014/main" id="{D0EBEBCC-0B65-374C-F511-6EBA35263357}"/>
              </a:ext>
            </a:extLst>
          </p:cNvPr>
          <p:cNvSpPr txBox="1"/>
          <p:nvPr/>
        </p:nvSpPr>
        <p:spPr>
          <a:xfrm>
            <a:off x="2501100" y="1268312"/>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err="1">
                <a:latin typeface="Proxima Nova"/>
              </a:rPr>
              <a:t>Devops</a:t>
            </a:r>
            <a:r>
              <a:rPr lang="en-US" sz="2100" dirty="0">
                <a:latin typeface="Proxima Nova"/>
              </a:rPr>
              <a:t> vs </a:t>
            </a:r>
            <a:r>
              <a:rPr lang="en-US" sz="2100" dirty="0" err="1">
                <a:latin typeface="Proxima Nova"/>
              </a:rPr>
              <a:t>devsecops</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23454650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44</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99;p12">
            <a:extLst>
              <a:ext uri="{FF2B5EF4-FFF2-40B4-BE49-F238E27FC236}">
                <a16:creationId xmlns:a16="http://schemas.microsoft.com/office/drawing/2014/main" id="{E3BC2794-155E-1916-2E13-E4984F87D77B}"/>
              </a:ext>
            </a:extLst>
          </p:cNvPr>
          <p:cNvSpPr txBox="1"/>
          <p:nvPr/>
        </p:nvSpPr>
        <p:spPr>
          <a:xfrm>
            <a:off x="2501100" y="1116611"/>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err="1"/>
              <a:t>Devops</a:t>
            </a:r>
            <a:r>
              <a:rPr lang="en-US" sz="2100" dirty="0"/>
              <a:t> vs </a:t>
            </a:r>
            <a:r>
              <a:rPr lang="en-US" sz="2100" dirty="0" err="1"/>
              <a:t>devsecops</a:t>
            </a:r>
            <a:endParaRPr sz="2100" b="0" i="0" u="none" strike="noStrike" cap="none" dirty="0">
              <a:solidFill>
                <a:schemeClr val="tx1"/>
              </a:solidFill>
              <a:latin typeface="Proxima Nova"/>
              <a:ea typeface="Proxima Nova"/>
              <a:cs typeface="Proxima Nova"/>
              <a:sym typeface="Proxima Nova"/>
            </a:endParaRPr>
          </a:p>
        </p:txBody>
      </p:sp>
      <p:graphicFrame>
        <p:nvGraphicFramePr>
          <p:cNvPr id="12" name="Content Placeholder 3">
            <a:extLst>
              <a:ext uri="{FF2B5EF4-FFF2-40B4-BE49-F238E27FC236}">
                <a16:creationId xmlns:a16="http://schemas.microsoft.com/office/drawing/2014/main" id="{AFCD444F-D141-8DDF-FED2-8028FACB1269}"/>
              </a:ext>
            </a:extLst>
          </p:cNvPr>
          <p:cNvGraphicFramePr>
            <a:graphicFrameLocks/>
          </p:cNvGraphicFramePr>
          <p:nvPr/>
        </p:nvGraphicFramePr>
        <p:xfrm>
          <a:off x="1117728" y="1769882"/>
          <a:ext cx="7203282" cy="2600529"/>
        </p:xfrm>
        <a:graphic>
          <a:graphicData uri="http://schemas.openxmlformats.org/drawingml/2006/table">
            <a:tbl>
              <a:tblPr firstRow="1" bandRow="1">
                <a:tableStyleId>{5C22544A-7EE6-4342-B048-85BDC9FD1C3A}</a:tableStyleId>
              </a:tblPr>
              <a:tblGrid>
                <a:gridCol w="2401094">
                  <a:extLst>
                    <a:ext uri="{9D8B030D-6E8A-4147-A177-3AD203B41FA5}">
                      <a16:colId xmlns:a16="http://schemas.microsoft.com/office/drawing/2014/main" val="896216287"/>
                    </a:ext>
                  </a:extLst>
                </a:gridCol>
                <a:gridCol w="2401094">
                  <a:extLst>
                    <a:ext uri="{9D8B030D-6E8A-4147-A177-3AD203B41FA5}">
                      <a16:colId xmlns:a16="http://schemas.microsoft.com/office/drawing/2014/main" val="179025369"/>
                    </a:ext>
                  </a:extLst>
                </a:gridCol>
                <a:gridCol w="2401094">
                  <a:extLst>
                    <a:ext uri="{9D8B030D-6E8A-4147-A177-3AD203B41FA5}">
                      <a16:colId xmlns:a16="http://schemas.microsoft.com/office/drawing/2014/main" val="3083129770"/>
                    </a:ext>
                  </a:extLst>
                </a:gridCol>
              </a:tblGrid>
              <a:tr h="278130">
                <a:tc>
                  <a:txBody>
                    <a:bodyPr/>
                    <a:lstStyle/>
                    <a:p>
                      <a:r>
                        <a:rPr lang="en-US" sz="1400" dirty="0"/>
                        <a:t>Features</a:t>
                      </a:r>
                      <a:endParaRPr lang="en-IN" sz="1400" dirty="0"/>
                    </a:p>
                  </a:txBody>
                  <a:tcPr marL="68580" marR="68580" marT="34290" marB="34290"/>
                </a:tc>
                <a:tc>
                  <a:txBody>
                    <a:bodyPr/>
                    <a:lstStyle/>
                    <a:p>
                      <a:r>
                        <a:rPr lang="en-US" sz="1400" dirty="0" err="1"/>
                        <a:t>Devops</a:t>
                      </a:r>
                      <a:endParaRPr lang="en-IN" sz="1400" dirty="0"/>
                    </a:p>
                  </a:txBody>
                  <a:tcPr marL="68580" marR="68580" marT="34290" marB="34290"/>
                </a:tc>
                <a:tc>
                  <a:txBody>
                    <a:bodyPr/>
                    <a:lstStyle/>
                    <a:p>
                      <a:r>
                        <a:rPr lang="en-US" sz="1400" dirty="0" err="1"/>
                        <a:t>Devsecops</a:t>
                      </a:r>
                      <a:endParaRPr lang="en-IN" sz="1400" dirty="0"/>
                    </a:p>
                  </a:txBody>
                  <a:tcPr marL="68580" marR="68580" marT="34290" marB="34290"/>
                </a:tc>
                <a:extLst>
                  <a:ext uri="{0D108BD9-81ED-4DB2-BD59-A6C34878D82A}">
                    <a16:rowId xmlns:a16="http://schemas.microsoft.com/office/drawing/2014/main" val="2680417816"/>
                  </a:ext>
                </a:extLst>
              </a:tr>
              <a:tr h="405969">
                <a:tc>
                  <a:txBody>
                    <a:bodyPr/>
                    <a:lstStyle/>
                    <a:p>
                      <a:r>
                        <a:rPr lang="en-US" sz="1400" dirty="0"/>
                        <a:t>Focus</a:t>
                      </a:r>
                      <a:endParaRPr lang="en-IN" sz="1400" dirty="0"/>
                    </a:p>
                  </a:txBody>
                  <a:tcPr marL="68580" marR="68580" marT="34290" marB="34290"/>
                </a:tc>
                <a:tc>
                  <a:txBody>
                    <a:bodyPr/>
                    <a:lstStyle/>
                    <a:p>
                      <a:r>
                        <a:rPr lang="en-US" sz="1400" dirty="0"/>
                        <a:t>Speed and Agility</a:t>
                      </a:r>
                      <a:endParaRPr lang="en-IN" sz="1400" dirty="0"/>
                    </a:p>
                  </a:txBody>
                  <a:tcPr marL="68580" marR="68580" marT="34290" marB="34290"/>
                </a:tc>
                <a:tc>
                  <a:txBody>
                    <a:bodyPr/>
                    <a:lstStyle/>
                    <a:p>
                      <a:r>
                        <a:rPr lang="en-US" sz="1400" dirty="0"/>
                        <a:t>Security</a:t>
                      </a:r>
                      <a:endParaRPr lang="en-IN" sz="1400" dirty="0"/>
                    </a:p>
                  </a:txBody>
                  <a:tcPr marL="68580" marR="68580" marT="34290" marB="34290"/>
                </a:tc>
                <a:extLst>
                  <a:ext uri="{0D108BD9-81ED-4DB2-BD59-A6C34878D82A}">
                    <a16:rowId xmlns:a16="http://schemas.microsoft.com/office/drawing/2014/main" val="938552400"/>
                  </a:ext>
                </a:extLst>
              </a:tr>
              <a:tr h="278130">
                <a:tc>
                  <a:txBody>
                    <a:bodyPr/>
                    <a:lstStyle/>
                    <a:p>
                      <a:r>
                        <a:rPr lang="en-US" sz="1400" dirty="0"/>
                        <a:t>When to start security testing</a:t>
                      </a:r>
                      <a:endParaRPr lang="en-IN" sz="1400" dirty="0"/>
                    </a:p>
                  </a:txBody>
                  <a:tcPr marL="68580" marR="68580" marT="34290" marB="34290"/>
                </a:tc>
                <a:tc>
                  <a:txBody>
                    <a:bodyPr/>
                    <a:lstStyle/>
                    <a:p>
                      <a:r>
                        <a:rPr lang="en-US" sz="1400" dirty="0"/>
                        <a:t>Later in dev</a:t>
                      </a:r>
                      <a:endParaRPr lang="en-IN" sz="1400" dirty="0"/>
                    </a:p>
                  </a:txBody>
                  <a:tcPr marL="68580" marR="68580" marT="34290" marB="34290"/>
                </a:tc>
                <a:tc>
                  <a:txBody>
                    <a:bodyPr/>
                    <a:lstStyle/>
                    <a:p>
                      <a:r>
                        <a:rPr lang="en-US" sz="1400" dirty="0"/>
                        <a:t>From the start of CICD</a:t>
                      </a:r>
                      <a:endParaRPr lang="en-IN" sz="1400" dirty="0"/>
                    </a:p>
                  </a:txBody>
                  <a:tcPr marL="68580" marR="68580" marT="34290" marB="34290"/>
                </a:tc>
                <a:extLst>
                  <a:ext uri="{0D108BD9-81ED-4DB2-BD59-A6C34878D82A}">
                    <a16:rowId xmlns:a16="http://schemas.microsoft.com/office/drawing/2014/main" val="1805817154"/>
                  </a:ext>
                </a:extLst>
              </a:tr>
              <a:tr h="278130">
                <a:tc>
                  <a:txBody>
                    <a:bodyPr/>
                    <a:lstStyle/>
                    <a:p>
                      <a:r>
                        <a:rPr lang="en-US" sz="1400" dirty="0"/>
                        <a:t>Who is responsible for security</a:t>
                      </a:r>
                      <a:endParaRPr lang="en-IN" sz="1400" dirty="0"/>
                    </a:p>
                  </a:txBody>
                  <a:tcPr marL="68580" marR="68580" marT="34290" marB="34290"/>
                </a:tc>
                <a:tc>
                  <a:txBody>
                    <a:bodyPr/>
                    <a:lstStyle/>
                    <a:p>
                      <a:r>
                        <a:rPr lang="en-US" sz="1400" dirty="0"/>
                        <a:t>Security Team</a:t>
                      </a:r>
                      <a:endParaRPr lang="en-IN" sz="1400" dirty="0"/>
                    </a:p>
                  </a:txBody>
                  <a:tcPr marL="68580" marR="68580" marT="34290" marB="34290"/>
                </a:tc>
                <a:tc>
                  <a:txBody>
                    <a:bodyPr/>
                    <a:lstStyle/>
                    <a:p>
                      <a:r>
                        <a:rPr lang="en-US" sz="1400" dirty="0"/>
                        <a:t>Everyone</a:t>
                      </a:r>
                      <a:endParaRPr lang="en-IN" sz="1400" dirty="0"/>
                    </a:p>
                  </a:txBody>
                  <a:tcPr marL="68580" marR="68580" marT="34290" marB="34290"/>
                </a:tc>
                <a:extLst>
                  <a:ext uri="{0D108BD9-81ED-4DB2-BD59-A6C34878D82A}">
                    <a16:rowId xmlns:a16="http://schemas.microsoft.com/office/drawing/2014/main" val="4009728067"/>
                  </a:ext>
                </a:extLst>
              </a:tr>
              <a:tr h="891540">
                <a:tc>
                  <a:txBody>
                    <a:bodyPr/>
                    <a:lstStyle/>
                    <a:p>
                      <a:r>
                        <a:rPr lang="en-US" sz="1400" dirty="0"/>
                        <a:t>Culture</a:t>
                      </a:r>
                      <a:endParaRPr lang="en-IN" sz="1400" dirty="0"/>
                    </a:p>
                  </a:txBody>
                  <a:tcPr marL="68580" marR="68580" marT="34290" marB="34290"/>
                </a:tc>
                <a:tc>
                  <a:txBody>
                    <a:bodyPr/>
                    <a:lstStyle/>
                    <a:p>
                      <a:r>
                        <a:rPr lang="en-US" sz="1400" dirty="0"/>
                        <a:t>Security aspects most of team are not aware about practices, take as barrier in speed of release</a:t>
                      </a:r>
                      <a:endParaRPr lang="en-IN" sz="1400" dirty="0"/>
                    </a:p>
                  </a:txBody>
                  <a:tcPr marL="68580" marR="68580" marT="34290" marB="34290"/>
                </a:tc>
                <a:tc>
                  <a:txBody>
                    <a:bodyPr/>
                    <a:lstStyle/>
                    <a:p>
                      <a:r>
                        <a:rPr lang="en-US" sz="1400" dirty="0"/>
                        <a:t>Security is everyone responsibility, everyone will aware about the process</a:t>
                      </a:r>
                      <a:endParaRPr lang="en-IN" sz="1400" dirty="0"/>
                    </a:p>
                  </a:txBody>
                  <a:tcPr marL="68580" marR="68580" marT="34290" marB="34290"/>
                </a:tc>
                <a:extLst>
                  <a:ext uri="{0D108BD9-81ED-4DB2-BD59-A6C34878D82A}">
                    <a16:rowId xmlns:a16="http://schemas.microsoft.com/office/drawing/2014/main" val="3208780203"/>
                  </a:ext>
                </a:extLst>
              </a:tr>
            </a:tbl>
          </a:graphicData>
        </a:graphic>
      </p:graphicFrame>
    </p:spTree>
    <p:extLst>
      <p:ext uri="{BB962C8B-B14F-4D97-AF65-F5344CB8AC3E}">
        <p14:creationId xmlns:p14="http://schemas.microsoft.com/office/powerpoint/2010/main" val="36889299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45</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708;p13">
            <a:extLst>
              <a:ext uri="{FF2B5EF4-FFF2-40B4-BE49-F238E27FC236}">
                <a16:creationId xmlns:a16="http://schemas.microsoft.com/office/drawing/2014/main" id="{0BAE80DF-0E84-B019-F33C-E0BB96A4DEC6}"/>
              </a:ext>
            </a:extLst>
          </p:cNvPr>
          <p:cNvSpPr txBox="1"/>
          <p:nvPr/>
        </p:nvSpPr>
        <p:spPr>
          <a:xfrm>
            <a:off x="1503225" y="1847201"/>
            <a:ext cx="6137550" cy="2426948"/>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lgn="l">
              <a:buFont typeface="Arial" panose="020B0604020202020204" pitchFamily="34" charset="0"/>
              <a:buChar char="•"/>
            </a:pPr>
            <a:r>
              <a:rPr lang="en-US" sz="1350" b="1" i="0" dirty="0">
                <a:solidFill>
                  <a:srgbClr val="333333"/>
                </a:solidFill>
                <a:effectLst/>
                <a:latin typeface="Proxima Nova"/>
              </a:rPr>
              <a:t>Shift left :</a:t>
            </a:r>
            <a:r>
              <a:rPr lang="en-US" sz="1350" b="0" i="0" dirty="0">
                <a:solidFill>
                  <a:srgbClr val="333333"/>
                </a:solidFill>
                <a:effectLst/>
                <a:latin typeface="Proxima Nova"/>
              </a:rPr>
              <a:t>Shift left is the process of checking for vulnerabilities in the earlier stages of software development. By following the process, software teams can prevent undetected security issues when they build the application. For example, developers create secure code in a </a:t>
            </a:r>
            <a:r>
              <a:rPr lang="en-US" sz="1350" b="0" i="0" dirty="0" err="1">
                <a:solidFill>
                  <a:srgbClr val="333333"/>
                </a:solidFill>
                <a:effectLst/>
                <a:latin typeface="Proxima Nova"/>
              </a:rPr>
              <a:t>DevSecOps</a:t>
            </a:r>
            <a:r>
              <a:rPr lang="en-US" sz="1350" b="0" i="0" dirty="0">
                <a:solidFill>
                  <a:srgbClr val="333333"/>
                </a:solidFill>
                <a:effectLst/>
                <a:latin typeface="Proxima Nova"/>
              </a:rPr>
              <a:t> process.</a:t>
            </a:r>
          </a:p>
          <a:p>
            <a:pPr marL="342900" indent="-342900" algn="l">
              <a:buFont typeface="Arial" panose="020B0604020202020204" pitchFamily="34" charset="0"/>
              <a:buChar char="•"/>
            </a:pPr>
            <a:r>
              <a:rPr lang="en-US" sz="1350" b="1" i="0" dirty="0">
                <a:solidFill>
                  <a:srgbClr val="333333"/>
                </a:solidFill>
                <a:effectLst/>
                <a:latin typeface="Proxima Nova"/>
              </a:rPr>
              <a:t>Shift right :</a:t>
            </a:r>
            <a:r>
              <a:rPr lang="en-US" sz="1350" b="0" i="0" dirty="0">
                <a:solidFill>
                  <a:srgbClr val="333333"/>
                </a:solidFill>
                <a:effectLst/>
                <a:latin typeface="Proxima Nova"/>
              </a:rPr>
              <a:t>Shift right indicates the importance of focusing on security after the application is deployed. Some vulnerabilities might escape earlier security checks and become apparent only when customers use the software. </a:t>
            </a:r>
          </a:p>
        </p:txBody>
      </p:sp>
      <p:sp>
        <p:nvSpPr>
          <p:cNvPr id="10" name="Google Shape;709;p13">
            <a:extLst>
              <a:ext uri="{FF2B5EF4-FFF2-40B4-BE49-F238E27FC236}">
                <a16:creationId xmlns:a16="http://schemas.microsoft.com/office/drawing/2014/main" id="{EE75D62C-5893-A7DB-C388-FC0ABBD86E16}"/>
              </a:ext>
            </a:extLst>
          </p:cNvPr>
          <p:cNvSpPr txBox="1"/>
          <p:nvPr/>
        </p:nvSpPr>
        <p:spPr>
          <a:xfrm>
            <a:off x="2501100" y="119280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err="1"/>
              <a:t>DevSecOps</a:t>
            </a:r>
            <a:r>
              <a:rPr lang="en-US" sz="2100" dirty="0"/>
              <a:t> Principles </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9414726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46</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716;p14">
            <a:extLst>
              <a:ext uri="{FF2B5EF4-FFF2-40B4-BE49-F238E27FC236}">
                <a16:creationId xmlns:a16="http://schemas.microsoft.com/office/drawing/2014/main" id="{B91A40CA-1EB9-534D-D15F-314F18718793}"/>
              </a:ext>
            </a:extLst>
          </p:cNvPr>
          <p:cNvSpPr txBox="1"/>
          <p:nvPr/>
        </p:nvSpPr>
        <p:spPr>
          <a:xfrm>
            <a:off x="1315112" y="1592020"/>
            <a:ext cx="6513777" cy="2207585"/>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1350" dirty="0"/>
              <a:t>Security should be a standard requirement</a:t>
            </a:r>
          </a:p>
          <a:p>
            <a:pPr marL="342900" indent="-342900">
              <a:buFont typeface="Arial" panose="020B0604020202020204" pitchFamily="34" charset="0"/>
              <a:buChar char="•"/>
            </a:pPr>
            <a:r>
              <a:rPr lang="en-US" sz="1350" dirty="0"/>
              <a:t>Product managers and engineers should always be challenged</a:t>
            </a:r>
          </a:p>
          <a:p>
            <a:pPr marL="342900" indent="-342900">
              <a:buFont typeface="Arial" panose="020B0604020202020204" pitchFamily="34" charset="0"/>
              <a:buChar char="•"/>
            </a:pPr>
            <a:r>
              <a:rPr lang="en-US" sz="1350" dirty="0"/>
              <a:t>Understand and prioritize end-user needs in services</a:t>
            </a:r>
          </a:p>
          <a:p>
            <a:pPr marL="342900" indent="-342900">
              <a:buFont typeface="Arial" panose="020B0604020202020204" pitchFamily="34" charset="0"/>
              <a:buChar char="•"/>
            </a:pPr>
            <a:r>
              <a:rPr lang="en-US" sz="1350" dirty="0"/>
              <a:t>All components should be considered by ethical hackers</a:t>
            </a:r>
          </a:p>
          <a:p>
            <a:pPr marL="342900" indent="-342900">
              <a:buFont typeface="Arial" panose="020B0604020202020204" pitchFamily="34" charset="0"/>
              <a:buChar char="•"/>
            </a:pPr>
            <a:r>
              <a:rPr lang="en-US" sz="1350" dirty="0"/>
              <a:t>Innovation driven by manual ethical hacking techniques</a:t>
            </a:r>
            <a:endParaRPr lang="en-IN" sz="1350" dirty="0"/>
          </a:p>
        </p:txBody>
      </p:sp>
      <p:sp>
        <p:nvSpPr>
          <p:cNvPr id="10" name="Google Shape;717;p14">
            <a:extLst>
              <a:ext uri="{FF2B5EF4-FFF2-40B4-BE49-F238E27FC236}">
                <a16:creationId xmlns:a16="http://schemas.microsoft.com/office/drawing/2014/main" id="{74E5C250-6CD0-86FF-259C-FFB96D042319}"/>
              </a:ext>
            </a:extLst>
          </p:cNvPr>
          <p:cNvSpPr txBox="1"/>
          <p:nvPr/>
        </p:nvSpPr>
        <p:spPr>
          <a:xfrm>
            <a:off x="2501100" y="119280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t>Shift left: Culture</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25933407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37336-1A4F-15F0-5AF0-8D4EF6B7CC10}"/>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2404526E-89B1-BFD7-B526-CFC3996DFF4E}"/>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47</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AA8ECF86-B3D9-F146-87F4-F5E536EE0A72}"/>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705665D-7A0B-EEEE-B97A-8D8C4C00FAB7}"/>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E646682B-8105-5F48-E685-8F25001727CD}"/>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6D09BA96-67E2-FFE7-C9E5-398139B014BC}"/>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23CAFAC3-6D79-1C21-E23D-B814CE8D4991}"/>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98EE9128-505E-0FB3-8A3E-86A4C63FFAF5}"/>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716;p14">
            <a:extLst>
              <a:ext uri="{FF2B5EF4-FFF2-40B4-BE49-F238E27FC236}">
                <a16:creationId xmlns:a16="http://schemas.microsoft.com/office/drawing/2014/main" id="{C2660FCF-3CE3-03EB-7530-D7C1F16E0832}"/>
              </a:ext>
            </a:extLst>
          </p:cNvPr>
          <p:cNvSpPr txBox="1"/>
          <p:nvPr/>
        </p:nvSpPr>
        <p:spPr>
          <a:xfrm>
            <a:off x="1315112" y="1592020"/>
            <a:ext cx="6513777" cy="2207585"/>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1350" dirty="0"/>
              <a:t>Inclusion of security in CI/CD pipeline</a:t>
            </a:r>
          </a:p>
          <a:p>
            <a:pPr marL="342900" indent="-342900">
              <a:buFont typeface="Arial" panose="020B0604020202020204" pitchFamily="34" charset="0"/>
              <a:buChar char="•"/>
            </a:pPr>
            <a:r>
              <a:rPr lang="en-US" sz="1350" dirty="0"/>
              <a:t>SAST (statistical analysis)</a:t>
            </a:r>
          </a:p>
          <a:p>
            <a:pPr marL="342900" indent="-342900">
              <a:buFont typeface="Arial" panose="020B0604020202020204" pitchFamily="34" charset="0"/>
              <a:buChar char="•"/>
            </a:pPr>
            <a:r>
              <a:rPr lang="en-US" sz="1350" dirty="0"/>
              <a:t>DAST (dynamic analysis)</a:t>
            </a:r>
          </a:p>
          <a:p>
            <a:pPr marL="342900" indent="-342900">
              <a:buFont typeface="Arial" panose="020B0604020202020204" pitchFamily="34" charset="0"/>
              <a:buChar char="•"/>
            </a:pPr>
            <a:r>
              <a:rPr lang="en-US" sz="1350" dirty="0"/>
              <a:t>Security code coverage analysis</a:t>
            </a:r>
          </a:p>
          <a:p>
            <a:pPr marL="342900" indent="-342900">
              <a:buFont typeface="Arial" panose="020B0604020202020204" pitchFamily="34" charset="0"/>
              <a:buChar char="•"/>
            </a:pPr>
            <a:r>
              <a:rPr lang="en-US" sz="1350" dirty="0"/>
              <a:t>Digitally signed secure repositories for built binaries</a:t>
            </a:r>
          </a:p>
          <a:p>
            <a:pPr marL="342900" indent="-342900">
              <a:buFont typeface="Arial" panose="020B0604020202020204" pitchFamily="34" charset="0"/>
              <a:buChar char="•"/>
            </a:pPr>
            <a:r>
              <a:rPr lang="en-US" sz="1350" dirty="0"/>
              <a:t>Penetration tests</a:t>
            </a:r>
          </a:p>
          <a:p>
            <a:pPr marL="342900" indent="-342900">
              <a:buFont typeface="Arial" panose="020B0604020202020204" pitchFamily="34" charset="0"/>
              <a:buChar char="•"/>
            </a:pPr>
            <a:r>
              <a:rPr lang="en-US" sz="1350" dirty="0"/>
              <a:t>Smoke tests</a:t>
            </a:r>
          </a:p>
        </p:txBody>
      </p:sp>
      <p:sp>
        <p:nvSpPr>
          <p:cNvPr id="10" name="Google Shape;717;p14">
            <a:extLst>
              <a:ext uri="{FF2B5EF4-FFF2-40B4-BE49-F238E27FC236}">
                <a16:creationId xmlns:a16="http://schemas.microsoft.com/office/drawing/2014/main" id="{07B94A54-2D12-2735-B36C-778A9B26A133}"/>
              </a:ext>
            </a:extLst>
          </p:cNvPr>
          <p:cNvSpPr txBox="1"/>
          <p:nvPr/>
        </p:nvSpPr>
        <p:spPr>
          <a:xfrm>
            <a:off x="2501100" y="119280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t>Shift left: Automation</a:t>
            </a:r>
            <a:endParaRPr lang="en-US"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38860263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24608-A776-251A-2C64-38AE384E42F0}"/>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F018934A-576C-B4B7-59F9-F474C4322877}"/>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48</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7DC3989E-C570-2E69-CA11-157AAE2E30CE}"/>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FC32D813-A421-1CDA-36A4-9BBEF4083B50}"/>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05E49F8-C8CB-666F-45EF-478B3AF3B317}"/>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CF2236B6-622B-8208-8320-167695D50EBC}"/>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30A9807B-64AB-55FE-8C78-2B69FAAD3D90}"/>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CB268677-78FE-1144-613E-6A6F2195860D}"/>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716;p14">
            <a:extLst>
              <a:ext uri="{FF2B5EF4-FFF2-40B4-BE49-F238E27FC236}">
                <a16:creationId xmlns:a16="http://schemas.microsoft.com/office/drawing/2014/main" id="{955B235D-6761-0E10-5ACE-9FD4FBC8A6A6}"/>
              </a:ext>
            </a:extLst>
          </p:cNvPr>
          <p:cNvSpPr txBox="1"/>
          <p:nvPr/>
        </p:nvSpPr>
        <p:spPr>
          <a:xfrm>
            <a:off x="1315112" y="1592020"/>
            <a:ext cx="6513777" cy="2207585"/>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1350" dirty="0"/>
              <a:t>Security-integrated definitions</a:t>
            </a:r>
          </a:p>
          <a:p>
            <a:pPr marL="342900" indent="-342900">
              <a:buFont typeface="Arial" panose="020B0604020202020204" pitchFamily="34" charset="0"/>
              <a:buChar char="•"/>
            </a:pPr>
            <a:r>
              <a:rPr lang="en-US" sz="1350" dirty="0"/>
              <a:t>Security-focused designs</a:t>
            </a:r>
          </a:p>
          <a:p>
            <a:pPr marL="342900" indent="-342900">
              <a:buFont typeface="Arial" panose="020B0604020202020204" pitchFamily="34" charset="0"/>
              <a:buChar char="•"/>
            </a:pPr>
            <a:r>
              <a:rPr lang="en-US" sz="1350" dirty="0"/>
              <a:t>Security-driven engineering</a:t>
            </a:r>
          </a:p>
          <a:p>
            <a:pPr marL="342900" indent="-342900">
              <a:buFont typeface="Arial" panose="020B0604020202020204" pitchFamily="34" charset="0"/>
              <a:buChar char="•"/>
            </a:pPr>
            <a:r>
              <a:rPr lang="en-US" sz="1350" dirty="0"/>
              <a:t>Security-inclusive testing</a:t>
            </a:r>
          </a:p>
          <a:p>
            <a:pPr marL="342900" indent="-342900">
              <a:buFont typeface="Arial" panose="020B0604020202020204" pitchFamily="34" charset="0"/>
              <a:buChar char="•"/>
            </a:pPr>
            <a:r>
              <a:rPr lang="en-US" sz="1350" dirty="0"/>
              <a:t>Security-conscious deployments</a:t>
            </a:r>
          </a:p>
        </p:txBody>
      </p:sp>
      <p:sp>
        <p:nvSpPr>
          <p:cNvPr id="10" name="Google Shape;717;p14">
            <a:extLst>
              <a:ext uri="{FF2B5EF4-FFF2-40B4-BE49-F238E27FC236}">
                <a16:creationId xmlns:a16="http://schemas.microsoft.com/office/drawing/2014/main" id="{13174C17-7499-E010-86E9-46A55E5F4167}"/>
              </a:ext>
            </a:extLst>
          </p:cNvPr>
          <p:cNvSpPr txBox="1"/>
          <p:nvPr/>
        </p:nvSpPr>
        <p:spPr>
          <a:xfrm>
            <a:off x="2501100" y="119280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t>Shift left: Lean</a:t>
            </a:r>
            <a:endParaRPr lang="en-US"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18471089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3324E-AED3-752F-ADFD-A92F252B1B83}"/>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3E405902-26FE-409B-6243-CE603ABB233E}"/>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49</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0636BCC8-D685-9294-61A9-91BCB5F28AF3}"/>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A454207C-3300-73A6-2096-A0FDCB90EDAE}"/>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8255E4B1-D4B2-44A5-FA8A-0B4367F9DE6B}"/>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ED5A36C4-AD86-5958-A0FE-56AD5048C335}"/>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5F32E7E4-E600-B2D3-9143-4F1E0C3E403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624C6F0B-2E7B-B807-13D5-79961728B76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716;p14">
            <a:extLst>
              <a:ext uri="{FF2B5EF4-FFF2-40B4-BE49-F238E27FC236}">
                <a16:creationId xmlns:a16="http://schemas.microsoft.com/office/drawing/2014/main" id="{C36C64B8-AC4A-06ED-9D3F-BA7713A568DB}"/>
              </a:ext>
            </a:extLst>
          </p:cNvPr>
          <p:cNvSpPr txBox="1"/>
          <p:nvPr/>
        </p:nvSpPr>
        <p:spPr>
          <a:xfrm>
            <a:off x="1315112" y="1592020"/>
            <a:ext cx="6513777" cy="2207585"/>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1350" dirty="0"/>
              <a:t>Adopt the mindset that no system is completely invulnerable</a:t>
            </a:r>
          </a:p>
          <a:p>
            <a:pPr marL="342900" indent="-342900">
              <a:buFont typeface="Arial" panose="020B0604020202020204" pitchFamily="34" charset="0"/>
              <a:buChar char="•"/>
            </a:pPr>
            <a:r>
              <a:rPr lang="en-US" sz="1350" dirty="0"/>
              <a:t>Conduct production smoke testing from the very beginning as part of monitoring and observability</a:t>
            </a:r>
          </a:p>
          <a:p>
            <a:pPr marL="342900" indent="-342900">
              <a:buFont typeface="Arial" panose="020B0604020202020204" pitchFamily="34" charset="0"/>
              <a:buChar char="•"/>
            </a:pPr>
            <a:r>
              <a:rPr lang="en-US" sz="1350" dirty="0"/>
              <a:t>Apply chaos engineering in both production and non-production environments</a:t>
            </a:r>
          </a:p>
          <a:p>
            <a:pPr marL="342900" indent="-342900">
              <a:buFont typeface="Arial" panose="020B0604020202020204" pitchFamily="34" charset="0"/>
              <a:buChar char="•"/>
            </a:pPr>
            <a:r>
              <a:rPr lang="en-US" sz="1350" dirty="0"/>
              <a:t>Perform root cause analysis using real-time data capture</a:t>
            </a:r>
          </a:p>
        </p:txBody>
      </p:sp>
      <p:sp>
        <p:nvSpPr>
          <p:cNvPr id="10" name="Google Shape;717;p14">
            <a:extLst>
              <a:ext uri="{FF2B5EF4-FFF2-40B4-BE49-F238E27FC236}">
                <a16:creationId xmlns:a16="http://schemas.microsoft.com/office/drawing/2014/main" id="{148C2198-49DD-14FB-C184-184DBE945E4B}"/>
              </a:ext>
            </a:extLst>
          </p:cNvPr>
          <p:cNvSpPr txBox="1"/>
          <p:nvPr/>
        </p:nvSpPr>
        <p:spPr>
          <a:xfrm>
            <a:off x="2501100" y="119280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t>Reactive: Shift right [culture]</a:t>
            </a:r>
            <a:endParaRPr lang="en-US"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32313411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B427C-5478-3AF4-4C45-53C6D7191E86}"/>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265540AF-2636-81C9-D4CC-6505B1BB725E}"/>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50</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6B3680CB-ED1D-F897-A80C-2C14993C260F}"/>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BD8130A4-3492-9381-B19C-7954800A0790}"/>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22B69A52-9323-C4E4-B67F-9B87D4955B96}"/>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CCC87450-3F4A-9D81-D67C-FA024E117115}"/>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3709B19-A985-6834-CEF3-8B05B49E0B4A}"/>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136D321F-11B1-0FF1-FA3D-E6FC6B61A288}"/>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716;p14">
            <a:extLst>
              <a:ext uri="{FF2B5EF4-FFF2-40B4-BE49-F238E27FC236}">
                <a16:creationId xmlns:a16="http://schemas.microsoft.com/office/drawing/2014/main" id="{325D5304-B6B4-DE6D-7D1C-2A403459A2B7}"/>
              </a:ext>
            </a:extLst>
          </p:cNvPr>
          <p:cNvSpPr txBox="1"/>
          <p:nvPr/>
        </p:nvSpPr>
        <p:spPr>
          <a:xfrm>
            <a:off x="1315112" y="1592020"/>
            <a:ext cx="6513777" cy="2207585"/>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1350" dirty="0">
                <a:latin typeface="Proxima Nova"/>
              </a:rPr>
              <a:t>Continuously monitor security in both production and non-production environments</a:t>
            </a:r>
          </a:p>
          <a:p>
            <a:pPr marL="342900" indent="-342900">
              <a:buFont typeface="Arial" panose="020B0604020202020204" pitchFamily="34" charset="0"/>
              <a:buChar char="•"/>
            </a:pPr>
            <a:r>
              <a:rPr lang="en-US" sz="1350" dirty="0">
                <a:latin typeface="Proxima Nova"/>
              </a:rPr>
              <a:t>Implement chaos engineering with automated security testing in production</a:t>
            </a:r>
          </a:p>
          <a:p>
            <a:pPr marL="342900" indent="-342900">
              <a:buFont typeface="Arial" panose="020B0604020202020204" pitchFamily="34" charset="0"/>
              <a:buChar char="•"/>
            </a:pPr>
            <a:r>
              <a:rPr lang="en-US" sz="1350" dirty="0">
                <a:latin typeface="Proxima Nova"/>
              </a:rPr>
              <a:t>Treat major incident management as a value stream—every second matters!</a:t>
            </a:r>
          </a:p>
          <a:p>
            <a:pPr marL="342900" indent="-342900">
              <a:buFont typeface="Arial" panose="020B0604020202020204" pitchFamily="34" charset="0"/>
              <a:buChar char="•"/>
            </a:pPr>
            <a:r>
              <a:rPr lang="en-US" sz="1350" dirty="0">
                <a:latin typeface="Proxima Nova"/>
              </a:rPr>
              <a:t>Minimize response times to halt an attack</a:t>
            </a:r>
          </a:p>
          <a:p>
            <a:pPr marL="342900" indent="-342900">
              <a:buFont typeface="Arial" panose="020B0604020202020204" pitchFamily="34" charset="0"/>
              <a:buChar char="•"/>
            </a:pPr>
            <a:r>
              <a:rPr lang="en-US" sz="1350" dirty="0">
                <a:latin typeface="Proxima Nova"/>
              </a:rPr>
              <a:t>Speed up response times to restore value</a:t>
            </a:r>
          </a:p>
          <a:p>
            <a:pPr marL="342900" indent="-342900">
              <a:buFont typeface="Arial" panose="020B0604020202020204" pitchFamily="34" charset="0"/>
              <a:buChar char="•"/>
            </a:pPr>
            <a:r>
              <a:rPr lang="en-US" sz="1350" dirty="0">
                <a:latin typeface="Proxima Nova"/>
              </a:rPr>
              <a:t>Provide feedback to engineering to prevent future issues and address technical debt</a:t>
            </a:r>
          </a:p>
        </p:txBody>
      </p:sp>
      <p:sp>
        <p:nvSpPr>
          <p:cNvPr id="10" name="Google Shape;717;p14">
            <a:extLst>
              <a:ext uri="{FF2B5EF4-FFF2-40B4-BE49-F238E27FC236}">
                <a16:creationId xmlns:a16="http://schemas.microsoft.com/office/drawing/2014/main" id="{0B291044-BF71-6743-65EC-E3E230D78889}"/>
              </a:ext>
            </a:extLst>
          </p:cNvPr>
          <p:cNvSpPr txBox="1"/>
          <p:nvPr/>
        </p:nvSpPr>
        <p:spPr>
          <a:xfrm>
            <a:off x="2501100" y="119280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t>Automation and Lean Practices</a:t>
            </a:r>
            <a:endParaRPr lang="en-US"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29416353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1F124-F669-EB05-1583-958A0EDAB5C7}"/>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F4FF7B17-2CA3-67AA-D889-3DD39866D7E7}"/>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51</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59DDB52-2541-59D1-CC4D-518A568EC2CD}"/>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F1863EEB-9478-75B2-A82F-4AF6AC9AAB50}"/>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D524655B-0F50-961C-FAF4-F0DDB13AB244}"/>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E87655F6-3B94-7F31-97F3-2C0AAE911E98}"/>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52BA542B-013F-4355-93E6-C806170D45AF}"/>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EDEDE9F3-851B-CD3A-185E-9F9C8D7250D4}"/>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716;p14">
            <a:extLst>
              <a:ext uri="{FF2B5EF4-FFF2-40B4-BE49-F238E27FC236}">
                <a16:creationId xmlns:a16="http://schemas.microsoft.com/office/drawing/2014/main" id="{195E8B83-CED1-3246-27D0-14176F20D770}"/>
              </a:ext>
            </a:extLst>
          </p:cNvPr>
          <p:cNvSpPr txBox="1"/>
          <p:nvPr/>
        </p:nvSpPr>
        <p:spPr>
          <a:xfrm>
            <a:off x="1315112" y="1592020"/>
            <a:ext cx="6513777" cy="2207585"/>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1350" dirty="0">
                <a:latin typeface="Proxima Nova"/>
              </a:rPr>
              <a:t>Security professionals define measures based on regulatory requirements, such as GDPR</a:t>
            </a:r>
          </a:p>
          <a:p>
            <a:pPr marL="342900" indent="-342900">
              <a:buFont typeface="Arial" panose="020B0604020202020204" pitchFamily="34" charset="0"/>
              <a:buChar char="•"/>
            </a:pPr>
            <a:r>
              <a:rPr lang="en-US" sz="1350" dirty="0">
                <a:latin typeface="Proxima Nova"/>
              </a:rPr>
              <a:t>Measure security in both production and non-production environments</a:t>
            </a:r>
          </a:p>
          <a:p>
            <a:pPr marL="342900" indent="-342900">
              <a:buFont typeface="Arial" panose="020B0604020202020204" pitchFamily="34" charset="0"/>
              <a:buChar char="•"/>
            </a:pPr>
            <a:r>
              <a:rPr lang="en-US" sz="1350" dirty="0">
                <a:latin typeface="Proxima Nova"/>
              </a:rPr>
              <a:t>Define security as a key part of business value and success criteria</a:t>
            </a:r>
          </a:p>
          <a:p>
            <a:pPr marL="342900" indent="-342900">
              <a:buFont typeface="Arial" panose="020B0604020202020204" pitchFamily="34" charset="0"/>
              <a:buChar char="•"/>
            </a:pPr>
            <a:r>
              <a:rPr lang="en-US" sz="1350" dirty="0">
                <a:latin typeface="Proxima Nova"/>
              </a:rPr>
              <a:t>Real-time updates of security scorecards</a:t>
            </a:r>
          </a:p>
        </p:txBody>
      </p:sp>
      <p:sp>
        <p:nvSpPr>
          <p:cNvPr id="10" name="Google Shape;717;p14">
            <a:extLst>
              <a:ext uri="{FF2B5EF4-FFF2-40B4-BE49-F238E27FC236}">
                <a16:creationId xmlns:a16="http://schemas.microsoft.com/office/drawing/2014/main" id="{8427AE42-8D26-5E4C-0BAF-348C65249405}"/>
              </a:ext>
            </a:extLst>
          </p:cNvPr>
          <p:cNvSpPr txBox="1"/>
          <p:nvPr/>
        </p:nvSpPr>
        <p:spPr>
          <a:xfrm>
            <a:off x="2501100" y="119280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t>Common factors: Measurements </a:t>
            </a:r>
            <a:endParaRPr lang="en-US"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24706717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9E21D-5CE1-8EC6-2C07-137A27AED454}"/>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5B920985-3AB6-8FFD-B2DA-6E85D6329BA5}"/>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52</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D0176B0F-4C79-A23C-B7C1-7A16E73C7AD2}"/>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BA5D6E62-C6F6-975D-ABF7-69D2DDCA2926}"/>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1778B311-1632-F014-1316-A0F340BB260C}"/>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DAC00F05-7856-DC6C-6177-A2F65AB681EF}"/>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BF138D1C-5B69-DC9D-22FE-2796A137547A}"/>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D10D6CEF-B848-46EA-D134-822800B02F1E}"/>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716;p14">
            <a:extLst>
              <a:ext uri="{FF2B5EF4-FFF2-40B4-BE49-F238E27FC236}">
                <a16:creationId xmlns:a16="http://schemas.microsoft.com/office/drawing/2014/main" id="{8F0F8483-AE97-E4D8-8253-0738816A4ED1}"/>
              </a:ext>
            </a:extLst>
          </p:cNvPr>
          <p:cNvSpPr txBox="1"/>
          <p:nvPr/>
        </p:nvSpPr>
        <p:spPr>
          <a:xfrm>
            <a:off x="1315112" y="1592020"/>
            <a:ext cx="6513777" cy="2207585"/>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1350" dirty="0">
                <a:latin typeface="Proxima Nova"/>
              </a:rPr>
              <a:t>Every part of the organization should take responsibility for security</a:t>
            </a:r>
          </a:p>
          <a:p>
            <a:pPr marL="342900" indent="-342900">
              <a:buFont typeface="Arial" panose="020B0604020202020204" pitchFamily="34" charset="0"/>
              <a:buChar char="•"/>
            </a:pPr>
            <a:r>
              <a:rPr lang="en-US" sz="1350" dirty="0">
                <a:latin typeface="Proxima Nova"/>
              </a:rPr>
              <a:t>The ability to independently identify and implement security measures</a:t>
            </a:r>
          </a:p>
          <a:p>
            <a:pPr marL="342900" indent="-342900">
              <a:buFont typeface="Arial" panose="020B0604020202020204" pitchFamily="34" charset="0"/>
              <a:buChar char="•"/>
            </a:pPr>
            <a:r>
              <a:rPr lang="en-US" sz="1350" dirty="0">
                <a:latin typeface="Proxima Nova"/>
              </a:rPr>
              <a:t>In case of an attack, a security-led damage analysis team, supported by IT, should work alongside an IT-led remediation team, supported by security</a:t>
            </a:r>
          </a:p>
          <a:p>
            <a:pPr marL="342900" indent="-342900">
              <a:buFont typeface="Arial" panose="020B0604020202020204" pitchFamily="34" charset="0"/>
              <a:buChar char="•"/>
            </a:pPr>
            <a:r>
              <a:rPr lang="en-US" sz="1350" dirty="0">
                <a:latin typeface="Proxima Nova"/>
              </a:rPr>
              <a:t>Leadership should empower teams with shared accountability in a safe environment, including red team vs. blue team exercises and security drills</a:t>
            </a:r>
          </a:p>
        </p:txBody>
      </p:sp>
      <p:sp>
        <p:nvSpPr>
          <p:cNvPr id="10" name="Google Shape;717;p14">
            <a:extLst>
              <a:ext uri="{FF2B5EF4-FFF2-40B4-BE49-F238E27FC236}">
                <a16:creationId xmlns:a16="http://schemas.microsoft.com/office/drawing/2014/main" id="{889DA044-89D3-A6B8-17B5-12025A1FE308}"/>
              </a:ext>
            </a:extLst>
          </p:cNvPr>
          <p:cNvSpPr txBox="1"/>
          <p:nvPr/>
        </p:nvSpPr>
        <p:spPr>
          <a:xfrm>
            <a:off x="2501100" y="119280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t>Sharing</a:t>
            </a:r>
            <a:endParaRPr lang="en-US"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13924504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492E0-1693-B54B-4C8A-DC31DAB2C670}"/>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F5315D5D-7E24-45E6-DC5B-3C32B3245905}"/>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53</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55901B2C-38F0-E31E-561E-7D738C174C18}"/>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B82EA9AF-FEA1-8FE8-BFFE-AC023EC500B6}"/>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1698A0B4-9F7E-7922-B9FA-9305379706CB}"/>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A9D590CC-2DDF-8EA5-5DED-DA0065A962AC}"/>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9BE229F7-ABA9-A06D-8CA0-5CB7BB904884}"/>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3D5C287E-72EE-E346-1225-41CEB019AA91}"/>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716;p14">
            <a:extLst>
              <a:ext uri="{FF2B5EF4-FFF2-40B4-BE49-F238E27FC236}">
                <a16:creationId xmlns:a16="http://schemas.microsoft.com/office/drawing/2014/main" id="{270BC422-5A2E-FE68-95D8-853D7F27C100}"/>
              </a:ext>
            </a:extLst>
          </p:cNvPr>
          <p:cNvSpPr txBox="1"/>
          <p:nvPr/>
        </p:nvSpPr>
        <p:spPr>
          <a:xfrm>
            <a:off x="1315112" y="1592020"/>
            <a:ext cx="6513777" cy="2207585"/>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1350" b="1" dirty="0">
                <a:latin typeface="Proxima Nova"/>
              </a:rPr>
              <a:t>Static application security testing: </a:t>
            </a:r>
            <a:r>
              <a:rPr lang="en-US" sz="1350" dirty="0">
                <a:latin typeface="Proxima Nova"/>
              </a:rPr>
              <a:t>Static application security testing (SAST) tools analyze and find vulnerabilities in proprietary source code. </a:t>
            </a:r>
          </a:p>
          <a:p>
            <a:pPr marL="342900" indent="-342900">
              <a:buFont typeface="Arial" panose="020B0604020202020204" pitchFamily="34" charset="0"/>
              <a:buChar char="•"/>
            </a:pPr>
            <a:r>
              <a:rPr lang="en-US" sz="1350" b="1" dirty="0">
                <a:latin typeface="Proxima Nova"/>
              </a:rPr>
              <a:t>Software composition analysis:</a:t>
            </a:r>
            <a:r>
              <a:rPr lang="en-US" sz="1350" dirty="0">
                <a:latin typeface="Proxima Nova"/>
              </a:rPr>
              <a:t> Software composition analysis (SCA) is the process of automating visibility into open-source software (OSS) use for the purpose of risk management, security, and license compliance. </a:t>
            </a:r>
          </a:p>
          <a:p>
            <a:pPr marL="342900" indent="-342900">
              <a:buFont typeface="Arial" panose="020B0604020202020204" pitchFamily="34" charset="0"/>
              <a:buChar char="•"/>
            </a:pPr>
            <a:r>
              <a:rPr lang="en-US" sz="1350" b="1" dirty="0">
                <a:latin typeface="Proxima Nova"/>
              </a:rPr>
              <a:t>Interactive application security testing: </a:t>
            </a:r>
            <a:r>
              <a:rPr lang="en-US" sz="1350" dirty="0" err="1">
                <a:latin typeface="Proxima Nova"/>
              </a:rPr>
              <a:t>DevSecOps</a:t>
            </a:r>
            <a:r>
              <a:rPr lang="en-US" sz="1350" dirty="0">
                <a:latin typeface="Proxima Nova"/>
              </a:rPr>
              <a:t> teams use interactive application security testing (IAST) tools to evaluate an application’s potential vulnerabilities in the production environment. IAST consists of special security monitors that run from within the application. </a:t>
            </a:r>
          </a:p>
          <a:p>
            <a:pPr marL="342900" indent="-342900">
              <a:buFont typeface="Arial" panose="020B0604020202020204" pitchFamily="34" charset="0"/>
              <a:buChar char="•"/>
            </a:pPr>
            <a:r>
              <a:rPr lang="en-US" sz="1350" b="1" dirty="0">
                <a:latin typeface="Proxima Nova"/>
              </a:rPr>
              <a:t>Dynamic application security </a:t>
            </a:r>
            <a:r>
              <a:rPr lang="en-US" sz="1350" b="1" dirty="0" err="1">
                <a:latin typeface="Proxima Nova"/>
              </a:rPr>
              <a:t>testing:</a:t>
            </a:r>
            <a:r>
              <a:rPr lang="en-US" sz="1350" dirty="0" err="1">
                <a:latin typeface="Proxima Nova"/>
              </a:rPr>
              <a:t>Dynamic</a:t>
            </a:r>
            <a:r>
              <a:rPr lang="en-US" sz="1350" dirty="0">
                <a:latin typeface="Proxima Nova"/>
              </a:rPr>
              <a:t> application security testing (DAST) tools mimic hackers by testing the application's security from outside the network.</a:t>
            </a:r>
          </a:p>
          <a:p>
            <a:pPr marL="342900" indent="-342900">
              <a:buFont typeface="Arial" panose="020B0604020202020204" pitchFamily="34" charset="0"/>
              <a:buChar char="•"/>
            </a:pPr>
            <a:endParaRPr lang="en-US" sz="1350" dirty="0">
              <a:latin typeface="Proxima Nova"/>
            </a:endParaRPr>
          </a:p>
        </p:txBody>
      </p:sp>
      <p:sp>
        <p:nvSpPr>
          <p:cNvPr id="10" name="Google Shape;717;p14">
            <a:extLst>
              <a:ext uri="{FF2B5EF4-FFF2-40B4-BE49-F238E27FC236}">
                <a16:creationId xmlns:a16="http://schemas.microsoft.com/office/drawing/2014/main" id="{FDB89538-B972-FF46-618D-55AC0406F7DA}"/>
              </a:ext>
            </a:extLst>
          </p:cNvPr>
          <p:cNvSpPr txBox="1"/>
          <p:nvPr/>
        </p:nvSpPr>
        <p:spPr>
          <a:xfrm>
            <a:off x="2501100" y="119280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err="1"/>
              <a:t>DevSecOps</a:t>
            </a:r>
            <a:r>
              <a:rPr lang="en-US" sz="2100" dirty="0"/>
              <a:t> tools</a:t>
            </a:r>
            <a:endParaRPr lang="en-US"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1467730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BD5F0-7C67-5EF8-6E4C-90590AE67CC5}"/>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D732A3FD-FE8C-D979-ABD6-F52573EAD200}"/>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54</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26555DD9-9B87-5936-0409-03B8D5C0E1A4}"/>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05A3EF9F-751F-41FE-10BE-40350A8D538C}"/>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430EB353-AF44-7720-A7C1-28B91D9B8B0F}"/>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EF799C3E-7036-BBCB-D258-3D310EFDD395}"/>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D5B3C355-FB19-1D22-394C-23D6DB06E5B4}"/>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01D3B3FC-2F38-D4C4-6613-76452901DC26}"/>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716;p14">
            <a:extLst>
              <a:ext uri="{FF2B5EF4-FFF2-40B4-BE49-F238E27FC236}">
                <a16:creationId xmlns:a16="http://schemas.microsoft.com/office/drawing/2014/main" id="{29294126-3F1D-1D03-2E78-A013EC72D1B6}"/>
              </a:ext>
            </a:extLst>
          </p:cNvPr>
          <p:cNvSpPr txBox="1"/>
          <p:nvPr/>
        </p:nvSpPr>
        <p:spPr>
          <a:xfrm>
            <a:off x="1315112" y="1592020"/>
            <a:ext cx="6513777" cy="2207585"/>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1350" b="0" i="0" dirty="0">
                <a:solidFill>
                  <a:srgbClr val="000000"/>
                </a:solidFill>
                <a:effectLst/>
                <a:latin typeface="Proxima Nova"/>
              </a:rPr>
              <a:t>The first challenge involves people and culture. You might find it necessary to retrain the people on your DevOps teams so they understand security best practices and know how to operate your new security tooling. </a:t>
            </a:r>
          </a:p>
          <a:p>
            <a:pPr marL="342900" indent="-342900">
              <a:buFont typeface="Arial" panose="020B0604020202020204" pitchFamily="34" charset="0"/>
              <a:buChar char="•"/>
            </a:pPr>
            <a:r>
              <a:rPr lang="en-US" sz="1350" b="0" i="0" dirty="0">
                <a:solidFill>
                  <a:srgbClr val="000000"/>
                </a:solidFill>
                <a:effectLst/>
                <a:latin typeface="Proxima Nova"/>
              </a:rPr>
              <a:t>In terms of culture, your teams need to truly adopt the mindset that they’re responsible for the security of the software they build and deploy, just as much as they’re responsible for feature, function, and usability.</a:t>
            </a:r>
            <a:endParaRPr lang="en-IN" sz="1350" dirty="0">
              <a:latin typeface="Proxima Nova"/>
            </a:endParaRPr>
          </a:p>
        </p:txBody>
      </p:sp>
      <p:sp>
        <p:nvSpPr>
          <p:cNvPr id="10" name="Google Shape;717;p14">
            <a:extLst>
              <a:ext uri="{FF2B5EF4-FFF2-40B4-BE49-F238E27FC236}">
                <a16:creationId xmlns:a16="http://schemas.microsoft.com/office/drawing/2014/main" id="{1691074E-6652-CB1C-2B95-3814FCFDCDE5}"/>
              </a:ext>
            </a:extLst>
          </p:cNvPr>
          <p:cNvSpPr txBox="1"/>
          <p:nvPr/>
        </p:nvSpPr>
        <p:spPr>
          <a:xfrm>
            <a:off x="2501100" y="119280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latin typeface="Proxima Nova"/>
              </a:rPr>
              <a:t>Challenges: Culture and Adoption</a:t>
            </a:r>
            <a:endParaRPr lang="en-US"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14280555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7C887-46B7-470B-1EA2-539472A9687A}"/>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6F3089DB-9911-306A-04D3-7A92F675F430}"/>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55</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1297460B-E4F0-FB2A-5626-4B5C6C531352}"/>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876D9F85-5629-6280-6F78-0F18F135955D}"/>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96066D4F-3513-6FE6-5861-72E4772D5740}"/>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EFB2120-5520-F5D4-4F37-722EF6EEB4F5}"/>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91026BBE-4917-678B-3FEF-3676AA904657}"/>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F330EF3E-D778-8322-89AF-3C998D350B7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716;p14">
            <a:extLst>
              <a:ext uri="{FF2B5EF4-FFF2-40B4-BE49-F238E27FC236}">
                <a16:creationId xmlns:a16="http://schemas.microsoft.com/office/drawing/2014/main" id="{B474B400-F654-911F-709E-2FD52F724EAF}"/>
              </a:ext>
            </a:extLst>
          </p:cNvPr>
          <p:cNvSpPr txBox="1"/>
          <p:nvPr/>
        </p:nvSpPr>
        <p:spPr>
          <a:xfrm>
            <a:off x="1315112" y="1592020"/>
            <a:ext cx="6513777" cy="2207585"/>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1350" b="0" i="0" dirty="0">
                <a:solidFill>
                  <a:srgbClr val="000000"/>
                </a:solidFill>
                <a:effectLst/>
                <a:latin typeface="Proxima Nova"/>
              </a:rPr>
              <a:t>A second challenge is finding the right security tooling and integrating it into your DevOps workflow. </a:t>
            </a:r>
          </a:p>
          <a:p>
            <a:pPr marL="342900" indent="-342900">
              <a:buFont typeface="Arial" panose="020B0604020202020204" pitchFamily="34" charset="0"/>
              <a:buChar char="•"/>
            </a:pPr>
            <a:r>
              <a:rPr lang="en-US" sz="1350" b="0" i="0" dirty="0">
                <a:solidFill>
                  <a:srgbClr val="000000"/>
                </a:solidFill>
                <a:effectLst/>
                <a:latin typeface="Proxima Nova"/>
              </a:rPr>
              <a:t>The more automated your </a:t>
            </a:r>
            <a:r>
              <a:rPr lang="en-US" sz="1350" b="0" i="0" dirty="0" err="1">
                <a:solidFill>
                  <a:srgbClr val="000000"/>
                </a:solidFill>
                <a:effectLst/>
                <a:latin typeface="Proxima Nova"/>
              </a:rPr>
              <a:t>DevSecOps</a:t>
            </a:r>
            <a:r>
              <a:rPr lang="en-US" sz="1350" b="0" i="0" dirty="0">
                <a:solidFill>
                  <a:srgbClr val="000000"/>
                </a:solidFill>
                <a:effectLst/>
                <a:latin typeface="Proxima Nova"/>
              </a:rPr>
              <a:t> tooling is, and the more integrated it is with your CI/CD pipeline, the less training and culture-shifting you need to do.</a:t>
            </a:r>
          </a:p>
        </p:txBody>
      </p:sp>
      <p:sp>
        <p:nvSpPr>
          <p:cNvPr id="10" name="Google Shape;717;p14">
            <a:extLst>
              <a:ext uri="{FF2B5EF4-FFF2-40B4-BE49-F238E27FC236}">
                <a16:creationId xmlns:a16="http://schemas.microsoft.com/office/drawing/2014/main" id="{1543AC50-13AB-608E-E5AE-D6F056C47B41}"/>
              </a:ext>
            </a:extLst>
          </p:cNvPr>
          <p:cNvSpPr txBox="1"/>
          <p:nvPr/>
        </p:nvSpPr>
        <p:spPr>
          <a:xfrm>
            <a:off x="2501100" y="119280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latin typeface="Proxima Nova"/>
              </a:rPr>
              <a:t>Finding the Right Tool</a:t>
            </a:r>
            <a:endParaRPr lang="en-US"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9920484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5CB83-B119-3EDA-ADF8-DAAB2B6A8641}"/>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6FA403AE-14D7-FFF9-BE1A-FA6BC4933AED}"/>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56</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2EE97B8C-5575-E1A0-C703-DA0D631501D2}"/>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09F1AD34-3DBB-4159-DF7D-B9743227F79E}"/>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B6F38FA6-9A08-540B-0A8A-C113ABFA6796}"/>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59BDD569-3144-324D-3490-C9337A02EFAA}"/>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C7DA8EBE-D55E-BA79-8E9D-62E9088FCD91}"/>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0F346D7B-4308-209B-165E-607AD7B67D0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716;p14">
            <a:extLst>
              <a:ext uri="{FF2B5EF4-FFF2-40B4-BE49-F238E27FC236}">
                <a16:creationId xmlns:a16="http://schemas.microsoft.com/office/drawing/2014/main" id="{C5345562-8D6D-8E32-F8EC-85B22A1D781E}"/>
              </a:ext>
            </a:extLst>
          </p:cNvPr>
          <p:cNvSpPr txBox="1"/>
          <p:nvPr/>
        </p:nvSpPr>
        <p:spPr>
          <a:xfrm>
            <a:off x="1315112" y="1592020"/>
            <a:ext cx="6513777" cy="2207585"/>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1350" b="0" i="0" dirty="0">
                <a:solidFill>
                  <a:srgbClr val="000000"/>
                </a:solidFill>
                <a:effectLst/>
                <a:latin typeface="Proxima Nova"/>
              </a:rPr>
              <a:t>AWS supports modern </a:t>
            </a:r>
            <a:r>
              <a:rPr lang="en-US" sz="1350" b="0" i="0" dirty="0" err="1">
                <a:solidFill>
                  <a:srgbClr val="000000"/>
                </a:solidFill>
                <a:effectLst/>
                <a:latin typeface="Proxima Nova"/>
              </a:rPr>
              <a:t>DevSecOps</a:t>
            </a:r>
            <a:r>
              <a:rPr lang="en-US" sz="1350" b="0" i="0" dirty="0">
                <a:solidFill>
                  <a:srgbClr val="000000"/>
                </a:solidFill>
                <a:effectLst/>
                <a:latin typeface="Proxima Nova"/>
              </a:rPr>
              <a:t> practices so that software teams can automate their applications’ security, compliance, and data protection. For example, you can do the following:</a:t>
            </a:r>
          </a:p>
          <a:p>
            <a:pPr marL="342900" indent="-342900">
              <a:buFont typeface="Arial" panose="020B0604020202020204" pitchFamily="34" charset="0"/>
              <a:buChar char="•"/>
            </a:pPr>
            <a:r>
              <a:rPr lang="en-US" sz="1350" b="0" i="0" dirty="0">
                <a:solidFill>
                  <a:srgbClr val="000000"/>
                </a:solidFill>
                <a:effectLst/>
                <a:latin typeface="Proxima Nova"/>
              </a:rPr>
              <a:t>Use Amazon Inspector for automated and continual vulnerability management at scale.</a:t>
            </a:r>
          </a:p>
          <a:p>
            <a:pPr marL="342900" indent="-342900">
              <a:buFont typeface="Arial" panose="020B0604020202020204" pitchFamily="34" charset="0"/>
              <a:buChar char="•"/>
            </a:pPr>
            <a:r>
              <a:rPr lang="en-US" sz="1350" b="0" i="0" dirty="0">
                <a:solidFill>
                  <a:srgbClr val="000000"/>
                </a:solidFill>
                <a:effectLst/>
                <a:latin typeface="Proxima Nova"/>
              </a:rPr>
              <a:t>Use AWS </a:t>
            </a:r>
            <a:r>
              <a:rPr lang="en-US" sz="1350" b="0" i="0" dirty="0" err="1">
                <a:solidFill>
                  <a:srgbClr val="000000"/>
                </a:solidFill>
                <a:effectLst/>
                <a:latin typeface="Proxima Nova"/>
              </a:rPr>
              <a:t>CodeCommit</a:t>
            </a:r>
            <a:r>
              <a:rPr lang="en-US" sz="1350" b="0" i="0" dirty="0">
                <a:solidFill>
                  <a:srgbClr val="000000"/>
                </a:solidFill>
                <a:effectLst/>
                <a:latin typeface="Proxima Nova"/>
              </a:rPr>
              <a:t> to manage source control and make incremental changes to the application. </a:t>
            </a:r>
          </a:p>
          <a:p>
            <a:pPr marL="342900" indent="-342900">
              <a:buFont typeface="Arial" panose="020B0604020202020204" pitchFamily="34" charset="0"/>
              <a:buChar char="•"/>
            </a:pPr>
            <a:r>
              <a:rPr lang="en-US" sz="1350" b="0" i="0" dirty="0">
                <a:solidFill>
                  <a:srgbClr val="000000"/>
                </a:solidFill>
                <a:effectLst/>
                <a:latin typeface="Proxima Nova"/>
              </a:rPr>
              <a:t>Use AWS Secrets Manager to easily rotate, manage, and retrieve database credentials, API keys, and other secrets through their lifecycle.</a:t>
            </a:r>
          </a:p>
        </p:txBody>
      </p:sp>
      <p:sp>
        <p:nvSpPr>
          <p:cNvPr id="10" name="Google Shape;717;p14">
            <a:extLst>
              <a:ext uri="{FF2B5EF4-FFF2-40B4-BE49-F238E27FC236}">
                <a16:creationId xmlns:a16="http://schemas.microsoft.com/office/drawing/2014/main" id="{CE0765F9-6A88-DE30-A415-2ECA334F4506}"/>
              </a:ext>
            </a:extLst>
          </p:cNvPr>
          <p:cNvSpPr txBox="1"/>
          <p:nvPr/>
        </p:nvSpPr>
        <p:spPr>
          <a:xfrm>
            <a:off x="2501100" y="119280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latin typeface="Proxima Nova"/>
              </a:rPr>
              <a:t>Aws: </a:t>
            </a:r>
            <a:r>
              <a:rPr lang="en-US" sz="2100" dirty="0" err="1">
                <a:latin typeface="Proxima Nova"/>
              </a:rPr>
              <a:t>DevSecOps</a:t>
            </a:r>
            <a:r>
              <a:rPr lang="en-US" sz="2100" dirty="0">
                <a:latin typeface="Proxima Nova"/>
              </a:rPr>
              <a:t> Implementation</a:t>
            </a:r>
            <a:endParaRPr lang="en-US"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17892502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019504"/>
            <a:ext cx="9144000" cy="2063512"/>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400"/>
          </a:p>
        </p:txBody>
      </p:sp>
      <p:sp>
        <p:nvSpPr>
          <p:cNvPr id="615" name="Google Shape;615;p34"/>
          <p:cNvSpPr txBox="1"/>
          <p:nvPr/>
        </p:nvSpPr>
        <p:spPr>
          <a:xfrm>
            <a:off x="871629" y="2571750"/>
            <a:ext cx="7400744" cy="974008"/>
          </a:xfrm>
          <a:prstGeom prst="rect">
            <a:avLst/>
          </a:prstGeom>
          <a:noFill/>
          <a:ln>
            <a:noFill/>
          </a:ln>
        </p:spPr>
        <p:txBody>
          <a:bodyPr spcFirstLastPara="1" wrap="square" lIns="91425" tIns="45700" rIns="91425" bIns="4570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lnSpc>
                <a:spcPct val="90000"/>
              </a:lnSpc>
              <a:buClr>
                <a:schemeClr val="dk1"/>
              </a:buClr>
              <a:buSzPts val="4000"/>
            </a:pPr>
            <a:r>
              <a:rPr lang="en-US" sz="3600" dirty="0">
                <a:solidFill>
                  <a:schemeClr val="bg1"/>
                </a:solidFill>
                <a:latin typeface="Lato"/>
                <a:ea typeface="Lato"/>
                <a:cs typeface="Lato"/>
                <a:sym typeface="Lato"/>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0"/>
                  </a:ext>
                </a:extLst>
              </a:rPr>
              <a:t>Thank You!</a:t>
            </a:r>
            <a:endParaRPr lang="en-US" sz="3600" dirty="0">
              <a:solidFill>
                <a:schemeClr val="bg1"/>
              </a:solidFill>
              <a:latin typeface="Lato"/>
              <a:ea typeface="Lato"/>
              <a:cs typeface="Lato"/>
              <a:sym typeface="Lato"/>
            </a:endParaRPr>
          </a:p>
        </p:txBody>
      </p:sp>
      <p:sp>
        <p:nvSpPr>
          <p:cNvPr id="617" name="Google Shape;617;p34"/>
          <p:cNvSpPr txBox="1">
            <a:spLocks noGrp="1"/>
          </p:cNvSpPr>
          <p:nvPr>
            <p:ph type="sldNum" sz="quarter" idx="12"/>
          </p:nvPr>
        </p:nvSpPr>
        <p:spPr>
          <a:xfrm>
            <a:off x="6511925" y="4767263"/>
            <a:ext cx="2057400" cy="274500"/>
          </a:xfrm>
          <a:prstGeom prst="rect">
            <a:avLst/>
          </a:prstGeom>
          <a:noFill/>
          <a:ln>
            <a:noFill/>
          </a:ln>
        </p:spPr>
        <p:txBody>
          <a:bodyPr spcFirstLastPara="1" wrap="square" lIns="91425" tIns="45700" rIns="91425" bIns="45700"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00000000-1234-1234-1234-123412341234}" type="slidenum">
              <a:rPr lang="en-IN">
                <a:solidFill>
                  <a:srgbClr val="FF0000"/>
                </a:solidFill>
                <a:latin typeface="Proxima Nova"/>
                <a:ea typeface="Proxima Nova"/>
                <a:cs typeface="Proxima Nova"/>
                <a:sym typeface="Proxima Nova"/>
              </a:rPr>
              <a:pPr/>
              <a:t>57</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7084752" y="101738"/>
            <a:ext cx="1544050" cy="1544050"/>
          </a:xfrm>
          <a:prstGeom prst="rect">
            <a:avLst/>
          </a:prstGeom>
          <a:noFill/>
          <a:ln>
            <a:noFill/>
          </a:ln>
        </p:spPr>
      </p:pic>
      <p:pic>
        <p:nvPicPr>
          <p:cNvPr id="3" name="Picture 2">
            <a:extLst>
              <a:ext uri="{FF2B5EF4-FFF2-40B4-BE49-F238E27FC236}">
                <a16:creationId xmlns:a16="http://schemas.microsoft.com/office/drawing/2014/main" id="{ED6418B9-9024-36FD-FF4A-D689E721F145}"/>
              </a:ext>
            </a:extLst>
          </p:cNvPr>
          <p:cNvPicPr>
            <a:picLocks noChangeAspect="1"/>
          </p:cNvPicPr>
          <p:nvPr/>
        </p:nvPicPr>
        <p:blipFill rotWithShape="1">
          <a:blip r:embed="rId4"/>
          <a:srcRect l="25725" t="37867" r="34750" b="40666"/>
          <a:stretch/>
        </p:blipFill>
        <p:spPr>
          <a:xfrm>
            <a:off x="781813" y="532238"/>
            <a:ext cx="2628515" cy="803019"/>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019504"/>
            <a:ext cx="9144000" cy="2063512"/>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800"/>
          </a:p>
        </p:txBody>
      </p:sp>
      <p:sp>
        <p:nvSpPr>
          <p:cNvPr id="615" name="Google Shape;615;p34"/>
          <p:cNvSpPr txBox="1"/>
          <p:nvPr/>
        </p:nvSpPr>
        <p:spPr>
          <a:xfrm>
            <a:off x="871629" y="2571750"/>
            <a:ext cx="7400744" cy="974008"/>
          </a:xfrm>
          <a:prstGeom prst="rect">
            <a:avLst/>
          </a:prstGeom>
          <a:noFill/>
          <a:ln>
            <a:noFill/>
          </a:ln>
        </p:spPr>
        <p:txBody>
          <a:bodyPr spcFirstLastPara="1" wrap="square" lIns="91425" tIns="45700" rIns="91425" bIns="4570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lnSpc>
                <a:spcPct val="90000"/>
              </a:lnSpc>
              <a:buClr>
                <a:schemeClr val="dk1"/>
              </a:buClr>
              <a:buSzPts val="4000"/>
            </a:pPr>
            <a:r>
              <a:rPr lang="en-US" sz="3600" dirty="0">
                <a:solidFill>
                  <a:schemeClr val="bg1"/>
                </a:solidFill>
                <a:latin typeface="Lato"/>
                <a:ea typeface="Lato"/>
                <a:cs typeface="Lato"/>
                <a:sym typeface="La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SCANNING TOOL</a:t>
            </a:r>
            <a:endParaRPr lang="en-US" sz="3600" dirty="0">
              <a:solidFill>
                <a:schemeClr val="bg1"/>
              </a:solidFill>
              <a:latin typeface="Lato"/>
              <a:ea typeface="Lato"/>
              <a:cs typeface="Lato"/>
              <a:sym typeface="Lato"/>
            </a:endParaRPr>
          </a:p>
        </p:txBody>
      </p:sp>
      <p:sp>
        <p:nvSpPr>
          <p:cNvPr id="617" name="Google Shape;617;p34"/>
          <p:cNvSpPr txBox="1">
            <a:spLocks noGrp="1"/>
          </p:cNvSpPr>
          <p:nvPr>
            <p:ph type="sldNum" sz="quarter" idx="12"/>
          </p:nvPr>
        </p:nvSpPr>
        <p:spPr>
          <a:xfrm>
            <a:off x="6511925" y="4767263"/>
            <a:ext cx="2057400" cy="274500"/>
          </a:xfrm>
          <a:prstGeom prst="rect">
            <a:avLst/>
          </a:prstGeom>
          <a:noFill/>
          <a:ln>
            <a:noFill/>
          </a:ln>
        </p:spPr>
        <p:txBody>
          <a:bodyPr spcFirstLastPara="1" vert="horz" wrap="square" lIns="91425" tIns="45700" rIns="91425" bIns="45700" rtlCol="0"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00000000-1234-1234-1234-123412341234}" type="slidenum">
              <a:rPr lang="en-IN">
                <a:solidFill>
                  <a:srgbClr val="FF0000"/>
                </a:solidFill>
                <a:latin typeface="Proxima Nova"/>
                <a:ea typeface="Proxima Nova"/>
                <a:cs typeface="Proxima Nova"/>
                <a:sym typeface="Proxima Nova"/>
              </a:rPr>
              <a:pPr/>
              <a:t>58</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7084752" y="101738"/>
            <a:ext cx="1544050" cy="1544050"/>
          </a:xfrm>
          <a:prstGeom prst="rect">
            <a:avLst/>
          </a:prstGeom>
          <a:noFill/>
          <a:ln>
            <a:noFill/>
          </a:ln>
        </p:spPr>
      </p:pic>
      <p:pic>
        <p:nvPicPr>
          <p:cNvPr id="7" name="Picture 6">
            <a:extLst>
              <a:ext uri="{FF2B5EF4-FFF2-40B4-BE49-F238E27FC236}">
                <a16:creationId xmlns:a16="http://schemas.microsoft.com/office/drawing/2014/main" id="{8343D47F-0850-4C54-ECA1-347E58687108}"/>
              </a:ext>
            </a:extLst>
          </p:cNvPr>
          <p:cNvPicPr>
            <a:picLocks noChangeAspect="1"/>
          </p:cNvPicPr>
          <p:nvPr/>
        </p:nvPicPr>
        <p:blipFill rotWithShape="1">
          <a:blip r:embed="rId4"/>
          <a:srcRect l="25725" t="37867" r="34750" b="40666"/>
          <a:stretch/>
        </p:blipFill>
        <p:spPr>
          <a:xfrm>
            <a:off x="781813" y="532238"/>
            <a:ext cx="2628515" cy="803019"/>
          </a:xfrm>
          <a:prstGeom prst="rect">
            <a:avLst/>
          </a:prstGeom>
        </p:spPr>
      </p:pic>
    </p:spTree>
    <p:extLst>
      <p:ext uri="{BB962C8B-B14F-4D97-AF65-F5344CB8AC3E}">
        <p14:creationId xmlns:p14="http://schemas.microsoft.com/office/powerpoint/2010/main" val="22318999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59</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35;p4">
            <a:extLst>
              <a:ext uri="{FF2B5EF4-FFF2-40B4-BE49-F238E27FC236}">
                <a16:creationId xmlns:a16="http://schemas.microsoft.com/office/drawing/2014/main" id="{7B6968E5-4ABC-CF75-7812-4383DD23AC66}"/>
              </a:ext>
            </a:extLst>
          </p:cNvPr>
          <p:cNvSpPr txBox="1"/>
          <p:nvPr/>
        </p:nvSpPr>
        <p:spPr>
          <a:xfrm>
            <a:off x="2501100" y="1300076"/>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1905" b="0" i="0" u="none" strike="noStrike" cap="none" dirty="0">
                <a:solidFill>
                  <a:schemeClr val="tx1"/>
                </a:solidFill>
                <a:latin typeface="Proxima Nova"/>
                <a:ea typeface="Proxima Nova"/>
                <a:cs typeface="Proxima Nova"/>
                <a:sym typeface="Proxima Nova"/>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SBOM</a:t>
            </a:r>
            <a:endParaRPr sz="1905" b="0" i="0" u="none" strike="noStrike" cap="none" dirty="0">
              <a:solidFill>
                <a:schemeClr val="tx1"/>
              </a:solidFill>
              <a:latin typeface="Proxima Nova"/>
              <a:ea typeface="Proxima Nova"/>
              <a:cs typeface="Proxima Nova"/>
              <a:sym typeface="Proxima Nova"/>
            </a:endParaRPr>
          </a:p>
        </p:txBody>
      </p:sp>
      <p:sp>
        <p:nvSpPr>
          <p:cNvPr id="10" name="Google Shape;636;p4">
            <a:extLst>
              <a:ext uri="{FF2B5EF4-FFF2-40B4-BE49-F238E27FC236}">
                <a16:creationId xmlns:a16="http://schemas.microsoft.com/office/drawing/2014/main" id="{92B88242-103D-B3A3-BDD9-952543158D2B}"/>
              </a:ext>
            </a:extLst>
          </p:cNvPr>
          <p:cNvSpPr txBox="1"/>
          <p:nvPr/>
        </p:nvSpPr>
        <p:spPr>
          <a:xfrm>
            <a:off x="1540243" y="1776516"/>
            <a:ext cx="6043275" cy="2423718"/>
          </a:xfrm>
          <a:prstGeom prst="rect">
            <a:avLst/>
          </a:prstGeom>
          <a:noFill/>
          <a:ln>
            <a:noFill/>
          </a:ln>
        </p:spPr>
        <p:txBody>
          <a:bodyPr spcFirstLastPara="1" wrap="square" lIns="68569" tIns="68569" rIns="68569" bIns="68569" anchor="t"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4313" indent="-214313">
              <a:buFont typeface="Arial" panose="020B0604020202020204" pitchFamily="34" charset="0"/>
              <a:buChar char="•"/>
            </a:pPr>
            <a:r>
              <a:rPr lang="en-US" sz="1350" b="0" i="0" dirty="0">
                <a:solidFill>
                  <a:srgbClr val="242424"/>
                </a:solidFill>
                <a:effectLst/>
                <a:latin typeface="Proxima Nova"/>
              </a:rPr>
              <a:t>In today’s digital age, every piece of software we use is like a puzzle made of different smaller parts from various sources. A Software Bill of Materials (SBOM) is a list that tells exactly what these parts are.</a:t>
            </a:r>
          </a:p>
          <a:p>
            <a:endParaRPr lang="en-US" sz="1350" b="0" i="0" dirty="0">
              <a:solidFill>
                <a:srgbClr val="242424"/>
              </a:solidFill>
              <a:effectLst/>
              <a:latin typeface="Proxima Nova"/>
            </a:endParaRPr>
          </a:p>
          <a:p>
            <a:pPr marL="214313" indent="-214313">
              <a:buFont typeface="Arial" panose="020B0604020202020204" pitchFamily="34" charset="0"/>
              <a:buChar char="•"/>
            </a:pPr>
            <a:r>
              <a:rPr lang="en-US" sz="1350" b="0" i="0" dirty="0">
                <a:solidFill>
                  <a:srgbClr val="242424"/>
                </a:solidFill>
                <a:effectLst/>
                <a:latin typeface="Proxima Nova"/>
              </a:rPr>
              <a:t>If there’s something bad in the software, like a security weakness, the SBOM helps us find and fix it quickly, keeping our computers and information safe</a:t>
            </a:r>
            <a:r>
              <a:rPr lang="en-US" sz="1350" dirty="0">
                <a:solidFill>
                  <a:srgbClr val="242424"/>
                </a:solidFill>
                <a:latin typeface="Proxima Nova"/>
              </a:rPr>
              <a:t>.</a:t>
            </a:r>
          </a:p>
          <a:p>
            <a:pPr marL="214313" indent="-214313">
              <a:buFont typeface="Arial" panose="020B0604020202020204" pitchFamily="34" charset="0"/>
              <a:buChar char="•"/>
            </a:pPr>
            <a:endParaRPr lang="en-US" sz="1350" b="0" i="0" dirty="0">
              <a:solidFill>
                <a:srgbClr val="242424"/>
              </a:solidFill>
              <a:effectLst/>
              <a:latin typeface="Proxima Nova"/>
            </a:endParaRPr>
          </a:p>
          <a:p>
            <a:pPr marL="214313" indent="-214313">
              <a:buFont typeface="Arial" panose="020B0604020202020204" pitchFamily="34" charset="0"/>
              <a:buChar char="•"/>
            </a:pPr>
            <a:r>
              <a:rPr lang="en-US" sz="1350" b="0" i="0" dirty="0">
                <a:solidFill>
                  <a:srgbClr val="242424"/>
                </a:solidFill>
                <a:effectLst/>
                <a:latin typeface="Proxima Nova"/>
              </a:rPr>
              <a:t>An SBOM can help us find out where the bad part is in the software so we can fix it before it causes problems.</a:t>
            </a:r>
          </a:p>
          <a:p>
            <a:pPr marL="214313" indent="-214313">
              <a:buFont typeface="Arial" panose="020B0604020202020204" pitchFamily="34" charset="0"/>
              <a:buChar char="•"/>
            </a:pPr>
            <a:endParaRPr lang="en-IN" sz="1350" dirty="0">
              <a:latin typeface="Proxima Nova"/>
            </a:endParaRPr>
          </a:p>
        </p:txBody>
      </p:sp>
    </p:spTree>
    <p:extLst>
      <p:ext uri="{BB962C8B-B14F-4D97-AF65-F5344CB8AC3E}">
        <p14:creationId xmlns:p14="http://schemas.microsoft.com/office/powerpoint/2010/main" val="13112438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60</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43;p5">
            <a:extLst>
              <a:ext uri="{FF2B5EF4-FFF2-40B4-BE49-F238E27FC236}">
                <a16:creationId xmlns:a16="http://schemas.microsoft.com/office/drawing/2014/main" id="{2C76BB65-9873-7F7D-88BE-23E4B025E0E7}"/>
              </a:ext>
            </a:extLst>
          </p:cNvPr>
          <p:cNvSpPr txBox="1"/>
          <p:nvPr/>
        </p:nvSpPr>
        <p:spPr>
          <a:xfrm>
            <a:off x="1550363" y="2088427"/>
            <a:ext cx="6043275" cy="1615805"/>
          </a:xfrm>
          <a:prstGeom prst="rect">
            <a:avLst/>
          </a:prstGeom>
          <a:noFill/>
          <a:ln>
            <a:noFill/>
          </a:ln>
        </p:spPr>
        <p:txBody>
          <a:bodyPr spcFirstLastPara="1" wrap="square" lIns="68569" tIns="68569" rIns="68569" bIns="68569" anchor="t"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350" b="1" dirty="0">
                <a:latin typeface="Proxima Nova"/>
              </a:rPr>
              <a:t>Prerequisites</a:t>
            </a:r>
          </a:p>
          <a:p>
            <a:endParaRPr lang="en-US" sz="1350" b="1" dirty="0">
              <a:latin typeface="Proxima Nova"/>
            </a:endParaRPr>
          </a:p>
          <a:p>
            <a:pPr marL="214313" indent="-214313">
              <a:buFont typeface="Arial" panose="020B0604020202020204" pitchFamily="34" charset="0"/>
              <a:buChar char="•"/>
            </a:pPr>
            <a:r>
              <a:rPr lang="en-US" sz="1350" dirty="0">
                <a:latin typeface="Proxima Nova"/>
              </a:rPr>
              <a:t>An AWS account</a:t>
            </a:r>
          </a:p>
          <a:p>
            <a:pPr marL="214313" indent="-214313">
              <a:buFont typeface="Arial" panose="020B0604020202020204" pitchFamily="34" charset="0"/>
              <a:buChar char="•"/>
            </a:pPr>
            <a:endParaRPr lang="en-US" sz="1350" dirty="0">
              <a:latin typeface="Proxima Nova"/>
            </a:endParaRPr>
          </a:p>
          <a:p>
            <a:pPr marL="214313" indent="-214313">
              <a:buFont typeface="Arial" panose="020B0604020202020204" pitchFamily="34" charset="0"/>
              <a:buChar char="•"/>
            </a:pPr>
            <a:r>
              <a:rPr lang="en-US" sz="1350" dirty="0">
                <a:latin typeface="Proxima Nova"/>
              </a:rPr>
              <a:t>Activate </a:t>
            </a:r>
            <a:r>
              <a:rPr lang="en-US" sz="1500" b="0" i="0" u="sng" dirty="0">
                <a:solidFill>
                  <a:srgbClr val="242424"/>
                </a:solidFill>
                <a:effectLst/>
                <a:latin typeface="source-serif-pro"/>
                <a:hlinkClick r:id="rId6"/>
              </a:rPr>
              <a:t>Amazon Inspector</a:t>
            </a:r>
            <a:r>
              <a:rPr lang="en-US" sz="1500" b="0" i="0" dirty="0">
                <a:solidFill>
                  <a:srgbClr val="242424"/>
                </a:solidFill>
                <a:effectLst/>
                <a:latin typeface="source-serif-pro"/>
              </a:rPr>
              <a:t>.</a:t>
            </a:r>
          </a:p>
          <a:p>
            <a:endParaRPr lang="en-IN" sz="1350" dirty="0">
              <a:latin typeface="Proxima Nova"/>
            </a:endParaRPr>
          </a:p>
          <a:p>
            <a:pPr marL="214313" indent="-214313">
              <a:buFont typeface="Arial" panose="020B0604020202020204" pitchFamily="34" charset="0"/>
              <a:buChar char="•"/>
            </a:pPr>
            <a:r>
              <a:rPr lang="en-IN" sz="1350" dirty="0">
                <a:latin typeface="Proxima Nova"/>
              </a:rPr>
              <a:t>An EC2 instance (</a:t>
            </a:r>
            <a:r>
              <a:rPr lang="en-IN" sz="1350" dirty="0" err="1">
                <a:latin typeface="Proxima Nova"/>
              </a:rPr>
              <a:t>aws</a:t>
            </a:r>
            <a:r>
              <a:rPr lang="en-IN" sz="1350" dirty="0">
                <a:latin typeface="Proxima Nova"/>
              </a:rPr>
              <a:t> </a:t>
            </a:r>
            <a:r>
              <a:rPr lang="en-IN" sz="1350" dirty="0" err="1">
                <a:latin typeface="Proxima Nova"/>
              </a:rPr>
              <a:t>linux</a:t>
            </a:r>
            <a:r>
              <a:rPr lang="en-IN" sz="1350" dirty="0">
                <a:latin typeface="Proxima Nova"/>
              </a:rPr>
              <a:t>)</a:t>
            </a:r>
            <a:endParaRPr lang="en-US" sz="1350" dirty="0">
              <a:latin typeface="Proxima Nova"/>
            </a:endParaRPr>
          </a:p>
        </p:txBody>
      </p:sp>
      <p:sp>
        <p:nvSpPr>
          <p:cNvPr id="10" name="Google Shape;644;p5">
            <a:extLst>
              <a:ext uri="{FF2B5EF4-FFF2-40B4-BE49-F238E27FC236}">
                <a16:creationId xmlns:a16="http://schemas.microsoft.com/office/drawing/2014/main" id="{D32A1FEC-83AF-38B4-C045-F28798C0D064}"/>
              </a:ext>
            </a:extLst>
          </p:cNvPr>
          <p:cNvSpPr txBox="1"/>
          <p:nvPr/>
        </p:nvSpPr>
        <p:spPr>
          <a:xfrm>
            <a:off x="2501100" y="1403700"/>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2100" b="0" i="0" u="none" strike="noStrike" cap="none" dirty="0">
                <a:solidFill>
                  <a:schemeClr val="tx1"/>
                </a:solidFill>
                <a:latin typeface="Proxima Nova"/>
                <a:ea typeface="Proxima Nova"/>
                <a:cs typeface="Proxima Nova"/>
                <a:sym typeface="Proxima Nova"/>
              </a:rPr>
              <a:t>SET UP</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37108770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61</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50;p6">
            <a:extLst>
              <a:ext uri="{FF2B5EF4-FFF2-40B4-BE49-F238E27FC236}">
                <a16:creationId xmlns:a16="http://schemas.microsoft.com/office/drawing/2014/main" id="{56B59548-DA06-E389-7BED-7C1633EF5872}"/>
              </a:ext>
            </a:extLst>
          </p:cNvPr>
          <p:cNvSpPr txBox="1"/>
          <p:nvPr/>
        </p:nvSpPr>
        <p:spPr>
          <a:xfrm>
            <a:off x="2501100" y="1242497"/>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2100" b="0" i="0" u="none" strike="noStrike" cap="none" dirty="0">
                <a:solidFill>
                  <a:schemeClr val="tx1"/>
                </a:solidFill>
                <a:latin typeface="Proxima Nova"/>
                <a:ea typeface="Proxima Nova"/>
                <a:cs typeface="Proxima Nova"/>
                <a:sym typeface="Proxima Nova"/>
              </a:rPr>
              <a:t>DEFINITION</a:t>
            </a:r>
            <a:endParaRPr sz="2100" b="0" i="0" u="none" strike="noStrike" cap="none" dirty="0">
              <a:solidFill>
                <a:schemeClr val="tx1"/>
              </a:solidFill>
              <a:latin typeface="Proxima Nova"/>
              <a:ea typeface="Proxima Nova"/>
              <a:cs typeface="Proxima Nova"/>
              <a:sym typeface="Proxima Nova"/>
            </a:endParaRPr>
          </a:p>
        </p:txBody>
      </p:sp>
      <p:sp>
        <p:nvSpPr>
          <p:cNvPr id="10" name="Google Shape;651;p6">
            <a:extLst>
              <a:ext uri="{FF2B5EF4-FFF2-40B4-BE49-F238E27FC236}">
                <a16:creationId xmlns:a16="http://schemas.microsoft.com/office/drawing/2014/main" id="{FE958133-4A7F-1C17-00C2-AE78960C15FB}"/>
              </a:ext>
            </a:extLst>
          </p:cNvPr>
          <p:cNvSpPr txBox="1"/>
          <p:nvPr/>
        </p:nvSpPr>
        <p:spPr>
          <a:xfrm>
            <a:off x="888484" y="1691244"/>
            <a:ext cx="7367033" cy="3162382"/>
          </a:xfrm>
          <a:prstGeom prst="rect">
            <a:avLst/>
          </a:prstGeom>
          <a:noFill/>
          <a:ln>
            <a:noFill/>
          </a:ln>
        </p:spPr>
        <p:txBody>
          <a:bodyPr spcFirstLastPara="1" wrap="square" lIns="68569" tIns="68569" rIns="68569" bIns="68569" anchor="t"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4313" indent="-214313">
              <a:buFont typeface="Arial" panose="020B0604020202020204" pitchFamily="34" charset="0"/>
              <a:buChar char="•"/>
            </a:pPr>
            <a:r>
              <a:rPr lang="en-US" sz="1350" b="0" i="1" dirty="0">
                <a:solidFill>
                  <a:srgbClr val="242424"/>
                </a:solidFill>
                <a:effectLst/>
                <a:latin typeface="source-serif-pro"/>
              </a:rPr>
              <a:t>A Software Bill of Materials (SBOM) is a comprehensive and formally organized inventory of the components, libraries, and modules necessary for the construction (i.e., compilation and linking) of a specific software application, along with the supply chain connections among these elements. The components listed may be open source or proprietary, available at no cost or for a fee, and can range from widely accessible to those with restricted access.</a:t>
            </a:r>
          </a:p>
          <a:p>
            <a:pPr marL="214313" indent="-214313">
              <a:buFont typeface="Arial" panose="020B0604020202020204" pitchFamily="34" charset="0"/>
              <a:buChar char="•"/>
            </a:pPr>
            <a:endParaRPr lang="en-US" sz="1350" i="1" dirty="0">
              <a:solidFill>
                <a:srgbClr val="242424"/>
              </a:solidFill>
              <a:latin typeface="source-serif-pro"/>
            </a:endParaRPr>
          </a:p>
          <a:p>
            <a:pPr marL="214313" indent="-214313">
              <a:buFont typeface="Arial" panose="020B0604020202020204" pitchFamily="34" charset="0"/>
              <a:buChar char="•"/>
            </a:pPr>
            <a:r>
              <a:rPr lang="en-US" sz="1350" dirty="0"/>
              <a:t>Software producers use SBOMs to help create and maintain the software they deliver.</a:t>
            </a:r>
            <a:br>
              <a:rPr lang="en-US" sz="1350" dirty="0"/>
            </a:br>
            <a:r>
              <a:rPr lang="en-US" sz="1350" dirty="0"/>
              <a:t>Software buyers use SBOMs to evaluate software before purchasing, negotiate discounts, or plan how to deploy it.</a:t>
            </a:r>
            <a:br>
              <a:rPr lang="en-US" sz="1350" dirty="0"/>
            </a:br>
            <a:r>
              <a:rPr lang="en-US" sz="1350" dirty="0"/>
              <a:t>Software operators use SBOMs to manage vulnerabilities, track assets, handle licensing and compliance, and quickly identify dependencies and supply chain risks in the software and its components</a:t>
            </a:r>
            <a:r>
              <a:rPr lang="en-US" sz="2100" dirty="0"/>
              <a:t>.</a:t>
            </a:r>
            <a:endParaRPr lang="en-IN" sz="2100" dirty="0"/>
          </a:p>
          <a:p>
            <a:pPr marL="214313" indent="-214313">
              <a:buFont typeface="Arial" panose="020B0604020202020204" pitchFamily="34" charset="0"/>
              <a:buChar char="•"/>
            </a:pPr>
            <a:endParaRPr lang="en-US" sz="1350" b="0" i="1" dirty="0">
              <a:solidFill>
                <a:srgbClr val="242424"/>
              </a:solidFill>
              <a:effectLst/>
              <a:latin typeface="source-serif-pro"/>
            </a:endParaRPr>
          </a:p>
          <a:p>
            <a:pPr marL="214313" indent="-214313">
              <a:buFont typeface="Arial" panose="020B0604020202020204" pitchFamily="34" charset="0"/>
              <a:buChar char="•"/>
            </a:pPr>
            <a:endParaRPr lang="en-IN" sz="1350" b="1" i="0" dirty="0">
              <a:solidFill>
                <a:srgbClr val="333333"/>
              </a:solidFill>
              <a:effectLst/>
              <a:latin typeface="Proxima Nova"/>
            </a:endParaRPr>
          </a:p>
        </p:txBody>
      </p:sp>
    </p:spTree>
    <p:extLst>
      <p:ext uri="{BB962C8B-B14F-4D97-AF65-F5344CB8AC3E}">
        <p14:creationId xmlns:p14="http://schemas.microsoft.com/office/powerpoint/2010/main" val="22063910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62</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58;p7">
            <a:extLst>
              <a:ext uri="{FF2B5EF4-FFF2-40B4-BE49-F238E27FC236}">
                <a16:creationId xmlns:a16="http://schemas.microsoft.com/office/drawing/2014/main" id="{BBCAC742-4FCB-5B15-A832-A4BA80995192}"/>
              </a:ext>
            </a:extLst>
          </p:cNvPr>
          <p:cNvSpPr txBox="1"/>
          <p:nvPr/>
        </p:nvSpPr>
        <p:spPr>
          <a:xfrm>
            <a:off x="1503225" y="1603160"/>
            <a:ext cx="6137550" cy="1663608"/>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US" sz="1350" dirty="0">
              <a:latin typeface="Proxima Nova"/>
            </a:endParaRPr>
          </a:p>
        </p:txBody>
      </p:sp>
      <p:sp>
        <p:nvSpPr>
          <p:cNvPr id="10" name="Google Shape;659;p7">
            <a:extLst>
              <a:ext uri="{FF2B5EF4-FFF2-40B4-BE49-F238E27FC236}">
                <a16:creationId xmlns:a16="http://schemas.microsoft.com/office/drawing/2014/main" id="{65837087-8249-DAAA-A682-F4078172F7B3}"/>
              </a:ext>
            </a:extLst>
          </p:cNvPr>
          <p:cNvSpPr txBox="1"/>
          <p:nvPr/>
        </p:nvSpPr>
        <p:spPr>
          <a:xfrm>
            <a:off x="2501100" y="1215341"/>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2100" b="0" i="0" u="none" strike="noStrike" cap="none" dirty="0">
                <a:solidFill>
                  <a:schemeClr val="tx1"/>
                </a:solidFill>
                <a:latin typeface="Proxima Nova"/>
                <a:ea typeface="Proxima Nova"/>
                <a:cs typeface="Proxima Nova"/>
                <a:sym typeface="Proxima Nova"/>
              </a:rPr>
              <a:t>FIELDS OF SBOM</a:t>
            </a:r>
            <a:endParaRPr sz="2100" b="0" i="0" u="none" strike="noStrike" cap="none" dirty="0">
              <a:solidFill>
                <a:schemeClr val="tx1"/>
              </a:solidFill>
              <a:latin typeface="Proxima Nova"/>
              <a:ea typeface="Proxima Nova"/>
              <a:cs typeface="Proxima Nova"/>
              <a:sym typeface="Proxima Nova"/>
            </a:endParaRPr>
          </a:p>
        </p:txBody>
      </p:sp>
      <p:pic>
        <p:nvPicPr>
          <p:cNvPr id="11" name="Content Placeholder 4">
            <a:extLst>
              <a:ext uri="{FF2B5EF4-FFF2-40B4-BE49-F238E27FC236}">
                <a16:creationId xmlns:a16="http://schemas.microsoft.com/office/drawing/2014/main" id="{A31E2028-2B95-D636-1C04-0F34295E9397}"/>
              </a:ext>
            </a:extLst>
          </p:cNvPr>
          <p:cNvPicPr>
            <a:picLocks noChangeAspect="1"/>
          </p:cNvPicPr>
          <p:nvPr/>
        </p:nvPicPr>
        <p:blipFill>
          <a:blip r:embed="rId6"/>
          <a:stretch>
            <a:fillRect/>
          </a:stretch>
        </p:blipFill>
        <p:spPr>
          <a:xfrm>
            <a:off x="990713" y="1691782"/>
            <a:ext cx="6920480" cy="2872128"/>
          </a:xfrm>
          <a:prstGeom prst="rect">
            <a:avLst/>
          </a:prstGeom>
        </p:spPr>
      </p:pic>
    </p:spTree>
    <p:extLst>
      <p:ext uri="{BB962C8B-B14F-4D97-AF65-F5344CB8AC3E}">
        <p14:creationId xmlns:p14="http://schemas.microsoft.com/office/powerpoint/2010/main" val="29722522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63</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66;p8">
            <a:extLst>
              <a:ext uri="{FF2B5EF4-FFF2-40B4-BE49-F238E27FC236}">
                <a16:creationId xmlns:a16="http://schemas.microsoft.com/office/drawing/2014/main" id="{57E1CC3C-E400-779D-AA34-F205DEA84AEC}"/>
              </a:ext>
            </a:extLst>
          </p:cNvPr>
          <p:cNvSpPr txBox="1"/>
          <p:nvPr/>
        </p:nvSpPr>
        <p:spPr>
          <a:xfrm>
            <a:off x="2501100" y="1343897"/>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endParaRPr sz="2100" b="0" i="0" u="none" strike="noStrike" cap="none" dirty="0">
              <a:solidFill>
                <a:schemeClr val="tx1"/>
              </a:solidFill>
              <a:latin typeface="Proxima Nova"/>
              <a:ea typeface="Proxima Nova"/>
              <a:cs typeface="Proxima Nova"/>
              <a:sym typeface="Proxima Nova"/>
            </a:endParaRPr>
          </a:p>
        </p:txBody>
      </p:sp>
      <p:sp>
        <p:nvSpPr>
          <p:cNvPr id="10" name="Google Shape;669;p8">
            <a:extLst>
              <a:ext uri="{FF2B5EF4-FFF2-40B4-BE49-F238E27FC236}">
                <a16:creationId xmlns:a16="http://schemas.microsoft.com/office/drawing/2014/main" id="{0D67D7D4-F15A-8A7C-0A02-C9D707725988}"/>
              </a:ext>
            </a:extLst>
          </p:cNvPr>
          <p:cNvSpPr txBox="1"/>
          <p:nvPr/>
        </p:nvSpPr>
        <p:spPr>
          <a:xfrm>
            <a:off x="1503225" y="1518162"/>
            <a:ext cx="6791690" cy="2755987"/>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4313" indent="-214313">
              <a:buFont typeface="Arial" panose="020B0604020202020204" pitchFamily="34" charset="0"/>
              <a:buChar char="•"/>
            </a:pPr>
            <a:r>
              <a:rPr lang="en-US" sz="1650" dirty="0">
                <a:latin typeface="Gill Sans MT" panose="020B0502020104020203" pitchFamily="34" charset="0"/>
              </a:rPr>
              <a:t>System Package Data Exchange (SPDX®) : A universally accepted standard that can depict systems comprising software components in the form of Software Bills of Materials (SBOMs) along with Artificial intelligence, data, and security references facilitating a diverse array of risk management applications.</a:t>
            </a:r>
          </a:p>
          <a:p>
            <a:pPr marL="214313" indent="-214313">
              <a:buFont typeface="Arial" panose="020B0604020202020204" pitchFamily="34" charset="0"/>
              <a:buChar char="•"/>
            </a:pPr>
            <a:endParaRPr lang="en-US" sz="1650" dirty="0">
              <a:latin typeface="Gill Sans MT" panose="020B0502020104020203" pitchFamily="34" charset="0"/>
            </a:endParaRPr>
          </a:p>
          <a:p>
            <a:pPr marL="214313" indent="-214313">
              <a:buFont typeface="Arial" panose="020B0604020202020204" pitchFamily="34" charset="0"/>
              <a:buChar char="•"/>
            </a:pPr>
            <a:r>
              <a:rPr lang="en-US" sz="1650" dirty="0" err="1">
                <a:latin typeface="Gill Sans MT" panose="020B0502020104020203" pitchFamily="34" charset="0"/>
              </a:rPr>
              <a:t>CycloneDX</a:t>
            </a:r>
            <a:r>
              <a:rPr lang="en-US" sz="1650" dirty="0">
                <a:latin typeface="Gill Sans MT" panose="020B0502020104020203" pitchFamily="34" charset="0"/>
              </a:rPr>
              <a:t> is engineered to enhance supply chain functionalities aimed at mitigating cyber risks. It is compatible with more than 200 tools spanning over 20 programming languages and is endorsed by prominent organizations such as Lockheed Martin, ServiceNow, IBM, Contrast Security, </a:t>
            </a:r>
            <a:r>
              <a:rPr lang="en-US" sz="1650" dirty="0" err="1">
                <a:latin typeface="Gill Sans MT" panose="020B0502020104020203" pitchFamily="34" charset="0"/>
              </a:rPr>
              <a:t>Sonatype</a:t>
            </a:r>
            <a:r>
              <a:rPr lang="en-US" sz="1650" dirty="0">
                <a:latin typeface="Gill Sans MT" panose="020B0502020104020203" pitchFamily="34" charset="0"/>
              </a:rPr>
              <a:t>, among others.</a:t>
            </a:r>
            <a:endParaRPr lang="en-IN" sz="1650" dirty="0">
              <a:latin typeface="Gill Sans MT" panose="020B0502020104020203" pitchFamily="34" charset="0"/>
            </a:endParaRPr>
          </a:p>
          <a:p>
            <a:pPr marL="214313" indent="-214313">
              <a:buFont typeface="Arial" panose="020B0604020202020204" pitchFamily="34" charset="0"/>
              <a:buChar char="•"/>
            </a:pPr>
            <a:endParaRPr lang="en-US" sz="1350" dirty="0">
              <a:latin typeface="Gill Sans MT" panose="020B0502020104020203" pitchFamily="34" charset="0"/>
            </a:endParaRPr>
          </a:p>
          <a:p>
            <a:endParaRPr lang="en-US" sz="1350" dirty="0">
              <a:latin typeface="Gill Sans MT" panose="020B0502020104020203" pitchFamily="34" charset="0"/>
            </a:endParaRPr>
          </a:p>
          <a:p>
            <a:pPr marL="214313" indent="-214313">
              <a:buFont typeface="Arial" panose="020B0604020202020204" pitchFamily="34" charset="0"/>
              <a:buChar char="•"/>
            </a:pPr>
            <a:endParaRPr lang="en-IN" sz="1350" dirty="0">
              <a:latin typeface="Proxima Nova"/>
            </a:endParaRPr>
          </a:p>
        </p:txBody>
      </p:sp>
    </p:spTree>
    <p:extLst>
      <p:ext uri="{BB962C8B-B14F-4D97-AF65-F5344CB8AC3E}">
        <p14:creationId xmlns:p14="http://schemas.microsoft.com/office/powerpoint/2010/main" val="30252644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64</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74;p9">
            <a:extLst>
              <a:ext uri="{FF2B5EF4-FFF2-40B4-BE49-F238E27FC236}">
                <a16:creationId xmlns:a16="http://schemas.microsoft.com/office/drawing/2014/main" id="{D119D70E-A34F-6AA7-86DD-2185B55E2A8B}"/>
              </a:ext>
            </a:extLst>
          </p:cNvPr>
          <p:cNvSpPr txBox="1"/>
          <p:nvPr/>
        </p:nvSpPr>
        <p:spPr>
          <a:xfrm>
            <a:off x="1503225" y="1753333"/>
            <a:ext cx="6137550" cy="1636835"/>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4313" indent="-214313">
              <a:buFont typeface="Arial" panose="020B0604020202020204" pitchFamily="34" charset="0"/>
              <a:buChar char="•"/>
            </a:pPr>
            <a:r>
              <a:rPr lang="en-US" sz="1500" b="0" i="0" dirty="0">
                <a:solidFill>
                  <a:srgbClr val="242424"/>
                </a:solidFill>
                <a:effectLst/>
                <a:latin typeface="source-serif-pro"/>
              </a:rPr>
              <a:t>Besides the capability of Inspector that can generate SBOMs of EC2, Lambdas, container images, and repositories, it also provides a tool to generate them manually. The Amazon Inspector SBOM Generator (</a:t>
            </a:r>
            <a:r>
              <a:rPr lang="en-US" sz="1500" b="0" i="0" dirty="0" err="1">
                <a:solidFill>
                  <a:srgbClr val="242424"/>
                </a:solidFill>
                <a:effectLst/>
                <a:latin typeface="source-serif-pro"/>
              </a:rPr>
              <a:t>refered</a:t>
            </a:r>
            <a:r>
              <a:rPr lang="en-US" sz="1500" b="0" i="0" dirty="0">
                <a:solidFill>
                  <a:srgbClr val="242424"/>
                </a:solidFill>
                <a:effectLst/>
                <a:latin typeface="source-serif-pro"/>
              </a:rPr>
              <a:t> as </a:t>
            </a:r>
            <a:r>
              <a:rPr lang="en-US" sz="1500" b="0" i="0" u="sng" dirty="0" err="1">
                <a:solidFill>
                  <a:srgbClr val="242424"/>
                </a:solidFill>
                <a:effectLst/>
                <a:latin typeface="source-serif-pro"/>
                <a:hlinkClick r:id="rId6"/>
              </a:rPr>
              <a:t>Sbomgen</a:t>
            </a:r>
            <a:r>
              <a:rPr lang="en-US" sz="1500" b="0" i="0" dirty="0">
                <a:solidFill>
                  <a:srgbClr val="242424"/>
                </a:solidFill>
                <a:effectLst/>
                <a:latin typeface="source-serif-pro"/>
              </a:rPr>
              <a:t> from now on) tool is designed to create an SBOM for various entities such as archives, container images, directories, local systems, and compiled binaries.</a:t>
            </a:r>
          </a:p>
          <a:p>
            <a:pPr marL="214313" indent="-214313">
              <a:buFont typeface="Arial" panose="020B0604020202020204" pitchFamily="34" charset="0"/>
              <a:buChar char="•"/>
            </a:pPr>
            <a:endParaRPr lang="en-US" sz="1500" dirty="0">
              <a:solidFill>
                <a:srgbClr val="242424"/>
              </a:solidFill>
              <a:latin typeface="source-serif-pro"/>
            </a:endParaRPr>
          </a:p>
          <a:p>
            <a:pPr marL="214313" indent="-214313">
              <a:buFont typeface="Arial" panose="020B0604020202020204" pitchFamily="34" charset="0"/>
              <a:buChar char="•"/>
            </a:pPr>
            <a:r>
              <a:rPr lang="en-US" sz="1500" b="0" i="0" dirty="0">
                <a:solidFill>
                  <a:srgbClr val="242424"/>
                </a:solidFill>
                <a:effectLst/>
                <a:latin typeface="source-serif-pro"/>
              </a:rPr>
              <a:t>This tool operates by identifying files that detail the installed packages. </a:t>
            </a:r>
            <a:r>
              <a:rPr lang="en-US" sz="1500" b="0" i="0" dirty="0" err="1">
                <a:solidFill>
                  <a:srgbClr val="242424"/>
                </a:solidFill>
                <a:effectLst/>
                <a:latin typeface="source-serif-pro"/>
              </a:rPr>
              <a:t>Sbomgen</a:t>
            </a:r>
            <a:r>
              <a:rPr lang="en-US" sz="1500" b="0" i="0" dirty="0">
                <a:solidFill>
                  <a:srgbClr val="242424"/>
                </a:solidFill>
                <a:effectLst/>
                <a:latin typeface="source-serif-pro"/>
              </a:rPr>
              <a:t> extracts essential data like package names, versions, and additional metadata upon locating such files. It then converts this package information into an SBOM formatted in </a:t>
            </a:r>
            <a:r>
              <a:rPr lang="en-US" sz="1500" b="0" i="0" dirty="0" err="1">
                <a:solidFill>
                  <a:srgbClr val="242424"/>
                </a:solidFill>
                <a:effectLst/>
                <a:latin typeface="source-serif-pro"/>
              </a:rPr>
              <a:t>CycloneDX</a:t>
            </a:r>
            <a:r>
              <a:rPr lang="en-US" sz="1500" b="0" i="0" dirty="0">
                <a:solidFill>
                  <a:srgbClr val="242424"/>
                </a:solidFill>
                <a:effectLst/>
                <a:latin typeface="source-serif-pro"/>
              </a:rPr>
              <a:t>.</a:t>
            </a:r>
          </a:p>
          <a:p>
            <a:pPr marL="214313" indent="-214313">
              <a:buFont typeface="Arial" panose="020B0604020202020204" pitchFamily="34" charset="0"/>
              <a:buChar char="•"/>
            </a:pPr>
            <a:endParaRPr lang="en-IN" sz="1500" dirty="0">
              <a:latin typeface="Proxima Nova"/>
            </a:endParaRPr>
          </a:p>
        </p:txBody>
      </p:sp>
      <p:sp>
        <p:nvSpPr>
          <p:cNvPr id="10" name="Google Shape;676;p9">
            <a:extLst>
              <a:ext uri="{FF2B5EF4-FFF2-40B4-BE49-F238E27FC236}">
                <a16:creationId xmlns:a16="http://schemas.microsoft.com/office/drawing/2014/main" id="{8D8F656A-2BC9-136D-C6E0-F24F4DC04371}"/>
              </a:ext>
            </a:extLst>
          </p:cNvPr>
          <p:cNvSpPr txBox="1"/>
          <p:nvPr/>
        </p:nvSpPr>
        <p:spPr>
          <a:xfrm>
            <a:off x="2501100" y="117037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2100" b="0" i="0" u="none" strike="noStrike" cap="none" dirty="0">
                <a:solidFill>
                  <a:schemeClr val="tx1"/>
                </a:solidFill>
                <a:latin typeface="Proxima Nova"/>
                <a:ea typeface="Proxima Nova"/>
                <a:cs typeface="Proxima Nova"/>
                <a:sym typeface="Proxima Nova"/>
              </a:rPr>
              <a:t>SBOMGEN</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23070283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F9A3A-942E-2C17-E5F6-C72FE44BE054}"/>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96B8DB89-2034-B854-4DF7-B54B7B55A56E}"/>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65</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28A8DA05-6289-7CC8-3E3E-3E11FF8A07C9}"/>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FA376B96-8E88-7776-8592-7E765E9ADB3F}"/>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EA479C36-5906-403F-3907-76EBC87D07C1}"/>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3E60E0AF-FE2C-9505-4D13-F3F3FCBEF62A}"/>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2D8E9E14-5A43-D7F3-7804-BA4C7530785A}"/>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93F4CFAD-35C6-B99F-5B7E-8FFABFFA6FA0}"/>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74;p9">
            <a:extLst>
              <a:ext uri="{FF2B5EF4-FFF2-40B4-BE49-F238E27FC236}">
                <a16:creationId xmlns:a16="http://schemas.microsoft.com/office/drawing/2014/main" id="{D2E5A7B6-F6EC-0FF2-CCED-4C501B976940}"/>
              </a:ext>
            </a:extLst>
          </p:cNvPr>
          <p:cNvSpPr txBox="1"/>
          <p:nvPr/>
        </p:nvSpPr>
        <p:spPr>
          <a:xfrm>
            <a:off x="1503225" y="1865644"/>
            <a:ext cx="6137550" cy="1926407"/>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57175" indent="-257175">
              <a:buFont typeface="Arial" panose="020B0604020202020204" pitchFamily="34" charset="0"/>
              <a:buChar char="•"/>
            </a:pPr>
            <a:r>
              <a:rPr lang="en-IN" sz="1800" dirty="0">
                <a:latin typeface="Gill Sans MT" panose="020B0502020104020203" pitchFamily="34" charset="0"/>
              </a:rPr>
              <a:t>Ubuntu ec2 </a:t>
            </a:r>
            <a:r>
              <a:rPr lang="en-IN" sz="1800" dirty="0" err="1">
                <a:latin typeface="Gill Sans MT" panose="020B0502020104020203" pitchFamily="34" charset="0"/>
              </a:rPr>
              <a:t>vm</a:t>
            </a:r>
            <a:endParaRPr lang="en-IN" sz="1800" dirty="0">
              <a:latin typeface="Gill Sans MT" panose="020B0502020104020203" pitchFamily="34" charset="0"/>
            </a:endParaRPr>
          </a:p>
          <a:p>
            <a:pPr marL="257175" indent="-257175">
              <a:buFont typeface="Arial" panose="020B0604020202020204" pitchFamily="34" charset="0"/>
              <a:buChar char="•"/>
            </a:pPr>
            <a:endParaRPr lang="en-IN" sz="1800" dirty="0">
              <a:latin typeface="Gill Sans MT" panose="020B0502020104020203" pitchFamily="34" charset="0"/>
            </a:endParaRPr>
          </a:p>
          <a:p>
            <a:pPr marL="257175" indent="-257175">
              <a:buFont typeface="Arial" panose="020B0604020202020204" pitchFamily="34" charset="0"/>
              <a:buChar char="•"/>
            </a:pPr>
            <a:r>
              <a:rPr lang="en-IN" sz="1800" dirty="0">
                <a:latin typeface="Gill Sans MT" panose="020B0502020104020203" pitchFamily="34" charset="0"/>
              </a:rPr>
              <a:t>Setup tools</a:t>
            </a:r>
          </a:p>
          <a:p>
            <a:pPr marL="257175" indent="-257175">
              <a:buFont typeface="Arial" panose="020B0604020202020204" pitchFamily="34" charset="0"/>
              <a:buChar char="•"/>
            </a:pPr>
            <a:endParaRPr lang="en-IN" sz="1800" dirty="0">
              <a:latin typeface="Gill Sans MT" panose="020B0502020104020203" pitchFamily="34" charset="0"/>
            </a:endParaRPr>
          </a:p>
          <a:p>
            <a:pPr marL="257175" indent="-257175">
              <a:buFont typeface="Arial" panose="020B0604020202020204" pitchFamily="34" charset="0"/>
              <a:buChar char="•"/>
            </a:pPr>
            <a:r>
              <a:rPr lang="en-IN" sz="1800" dirty="0">
                <a:latin typeface="Gill Sans MT" panose="020B0502020104020203" pitchFamily="34" charset="0"/>
              </a:rPr>
              <a:t>Scan tools</a:t>
            </a:r>
          </a:p>
          <a:p>
            <a:pPr marL="342900" indent="-342900">
              <a:buFont typeface="Arial" panose="020B0604020202020204" pitchFamily="34" charset="0"/>
              <a:buChar char="•"/>
            </a:pPr>
            <a:endParaRPr lang="en-IN" sz="1350" dirty="0">
              <a:latin typeface="Proxima Nova"/>
            </a:endParaRPr>
          </a:p>
        </p:txBody>
      </p:sp>
      <p:sp>
        <p:nvSpPr>
          <p:cNvPr id="10" name="Google Shape;676;p9">
            <a:extLst>
              <a:ext uri="{FF2B5EF4-FFF2-40B4-BE49-F238E27FC236}">
                <a16:creationId xmlns:a16="http://schemas.microsoft.com/office/drawing/2014/main" id="{32477BD9-4D81-7A11-6CA0-EF40A4940A66}"/>
              </a:ext>
            </a:extLst>
          </p:cNvPr>
          <p:cNvSpPr txBox="1"/>
          <p:nvPr/>
        </p:nvSpPr>
        <p:spPr>
          <a:xfrm>
            <a:off x="2501100" y="117037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2100" b="0" i="0" u="none" strike="noStrike" cap="none" dirty="0">
                <a:solidFill>
                  <a:schemeClr val="tx1"/>
                </a:solidFill>
                <a:latin typeface="Proxima Nova"/>
                <a:ea typeface="Proxima Nova"/>
                <a:cs typeface="Proxima Nova"/>
                <a:sym typeface="Proxima Nova"/>
              </a:rPr>
              <a:t>LAB FOR SBOM</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19941004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99538E0-151D-AE69-8CA0-70A4467C693F}"/>
              </a:ext>
            </a:extLst>
          </p:cNvPr>
          <p:cNvSpPr>
            <a:spLocks noGrp="1"/>
          </p:cNvSpPr>
          <p:nvPr>
            <p:ph type="ctrTitle"/>
          </p:nvPr>
        </p:nvSpPr>
        <p:spPr>
          <a:xfrm>
            <a:off x="1143000" y="841772"/>
            <a:ext cx="6858000" cy="787706"/>
          </a:xfrm>
        </p:spPr>
        <p:txBody>
          <a:bodyPr>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2400" dirty="0">
                <a:latin typeface="Gill Sans MT" panose="020B0502020104020203" pitchFamily="34" charset="0"/>
              </a:rPr>
              <a:t>OBSERVATION</a:t>
            </a:r>
          </a:p>
        </p:txBody>
      </p:sp>
      <p:sp>
        <p:nvSpPr>
          <p:cNvPr id="10" name="Subtitle 9">
            <a:extLst>
              <a:ext uri="{FF2B5EF4-FFF2-40B4-BE49-F238E27FC236}">
                <a16:creationId xmlns:a16="http://schemas.microsoft.com/office/drawing/2014/main" id="{61E9AA63-212E-C4E0-C245-474C0EA0D7C4}"/>
              </a:ext>
            </a:extLst>
          </p:cNvPr>
          <p:cNvSpPr>
            <a:spLocks noGrp="1"/>
          </p:cNvSpPr>
          <p:nvPr>
            <p:ph type="subTitle" idx="1"/>
          </p:nvPr>
        </p:nvSpPr>
        <p:spPr>
          <a:xfrm>
            <a:off x="1143000" y="1899041"/>
            <a:ext cx="6858000" cy="2141376"/>
          </a:xfrm>
        </p:spPr>
        <p:txBody>
          <a:bodyPr>
            <a:normAutofit fontScale="92500"/>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57175" indent="-257175" algn="l">
              <a:lnSpc>
                <a:spcPts val="1800"/>
              </a:lnSpc>
              <a:buFont typeface="Arial" panose="020B0604020202020204" pitchFamily="34" charset="0"/>
              <a:buChar char="•"/>
            </a:pPr>
            <a:r>
              <a:rPr lang="en-US" sz="1650" b="0" i="0" dirty="0" err="1">
                <a:solidFill>
                  <a:srgbClr val="242424"/>
                </a:solidFill>
                <a:effectLst/>
                <a:latin typeface="source-serif-pro"/>
              </a:rPr>
              <a:t>Sbomgen</a:t>
            </a:r>
            <a:r>
              <a:rPr lang="en-US" sz="1650" b="0" i="0" dirty="0">
                <a:solidFill>
                  <a:srgbClr val="242424"/>
                </a:solidFill>
                <a:effectLst/>
                <a:latin typeface="source-serif-pro"/>
              </a:rPr>
              <a:t> is compatible exclusively with Linux operating systems.</a:t>
            </a:r>
          </a:p>
          <a:p>
            <a:pPr marL="257175" indent="-257175" algn="l">
              <a:lnSpc>
                <a:spcPts val="1800"/>
              </a:lnSpc>
              <a:buFont typeface="Arial" panose="020B0604020202020204" pitchFamily="34" charset="0"/>
              <a:buChar char="•"/>
            </a:pPr>
            <a:r>
              <a:rPr lang="en-US" sz="1650" b="0" i="0" dirty="0">
                <a:solidFill>
                  <a:srgbClr val="242424"/>
                </a:solidFill>
                <a:effectLst/>
                <a:latin typeface="source-serif-pro"/>
              </a:rPr>
              <a:t>To enable </a:t>
            </a:r>
            <a:r>
              <a:rPr lang="en-US" sz="1650" b="0" i="0" dirty="0" err="1">
                <a:solidFill>
                  <a:srgbClr val="242424"/>
                </a:solidFill>
                <a:effectLst/>
                <a:latin typeface="source-serif-pro"/>
              </a:rPr>
              <a:t>Sbomgen</a:t>
            </a:r>
            <a:r>
              <a:rPr lang="en-US" sz="1650" b="0" i="0" dirty="0">
                <a:solidFill>
                  <a:srgbClr val="242424"/>
                </a:solidFill>
                <a:effectLst/>
                <a:latin typeface="source-serif-pro"/>
              </a:rPr>
              <a:t> to examine locally stored images, Docker needs to be installed on your system. However, Docker installation is not necessary for analyzing images exported as .tar files or by those stored in remote container registries.</a:t>
            </a:r>
          </a:p>
          <a:p>
            <a:pPr marL="257175" indent="-257175" algn="l">
              <a:buFont typeface="Arial" panose="020B0604020202020204" pitchFamily="34" charset="0"/>
              <a:buChar char="•"/>
            </a:pPr>
            <a:r>
              <a:rPr lang="en-US" sz="1650" b="0" i="0" dirty="0" err="1">
                <a:solidFill>
                  <a:srgbClr val="242424"/>
                </a:solidFill>
                <a:effectLst/>
                <a:latin typeface="source-serif-pro"/>
              </a:rPr>
              <a:t>Sbomgen</a:t>
            </a:r>
            <a:r>
              <a:rPr lang="en-US" sz="1650" b="0" i="0" dirty="0">
                <a:solidFill>
                  <a:srgbClr val="242424"/>
                </a:solidFill>
                <a:effectLst/>
                <a:latin typeface="source-serif-pro"/>
              </a:rPr>
              <a:t> offers flexibility in its use; it can function independently to produce a </a:t>
            </a:r>
            <a:r>
              <a:rPr lang="en-US" sz="1650" b="0" i="0" dirty="0" err="1">
                <a:solidFill>
                  <a:srgbClr val="242424"/>
                </a:solidFill>
                <a:effectLst/>
                <a:latin typeface="source-serif-pro"/>
              </a:rPr>
              <a:t>CycloneDX</a:t>
            </a:r>
            <a:r>
              <a:rPr lang="en-US" sz="1650" b="0" i="0" dirty="0">
                <a:solidFill>
                  <a:srgbClr val="242424"/>
                </a:solidFill>
                <a:effectLst/>
                <a:latin typeface="source-serif-pro"/>
              </a:rPr>
              <a:t>-formatted SBOM as a file or output directly to STDOUT. Additionally, it can transmit SBOMs to Amazon Inspector to facilitate the process of vulnerability detection.</a:t>
            </a:r>
            <a:endParaRPr lang="en-IN" sz="1650" dirty="0"/>
          </a:p>
          <a:p>
            <a:pPr algn="l"/>
            <a:endParaRPr lang="en-IN" dirty="0"/>
          </a:p>
        </p:txBody>
      </p:sp>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66</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Tree>
    <p:extLst>
      <p:ext uri="{BB962C8B-B14F-4D97-AF65-F5344CB8AC3E}">
        <p14:creationId xmlns:p14="http://schemas.microsoft.com/office/powerpoint/2010/main" val="16032467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67</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90;p11">
            <a:extLst>
              <a:ext uri="{FF2B5EF4-FFF2-40B4-BE49-F238E27FC236}">
                <a16:creationId xmlns:a16="http://schemas.microsoft.com/office/drawing/2014/main" id="{85B0F5EA-81F3-2B7B-C58F-D5B84702C71F}"/>
              </a:ext>
            </a:extLst>
          </p:cNvPr>
          <p:cNvSpPr txBox="1"/>
          <p:nvPr/>
        </p:nvSpPr>
        <p:spPr>
          <a:xfrm>
            <a:off x="1503225" y="1744752"/>
            <a:ext cx="6137550" cy="2644368"/>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lnSpc>
                <a:spcPts val="1800"/>
              </a:lnSpc>
              <a:buFont typeface="Arial" panose="020B0604020202020204" pitchFamily="34" charset="0"/>
              <a:buChar char="•"/>
            </a:pPr>
            <a:r>
              <a:rPr lang="en-US" sz="1200" b="1" i="0" dirty="0">
                <a:solidFill>
                  <a:srgbClr val="242424"/>
                </a:solidFill>
                <a:effectLst/>
                <a:latin typeface="source-serif-pro"/>
              </a:rPr>
              <a:t>Accurate Dependency Tracking</a:t>
            </a:r>
            <a:r>
              <a:rPr lang="en-US" sz="1200" b="0" i="0" dirty="0">
                <a:solidFill>
                  <a:srgbClr val="242424"/>
                </a:solidFill>
                <a:effectLst/>
                <a:latin typeface="source-serif-pro"/>
              </a:rPr>
              <a:t>: It enables swift and precise pinpointing of each dependency’s location, which is particularly beneficial for finding deeply nested dependencies that are typically challenging to track.</a:t>
            </a:r>
          </a:p>
          <a:p>
            <a:pPr algn="l">
              <a:lnSpc>
                <a:spcPts val="1800"/>
              </a:lnSpc>
              <a:buFont typeface="Arial" panose="020B0604020202020204" pitchFamily="34" charset="0"/>
              <a:buChar char="•"/>
            </a:pPr>
            <a:r>
              <a:rPr lang="en-US" sz="1200" b="1" i="0" dirty="0">
                <a:solidFill>
                  <a:srgbClr val="242424"/>
                </a:solidFill>
                <a:effectLst/>
                <a:latin typeface="source-serif-pro"/>
              </a:rPr>
              <a:t>Improved Risk Assessment</a:t>
            </a:r>
            <a:r>
              <a:rPr lang="en-US" sz="1200" b="0" i="0" dirty="0">
                <a:solidFill>
                  <a:srgbClr val="242424"/>
                </a:solidFill>
                <a:effectLst/>
                <a:latin typeface="source-serif-pro"/>
              </a:rPr>
              <a:t>: Knowing the exact routes of dependencies allows for a more effective evaluation and mitigation of security threats linked to those dependencies.</a:t>
            </a:r>
          </a:p>
          <a:p>
            <a:pPr algn="l">
              <a:lnSpc>
                <a:spcPts val="1800"/>
              </a:lnSpc>
              <a:buFont typeface="Arial" panose="020B0604020202020204" pitchFamily="34" charset="0"/>
              <a:buChar char="•"/>
            </a:pPr>
            <a:r>
              <a:rPr lang="en-US" sz="1200" b="1" i="0" dirty="0">
                <a:solidFill>
                  <a:srgbClr val="242424"/>
                </a:solidFill>
                <a:effectLst/>
                <a:latin typeface="source-serif-pro"/>
              </a:rPr>
              <a:t>Efficiency in Time and Resources</a:t>
            </a:r>
            <a:r>
              <a:rPr lang="en-US" sz="1200" b="0" i="0" dirty="0">
                <a:solidFill>
                  <a:srgbClr val="242424"/>
                </a:solidFill>
                <a:effectLst/>
                <a:latin typeface="source-serif-pro"/>
              </a:rPr>
              <a:t>_ This level of detail cuts down on the effort and resources required for manually tracing and analyzing dependencies, making the process of managing vulnerabilities more efficient.</a:t>
            </a:r>
          </a:p>
          <a:p>
            <a:pPr algn="l">
              <a:lnSpc>
                <a:spcPts val="1800"/>
              </a:lnSpc>
              <a:buFont typeface="Arial" panose="020B0604020202020204" pitchFamily="34" charset="0"/>
              <a:buChar char="•"/>
            </a:pPr>
            <a:r>
              <a:rPr lang="en-US" sz="1200" b="1" i="0" dirty="0">
                <a:solidFill>
                  <a:srgbClr val="242424"/>
                </a:solidFill>
                <a:effectLst/>
                <a:latin typeface="source-serif-pro"/>
              </a:rPr>
              <a:t>Greater Clarity and Openness</a:t>
            </a:r>
            <a:r>
              <a:rPr lang="en-US" sz="1200" b="0" i="0" dirty="0">
                <a:solidFill>
                  <a:srgbClr val="242424"/>
                </a:solidFill>
                <a:effectLst/>
                <a:latin typeface="source-serif-pro"/>
              </a:rPr>
              <a:t>: It offers a more transparent view of the application’s dependency framework, leading to enhanced management and upkeep.</a:t>
            </a:r>
          </a:p>
          <a:p>
            <a:pPr marL="214313" indent="-214313">
              <a:buFont typeface="Arial" panose="020B0604020202020204" pitchFamily="34" charset="0"/>
              <a:buChar char="•"/>
            </a:pPr>
            <a:endParaRPr lang="en-IN" sz="1500" dirty="0">
              <a:latin typeface="Source Sans Pro" panose="020F0502020204030204" pitchFamily="34" charset="0"/>
              <a:ea typeface="Source Sans Pro" panose="020F0502020204030204" pitchFamily="34" charset="0"/>
            </a:endParaRPr>
          </a:p>
          <a:p>
            <a:pPr marL="214313" indent="-214313">
              <a:buFont typeface="Arial" panose="020B0604020202020204" pitchFamily="34" charset="0"/>
              <a:buChar char="•"/>
            </a:pPr>
            <a:endParaRPr lang="en-IN" sz="1500" dirty="0">
              <a:latin typeface="Source Sans Pro" panose="020F0502020204030204" pitchFamily="34" charset="0"/>
            </a:endParaRPr>
          </a:p>
        </p:txBody>
      </p:sp>
      <p:sp>
        <p:nvSpPr>
          <p:cNvPr id="10" name="Google Shape;692;p11">
            <a:extLst>
              <a:ext uri="{FF2B5EF4-FFF2-40B4-BE49-F238E27FC236}">
                <a16:creationId xmlns:a16="http://schemas.microsoft.com/office/drawing/2014/main" id="{D0EBEBCC-0B65-374C-F511-6EBA35263357}"/>
              </a:ext>
            </a:extLst>
          </p:cNvPr>
          <p:cNvSpPr txBox="1"/>
          <p:nvPr/>
        </p:nvSpPr>
        <p:spPr>
          <a:xfrm>
            <a:off x="2501100" y="902633"/>
            <a:ext cx="4141800" cy="667854"/>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2400" b="0" i="0" u="none" strike="noStrike" cap="none" dirty="0">
                <a:solidFill>
                  <a:schemeClr val="tx1"/>
                </a:solidFill>
                <a:latin typeface="Proxima Nova"/>
                <a:ea typeface="Proxima Nova"/>
                <a:cs typeface="Proxima Nova"/>
                <a:sym typeface="Proxima Nova"/>
              </a:rPr>
              <a:t>VULNERABLE PYTHON SCRIPT</a:t>
            </a:r>
            <a:endParaRPr sz="24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1800711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68</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99;p12">
            <a:extLst>
              <a:ext uri="{FF2B5EF4-FFF2-40B4-BE49-F238E27FC236}">
                <a16:creationId xmlns:a16="http://schemas.microsoft.com/office/drawing/2014/main" id="{E3BC2794-155E-1916-2E13-E4984F87D77B}"/>
              </a:ext>
            </a:extLst>
          </p:cNvPr>
          <p:cNvSpPr txBox="1"/>
          <p:nvPr/>
        </p:nvSpPr>
        <p:spPr>
          <a:xfrm>
            <a:off x="2501100" y="1116611"/>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2100" b="0" i="0" u="none" strike="noStrike" cap="none" dirty="0">
                <a:solidFill>
                  <a:schemeClr val="tx1"/>
                </a:solidFill>
                <a:latin typeface="Proxima Nova"/>
                <a:ea typeface="Proxima Nova"/>
                <a:cs typeface="Proxima Nova"/>
                <a:sym typeface="Proxima Nova"/>
              </a:rPr>
              <a:t>LAB</a:t>
            </a:r>
            <a:endParaRPr sz="2100" b="0" i="0" u="none" strike="noStrike" cap="none" dirty="0">
              <a:solidFill>
                <a:schemeClr val="tx1"/>
              </a:solidFill>
              <a:latin typeface="Proxima Nova"/>
              <a:ea typeface="Proxima Nova"/>
              <a:cs typeface="Proxima Nova"/>
              <a:sym typeface="Proxima Nova"/>
            </a:endParaRPr>
          </a:p>
        </p:txBody>
      </p:sp>
      <p:sp>
        <p:nvSpPr>
          <p:cNvPr id="11" name="TextBox 10">
            <a:extLst>
              <a:ext uri="{FF2B5EF4-FFF2-40B4-BE49-F238E27FC236}">
                <a16:creationId xmlns:a16="http://schemas.microsoft.com/office/drawing/2014/main" id="{B9D9EA2A-E7EF-48D7-3FAB-642CBC1AC5AD}"/>
              </a:ext>
            </a:extLst>
          </p:cNvPr>
          <p:cNvSpPr txBox="1"/>
          <p:nvPr/>
        </p:nvSpPr>
        <p:spPr>
          <a:xfrm>
            <a:off x="1208315" y="1526722"/>
            <a:ext cx="7127421" cy="553998"/>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IN" sz="1500" dirty="0">
                <a:latin typeface="Gill Sans MT" panose="020B0502020104020203" pitchFamily="34" charset="0"/>
              </a:rPr>
              <a:t>Scan sample code from python</a:t>
            </a:r>
          </a:p>
          <a:p>
            <a:endParaRPr lang="en-IN" sz="1500" dirty="0">
              <a:latin typeface="Gill Sans MT" panose="020B0502020104020203" pitchFamily="34" charset="0"/>
            </a:endParaRPr>
          </a:p>
        </p:txBody>
      </p:sp>
      <p:pic>
        <p:nvPicPr>
          <p:cNvPr id="13" name="Picture 12">
            <a:extLst>
              <a:ext uri="{FF2B5EF4-FFF2-40B4-BE49-F238E27FC236}">
                <a16:creationId xmlns:a16="http://schemas.microsoft.com/office/drawing/2014/main" id="{DDED7D87-1CB5-3272-2450-5A27A6F91238}"/>
              </a:ext>
            </a:extLst>
          </p:cNvPr>
          <p:cNvPicPr>
            <a:picLocks noChangeAspect="1"/>
          </p:cNvPicPr>
          <p:nvPr/>
        </p:nvPicPr>
        <p:blipFill>
          <a:blip r:embed="rId6"/>
          <a:stretch>
            <a:fillRect/>
          </a:stretch>
        </p:blipFill>
        <p:spPr>
          <a:xfrm>
            <a:off x="1300679" y="1838557"/>
            <a:ext cx="6363027" cy="2494616"/>
          </a:xfrm>
          <a:prstGeom prst="rect">
            <a:avLst/>
          </a:prstGeom>
        </p:spPr>
      </p:pic>
    </p:spTree>
    <p:extLst>
      <p:ext uri="{BB962C8B-B14F-4D97-AF65-F5344CB8AC3E}">
        <p14:creationId xmlns:p14="http://schemas.microsoft.com/office/powerpoint/2010/main" val="15464124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019504"/>
            <a:ext cx="9144000" cy="2063512"/>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400"/>
          </a:p>
        </p:txBody>
      </p:sp>
      <p:sp>
        <p:nvSpPr>
          <p:cNvPr id="615" name="Google Shape;615;p34"/>
          <p:cNvSpPr txBox="1"/>
          <p:nvPr/>
        </p:nvSpPr>
        <p:spPr>
          <a:xfrm>
            <a:off x="871629" y="2571750"/>
            <a:ext cx="7400744" cy="974008"/>
          </a:xfrm>
          <a:prstGeom prst="rect">
            <a:avLst/>
          </a:prstGeom>
          <a:noFill/>
          <a:ln>
            <a:noFill/>
          </a:ln>
        </p:spPr>
        <p:txBody>
          <a:bodyPr spcFirstLastPara="1" wrap="square" lIns="91425" tIns="45700" rIns="91425" bIns="4570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lnSpc>
                <a:spcPct val="90000"/>
              </a:lnSpc>
              <a:buClr>
                <a:schemeClr val="dk1"/>
              </a:buClr>
              <a:buSzPts val="4000"/>
            </a:pPr>
            <a:r>
              <a:rPr lang="en-US" sz="3600" dirty="0">
                <a:solidFill>
                  <a:schemeClr val="bg1"/>
                </a:solidFill>
                <a:latin typeface="Lato"/>
                <a:ea typeface="Lato"/>
                <a:cs typeface="Lato"/>
                <a:sym typeface="La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Thank You!</a:t>
            </a:r>
            <a:endParaRPr lang="en-US" sz="3600" dirty="0">
              <a:solidFill>
                <a:schemeClr val="bg1"/>
              </a:solidFill>
              <a:latin typeface="Lato"/>
              <a:ea typeface="Lato"/>
              <a:cs typeface="Lato"/>
              <a:sym typeface="Lato"/>
            </a:endParaRPr>
          </a:p>
        </p:txBody>
      </p:sp>
      <p:sp>
        <p:nvSpPr>
          <p:cNvPr id="617" name="Google Shape;617;p34"/>
          <p:cNvSpPr txBox="1">
            <a:spLocks noGrp="1"/>
          </p:cNvSpPr>
          <p:nvPr>
            <p:ph type="sldNum" sz="quarter" idx="12"/>
          </p:nvPr>
        </p:nvSpPr>
        <p:spPr>
          <a:xfrm>
            <a:off x="6511925" y="4767263"/>
            <a:ext cx="2057400" cy="274500"/>
          </a:xfrm>
          <a:prstGeom prst="rect">
            <a:avLst/>
          </a:prstGeom>
          <a:noFill/>
          <a:ln>
            <a:noFill/>
          </a:ln>
        </p:spPr>
        <p:txBody>
          <a:bodyPr spcFirstLastPara="1" wrap="square" lIns="91425" tIns="45700" rIns="91425" bIns="45700"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00000000-1234-1234-1234-123412341234}" type="slidenum">
              <a:rPr lang="en-IN">
                <a:solidFill>
                  <a:srgbClr val="FF0000"/>
                </a:solidFill>
                <a:latin typeface="Proxima Nova"/>
                <a:ea typeface="Proxima Nova"/>
                <a:cs typeface="Proxima Nova"/>
                <a:sym typeface="Proxima Nova"/>
              </a:rPr>
              <a:pPr/>
              <a:t>69</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7084752" y="101738"/>
            <a:ext cx="1544050" cy="1544050"/>
          </a:xfrm>
          <a:prstGeom prst="rect">
            <a:avLst/>
          </a:prstGeom>
          <a:noFill/>
          <a:ln>
            <a:noFill/>
          </a:ln>
        </p:spPr>
      </p:pic>
      <p:pic>
        <p:nvPicPr>
          <p:cNvPr id="3" name="Picture 2">
            <a:extLst>
              <a:ext uri="{FF2B5EF4-FFF2-40B4-BE49-F238E27FC236}">
                <a16:creationId xmlns:a16="http://schemas.microsoft.com/office/drawing/2014/main" id="{ED6418B9-9024-36FD-FF4A-D689E721F145}"/>
              </a:ext>
            </a:extLst>
          </p:cNvPr>
          <p:cNvPicPr>
            <a:picLocks noChangeAspect="1"/>
          </p:cNvPicPr>
          <p:nvPr/>
        </p:nvPicPr>
        <p:blipFill rotWithShape="1">
          <a:blip r:embed="rId4"/>
          <a:srcRect l="25725" t="37867" r="34750" b="40666"/>
          <a:stretch/>
        </p:blipFill>
        <p:spPr>
          <a:xfrm>
            <a:off x="781813" y="532238"/>
            <a:ext cx="2628515" cy="803019"/>
          </a:xfrm>
          <a:prstGeom prst="rect">
            <a:avLst/>
          </a:prstGeom>
        </p:spPr>
      </p:pic>
    </p:spTree>
    <p:extLst>
      <p:ext uri="{BB962C8B-B14F-4D97-AF65-F5344CB8AC3E}">
        <p14:creationId xmlns:p14="http://schemas.microsoft.com/office/powerpoint/2010/main" val="14979906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019504"/>
            <a:ext cx="9144000" cy="2063512"/>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800"/>
          </a:p>
        </p:txBody>
      </p:sp>
      <p:sp>
        <p:nvSpPr>
          <p:cNvPr id="615" name="Google Shape;615;p34"/>
          <p:cNvSpPr txBox="1"/>
          <p:nvPr/>
        </p:nvSpPr>
        <p:spPr>
          <a:xfrm>
            <a:off x="871629" y="2571750"/>
            <a:ext cx="7400744" cy="974008"/>
          </a:xfrm>
          <a:prstGeom prst="rect">
            <a:avLst/>
          </a:prstGeom>
          <a:noFill/>
          <a:ln>
            <a:noFill/>
          </a:ln>
        </p:spPr>
        <p:txBody>
          <a:bodyPr spcFirstLastPara="1" wrap="square" lIns="91425" tIns="45700" rIns="91425" bIns="4570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lnSpc>
                <a:spcPct val="90000"/>
              </a:lnSpc>
              <a:buClr>
                <a:schemeClr val="dk1"/>
              </a:buClr>
              <a:buSzPts val="4000"/>
            </a:pPr>
            <a:r>
              <a:rPr lang="en-US" sz="3600" dirty="0">
                <a:solidFill>
                  <a:schemeClr val="bg1"/>
                </a:solidFill>
                <a:latin typeface="Lato"/>
                <a:ea typeface="Lato"/>
                <a:cs typeface="Lato"/>
                <a:sym typeface="La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AWS Inspector</a:t>
            </a:r>
            <a:endParaRPr lang="en-US" sz="3600" dirty="0">
              <a:solidFill>
                <a:schemeClr val="bg1"/>
              </a:solidFill>
              <a:latin typeface="Lato"/>
              <a:ea typeface="Lato"/>
              <a:cs typeface="Lato"/>
              <a:sym typeface="Lato"/>
            </a:endParaRPr>
          </a:p>
        </p:txBody>
      </p:sp>
      <p:sp>
        <p:nvSpPr>
          <p:cNvPr id="617" name="Google Shape;617;p34"/>
          <p:cNvSpPr txBox="1">
            <a:spLocks noGrp="1"/>
          </p:cNvSpPr>
          <p:nvPr>
            <p:ph type="sldNum" sz="quarter" idx="12"/>
          </p:nvPr>
        </p:nvSpPr>
        <p:spPr>
          <a:xfrm>
            <a:off x="6511925" y="4767263"/>
            <a:ext cx="2057400" cy="274500"/>
          </a:xfrm>
          <a:prstGeom prst="rect">
            <a:avLst/>
          </a:prstGeom>
          <a:noFill/>
          <a:ln>
            <a:noFill/>
          </a:ln>
        </p:spPr>
        <p:txBody>
          <a:bodyPr spcFirstLastPara="1" vert="horz" wrap="square" lIns="91425" tIns="45700" rIns="91425" bIns="45700" rtlCol="0"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00000000-1234-1234-1234-123412341234}" type="slidenum">
              <a:rPr lang="en-IN">
                <a:solidFill>
                  <a:srgbClr val="FF0000"/>
                </a:solidFill>
                <a:latin typeface="Proxima Nova"/>
                <a:ea typeface="Proxima Nova"/>
                <a:cs typeface="Proxima Nova"/>
                <a:sym typeface="Proxima Nova"/>
              </a:rPr>
              <a:pPr/>
              <a:t>70</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7084752" y="101738"/>
            <a:ext cx="1544050" cy="1544050"/>
          </a:xfrm>
          <a:prstGeom prst="rect">
            <a:avLst/>
          </a:prstGeom>
          <a:noFill/>
          <a:ln>
            <a:noFill/>
          </a:ln>
        </p:spPr>
      </p:pic>
      <p:pic>
        <p:nvPicPr>
          <p:cNvPr id="7" name="Picture 6">
            <a:extLst>
              <a:ext uri="{FF2B5EF4-FFF2-40B4-BE49-F238E27FC236}">
                <a16:creationId xmlns:a16="http://schemas.microsoft.com/office/drawing/2014/main" id="{8343D47F-0850-4C54-ECA1-347E58687108}"/>
              </a:ext>
            </a:extLst>
          </p:cNvPr>
          <p:cNvPicPr>
            <a:picLocks noChangeAspect="1"/>
          </p:cNvPicPr>
          <p:nvPr/>
        </p:nvPicPr>
        <p:blipFill rotWithShape="1">
          <a:blip r:embed="rId4"/>
          <a:srcRect l="25725" t="37867" r="34750" b="40666"/>
          <a:stretch/>
        </p:blipFill>
        <p:spPr>
          <a:xfrm>
            <a:off x="781813" y="532238"/>
            <a:ext cx="2628515" cy="803019"/>
          </a:xfrm>
          <a:prstGeom prst="rect">
            <a:avLst/>
          </a:prstGeom>
        </p:spPr>
      </p:pic>
    </p:spTree>
    <p:extLst>
      <p:ext uri="{BB962C8B-B14F-4D97-AF65-F5344CB8AC3E}">
        <p14:creationId xmlns:p14="http://schemas.microsoft.com/office/powerpoint/2010/main" val="12805988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71</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35;p4">
            <a:extLst>
              <a:ext uri="{FF2B5EF4-FFF2-40B4-BE49-F238E27FC236}">
                <a16:creationId xmlns:a16="http://schemas.microsoft.com/office/drawing/2014/main" id="{7B6968E5-4ABC-CF75-7812-4383DD23AC66}"/>
              </a:ext>
            </a:extLst>
          </p:cNvPr>
          <p:cNvSpPr txBox="1"/>
          <p:nvPr/>
        </p:nvSpPr>
        <p:spPr>
          <a:xfrm>
            <a:off x="2501100" y="1300076"/>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1905" dirty="0">
                <a:solidFill>
                  <a:schemeClr val="tx1"/>
                </a:solidFill>
                <a:latin typeface="Proxima Nova"/>
                <a:ea typeface="Proxima Nova"/>
                <a:cs typeface="Proxima Nova"/>
                <a:sym typeface="Proxima Nova"/>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O</a:t>
            </a:r>
            <a:r>
              <a:rPr lang="en-IN" sz="1905" b="0" i="0" u="none" strike="noStrike" cap="none" dirty="0">
                <a:solidFill>
                  <a:schemeClr val="tx1"/>
                </a:solidFill>
                <a:latin typeface="Proxima Nova"/>
                <a:ea typeface="Proxima Nova"/>
                <a:cs typeface="Proxima Nova"/>
                <a:sym typeface="Proxima Nova"/>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verview</a:t>
            </a:r>
            <a:endParaRPr sz="1905" b="0" i="0" u="none" strike="noStrike" cap="none" dirty="0">
              <a:solidFill>
                <a:schemeClr val="tx1"/>
              </a:solidFill>
              <a:latin typeface="Proxima Nova"/>
              <a:ea typeface="Proxima Nova"/>
              <a:cs typeface="Proxima Nova"/>
              <a:sym typeface="Proxima Nova"/>
            </a:endParaRPr>
          </a:p>
        </p:txBody>
      </p:sp>
      <p:sp>
        <p:nvSpPr>
          <p:cNvPr id="10" name="Google Shape;636;p4">
            <a:extLst>
              <a:ext uri="{FF2B5EF4-FFF2-40B4-BE49-F238E27FC236}">
                <a16:creationId xmlns:a16="http://schemas.microsoft.com/office/drawing/2014/main" id="{92B88242-103D-B3A3-BDD9-952543158D2B}"/>
              </a:ext>
            </a:extLst>
          </p:cNvPr>
          <p:cNvSpPr txBox="1"/>
          <p:nvPr/>
        </p:nvSpPr>
        <p:spPr>
          <a:xfrm>
            <a:off x="1540243" y="1776516"/>
            <a:ext cx="6043275" cy="2008220"/>
          </a:xfrm>
          <a:prstGeom prst="rect">
            <a:avLst/>
          </a:prstGeom>
          <a:noFill/>
          <a:ln>
            <a:noFill/>
          </a:ln>
        </p:spPr>
        <p:txBody>
          <a:bodyPr spcFirstLastPara="1" wrap="square" lIns="68569" tIns="68569" rIns="68569" bIns="68569" anchor="t"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4313" indent="-214313">
              <a:buFont typeface="Arial" panose="020B0604020202020204" pitchFamily="34" charset="0"/>
              <a:buChar char="•"/>
            </a:pPr>
            <a:r>
              <a:rPr lang="en-US" sz="1350" dirty="0">
                <a:latin typeface="Proxima Nova"/>
              </a:rPr>
              <a:t>AWS Inspector is a vulnerability scanning service by AWS that is used to scan your EC2 instances, container images, and Lambda functions.</a:t>
            </a:r>
          </a:p>
          <a:p>
            <a:pPr marL="214313" indent="-214313">
              <a:buFont typeface="Arial" panose="020B0604020202020204" pitchFamily="34" charset="0"/>
              <a:buChar char="•"/>
            </a:pPr>
            <a:r>
              <a:rPr lang="en-US" sz="1350" dirty="0">
                <a:latin typeface="Proxima Nova"/>
              </a:rPr>
              <a:t> Its findings will report vulnerabilities known as CVE’s (Common Vulnerabilities and Exposure) which are computer security flaws that are made public with the intention of bringing awareness and transparency.</a:t>
            </a:r>
          </a:p>
          <a:p>
            <a:pPr marL="214313" indent="-214313">
              <a:buFont typeface="Arial" panose="020B0604020202020204" pitchFamily="34" charset="0"/>
              <a:buChar char="•"/>
            </a:pPr>
            <a:r>
              <a:rPr lang="en-US" sz="1350" dirty="0">
                <a:latin typeface="Proxima Nova"/>
              </a:rPr>
              <a:t>If your AWS environment has multiple accounts, you can centrally manage your environment through a single account by using AWS Organizations. Using this approach, you can designate an account as the delegated administrator account for Amazon Inspector.</a:t>
            </a:r>
          </a:p>
        </p:txBody>
      </p:sp>
    </p:spTree>
    <p:extLst>
      <p:ext uri="{BB962C8B-B14F-4D97-AF65-F5344CB8AC3E}">
        <p14:creationId xmlns:p14="http://schemas.microsoft.com/office/powerpoint/2010/main" val="21466500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72</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43;p5">
            <a:extLst>
              <a:ext uri="{FF2B5EF4-FFF2-40B4-BE49-F238E27FC236}">
                <a16:creationId xmlns:a16="http://schemas.microsoft.com/office/drawing/2014/main" id="{2C76BB65-9873-7F7D-88BE-23E4B025E0E7}"/>
              </a:ext>
            </a:extLst>
          </p:cNvPr>
          <p:cNvSpPr txBox="1"/>
          <p:nvPr/>
        </p:nvSpPr>
        <p:spPr>
          <a:xfrm>
            <a:off x="1550363" y="2088427"/>
            <a:ext cx="6043275" cy="2423718"/>
          </a:xfrm>
          <a:prstGeom prst="rect">
            <a:avLst/>
          </a:prstGeom>
          <a:noFill/>
          <a:ln>
            <a:noFill/>
          </a:ln>
        </p:spPr>
        <p:txBody>
          <a:bodyPr spcFirstLastPara="1" wrap="square" lIns="68569" tIns="68569" rIns="68569" bIns="68569" anchor="t"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4313" indent="-214313">
              <a:buFont typeface="Arial" panose="020B0604020202020204" pitchFamily="34" charset="0"/>
              <a:buChar char="•"/>
            </a:pPr>
            <a:r>
              <a:rPr lang="en-US" sz="1350" dirty="0">
                <a:latin typeface="Proxima Nova"/>
              </a:rPr>
              <a:t>The US Government maintains a database of vulnerabilities with data such as risk score, product name, references, remediation and more. This database is known as the National Vulnerability Database(NVD) and is the source for many companies when trying to understand the impact of each vulnerability. Amazon Inspector uses the NVD score in many of its vulnerabilities.</a:t>
            </a:r>
          </a:p>
          <a:p>
            <a:pPr marL="214313" indent="-214313">
              <a:buFont typeface="Arial" panose="020B0604020202020204" pitchFamily="34" charset="0"/>
              <a:buChar char="•"/>
            </a:pPr>
            <a:r>
              <a:rPr lang="en-US" sz="1350" dirty="0">
                <a:latin typeface="Proxima Nova"/>
              </a:rPr>
              <a:t>A CVE naming convention will normally start with CVE followed by the year the vulnerability was discovered and then followed by a unique order number. Additionally, a profile of the vulnerability such as the severity, and in some cases how to “remediate” is updated frequently to keep users informed.</a:t>
            </a:r>
          </a:p>
        </p:txBody>
      </p:sp>
      <p:sp>
        <p:nvSpPr>
          <p:cNvPr id="10" name="Google Shape;644;p5">
            <a:extLst>
              <a:ext uri="{FF2B5EF4-FFF2-40B4-BE49-F238E27FC236}">
                <a16:creationId xmlns:a16="http://schemas.microsoft.com/office/drawing/2014/main" id="{D32A1FEC-83AF-38B4-C045-F28798C0D064}"/>
              </a:ext>
            </a:extLst>
          </p:cNvPr>
          <p:cNvSpPr txBox="1"/>
          <p:nvPr/>
        </p:nvSpPr>
        <p:spPr>
          <a:xfrm>
            <a:off x="2501100" y="1403700"/>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2100" b="1" i="0">
                <a:solidFill>
                  <a:srgbClr val="333333"/>
                </a:solidFill>
                <a:effectLst/>
                <a:latin typeface="Proxima Nova"/>
              </a:rPr>
              <a:t>CVE</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2337400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73</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50;p6">
            <a:extLst>
              <a:ext uri="{FF2B5EF4-FFF2-40B4-BE49-F238E27FC236}">
                <a16:creationId xmlns:a16="http://schemas.microsoft.com/office/drawing/2014/main" id="{56B59548-DA06-E389-7BED-7C1633EF5872}"/>
              </a:ext>
            </a:extLst>
          </p:cNvPr>
          <p:cNvSpPr txBox="1"/>
          <p:nvPr/>
        </p:nvSpPr>
        <p:spPr>
          <a:xfrm>
            <a:off x="2501100" y="1242497"/>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latin typeface="Proxima Nova"/>
              </a:rPr>
              <a:t>Scan types</a:t>
            </a:r>
            <a:endParaRPr sz="2100" b="0" i="0" u="none" strike="noStrike" cap="none" dirty="0">
              <a:solidFill>
                <a:schemeClr val="tx1"/>
              </a:solidFill>
              <a:latin typeface="Proxima Nova"/>
              <a:ea typeface="Proxima Nova"/>
              <a:cs typeface="Proxima Nova"/>
              <a:sym typeface="Proxima Nova"/>
            </a:endParaRPr>
          </a:p>
        </p:txBody>
      </p:sp>
      <p:sp>
        <p:nvSpPr>
          <p:cNvPr id="10" name="Google Shape;651;p6">
            <a:extLst>
              <a:ext uri="{FF2B5EF4-FFF2-40B4-BE49-F238E27FC236}">
                <a16:creationId xmlns:a16="http://schemas.microsoft.com/office/drawing/2014/main" id="{FE958133-4A7F-1C17-00C2-AE78960C15FB}"/>
              </a:ext>
            </a:extLst>
          </p:cNvPr>
          <p:cNvSpPr txBox="1"/>
          <p:nvPr/>
        </p:nvSpPr>
        <p:spPr>
          <a:xfrm>
            <a:off x="888484" y="1691244"/>
            <a:ext cx="7367033" cy="1592721"/>
          </a:xfrm>
          <a:prstGeom prst="rect">
            <a:avLst/>
          </a:prstGeom>
          <a:noFill/>
          <a:ln>
            <a:noFill/>
          </a:ln>
        </p:spPr>
        <p:txBody>
          <a:bodyPr spcFirstLastPara="1" wrap="square" lIns="68569" tIns="68569" rIns="68569" bIns="68569" anchor="t" anchorCtr="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1350" b="1" dirty="0">
                <a:latin typeface="Proxima Nova"/>
              </a:rPr>
              <a:t>Amazon EC2 scanning: </a:t>
            </a:r>
            <a:r>
              <a:rPr lang="en-US" sz="1350" dirty="0">
                <a:latin typeface="Proxima Nova"/>
              </a:rPr>
              <a:t>This scan type extracts metadata from your EC2 instance before comparing the metadata against rules collected from security advisories. When you activate this scan type, Amazon Inspector scans all eligible instances in your account for package vulnerabilities and network reachability issues.</a:t>
            </a:r>
          </a:p>
          <a:p>
            <a:pPr marL="342900" indent="-342900">
              <a:buFont typeface="Arial" panose="020B0604020202020204" pitchFamily="34" charset="0"/>
              <a:buChar char="•"/>
            </a:pPr>
            <a:r>
              <a:rPr lang="en-US" sz="1350" b="1" dirty="0">
                <a:latin typeface="Proxima Nova"/>
              </a:rPr>
              <a:t>Amazon ECR scanning:</a:t>
            </a:r>
            <a:r>
              <a:rPr lang="en-US" sz="1350" dirty="0">
                <a:latin typeface="Proxima Nova"/>
              </a:rPr>
              <a:t> This scan type scans container images in Amazon ECR. When you activate this scan type, you change the scanning configuration setting for your private registry from basic scanning to enhanced scanning</a:t>
            </a:r>
          </a:p>
        </p:txBody>
      </p:sp>
    </p:spTree>
    <p:extLst>
      <p:ext uri="{BB962C8B-B14F-4D97-AF65-F5344CB8AC3E}">
        <p14:creationId xmlns:p14="http://schemas.microsoft.com/office/powerpoint/2010/main" val="7445658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9BD23-E9E9-374E-1471-45CC86641E26}"/>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108BB2BB-2DD4-F173-EF85-7AD67A05869B}"/>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74</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5897A69B-417C-17C1-5A64-8ADCADA3C9AB}"/>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677C27D2-5CC0-B8A8-DD1A-BF3CDECBF037}"/>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0EE60351-9B96-B3BB-945C-5C7B1B7E3B42}"/>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609B7C6E-DEFC-2F39-CD82-753088738FB1}"/>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45D0C9A0-F65E-75A4-DD92-A79B617D4FF8}"/>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3E4180D3-1D4E-3290-DA08-5B7F9C481963}"/>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50;p6">
            <a:extLst>
              <a:ext uri="{FF2B5EF4-FFF2-40B4-BE49-F238E27FC236}">
                <a16:creationId xmlns:a16="http://schemas.microsoft.com/office/drawing/2014/main" id="{C96EBC04-7F88-6CAD-119C-F1F98CEEA5FF}"/>
              </a:ext>
            </a:extLst>
          </p:cNvPr>
          <p:cNvSpPr txBox="1"/>
          <p:nvPr/>
        </p:nvSpPr>
        <p:spPr>
          <a:xfrm>
            <a:off x="2442107" y="2134774"/>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latin typeface="Proxima Nova"/>
              </a:rPr>
              <a:t>Demo: AWS Inspector Dashboard</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26970271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75</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10" name="Google Shape;659;p7">
            <a:extLst>
              <a:ext uri="{FF2B5EF4-FFF2-40B4-BE49-F238E27FC236}">
                <a16:creationId xmlns:a16="http://schemas.microsoft.com/office/drawing/2014/main" id="{65837087-8249-DAAA-A682-F4078172F7B3}"/>
              </a:ext>
            </a:extLst>
          </p:cNvPr>
          <p:cNvSpPr txBox="1"/>
          <p:nvPr/>
        </p:nvSpPr>
        <p:spPr>
          <a:xfrm>
            <a:off x="2501100" y="1215341"/>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t>EC2 Scan</a:t>
            </a:r>
            <a:endParaRPr sz="2100" b="0" i="0" u="none" strike="noStrike" cap="none" dirty="0">
              <a:solidFill>
                <a:schemeClr val="tx1"/>
              </a:solidFill>
              <a:latin typeface="Proxima Nova"/>
              <a:ea typeface="Proxima Nova"/>
              <a:cs typeface="Proxima Nova"/>
              <a:sym typeface="Proxima Nova"/>
            </a:endParaRPr>
          </a:p>
        </p:txBody>
      </p:sp>
      <p:pic>
        <p:nvPicPr>
          <p:cNvPr id="11" name="Content Placeholder 4">
            <a:extLst>
              <a:ext uri="{FF2B5EF4-FFF2-40B4-BE49-F238E27FC236}">
                <a16:creationId xmlns:a16="http://schemas.microsoft.com/office/drawing/2014/main" id="{7C0AB6D8-612E-2A6D-2AF0-F9E08AF46802}"/>
              </a:ext>
            </a:extLst>
          </p:cNvPr>
          <p:cNvPicPr>
            <a:picLocks noChangeAspect="1"/>
          </p:cNvPicPr>
          <p:nvPr/>
        </p:nvPicPr>
        <p:blipFill>
          <a:blip r:embed="rId6"/>
          <a:stretch>
            <a:fillRect/>
          </a:stretch>
        </p:blipFill>
        <p:spPr>
          <a:xfrm>
            <a:off x="1885950" y="1520258"/>
            <a:ext cx="5134947" cy="2587229"/>
          </a:xfrm>
          <a:prstGeom prst="rect">
            <a:avLst/>
          </a:prstGeom>
        </p:spPr>
      </p:pic>
    </p:spTree>
    <p:extLst>
      <p:ext uri="{BB962C8B-B14F-4D97-AF65-F5344CB8AC3E}">
        <p14:creationId xmlns:p14="http://schemas.microsoft.com/office/powerpoint/2010/main" val="9767270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76</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66;p8">
            <a:extLst>
              <a:ext uri="{FF2B5EF4-FFF2-40B4-BE49-F238E27FC236}">
                <a16:creationId xmlns:a16="http://schemas.microsoft.com/office/drawing/2014/main" id="{57E1CC3C-E400-779D-AA34-F205DEA84AEC}"/>
              </a:ext>
            </a:extLst>
          </p:cNvPr>
          <p:cNvSpPr txBox="1"/>
          <p:nvPr/>
        </p:nvSpPr>
        <p:spPr>
          <a:xfrm>
            <a:off x="2501100" y="1343897"/>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2100"/>
              <a:t>EC2 Scan</a:t>
            </a:r>
            <a:endParaRPr lang="en-IN" sz="2100" dirty="0"/>
          </a:p>
        </p:txBody>
      </p:sp>
      <p:sp>
        <p:nvSpPr>
          <p:cNvPr id="10" name="Google Shape;669;p8">
            <a:extLst>
              <a:ext uri="{FF2B5EF4-FFF2-40B4-BE49-F238E27FC236}">
                <a16:creationId xmlns:a16="http://schemas.microsoft.com/office/drawing/2014/main" id="{0D67D7D4-F15A-8A7C-0A02-C9D707725988}"/>
              </a:ext>
            </a:extLst>
          </p:cNvPr>
          <p:cNvSpPr txBox="1"/>
          <p:nvPr/>
        </p:nvSpPr>
        <p:spPr>
          <a:xfrm>
            <a:off x="1503225" y="1847201"/>
            <a:ext cx="6137550" cy="2426948"/>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4313" indent="-214313">
              <a:buFont typeface="Arial" panose="020B0604020202020204" pitchFamily="34" charset="0"/>
              <a:buChar char="•"/>
            </a:pPr>
            <a:r>
              <a:rPr lang="en-US" sz="1350" dirty="0">
                <a:latin typeface="Proxima Nova"/>
              </a:rPr>
              <a:t>At a high level, AWS Inspector is dependent on an agent to be installed in the EC2 instance that will be used to scan and report the security findings. </a:t>
            </a:r>
          </a:p>
          <a:p>
            <a:pPr marL="214313" indent="-214313">
              <a:buFont typeface="Arial" panose="020B0604020202020204" pitchFamily="34" charset="0"/>
              <a:buChar char="•"/>
            </a:pPr>
            <a:r>
              <a:rPr lang="en-US" sz="1350" dirty="0">
                <a:latin typeface="Proxima Nova"/>
              </a:rPr>
              <a:t>Additionally, the EC2 will need a role that grants SSM to reach the EC2 instance. </a:t>
            </a:r>
          </a:p>
          <a:p>
            <a:pPr marL="214313" indent="-214313">
              <a:buFont typeface="Arial" panose="020B0604020202020204" pitchFamily="34" charset="0"/>
              <a:buChar char="•"/>
            </a:pPr>
            <a:r>
              <a:rPr lang="en-US" sz="1350" dirty="0">
                <a:latin typeface="Proxima Nova"/>
              </a:rPr>
              <a:t>AWS Inspector uses the SSM agent to connect to the instance</a:t>
            </a:r>
          </a:p>
          <a:p>
            <a:pPr marL="214313" indent="-214313">
              <a:buFont typeface="Arial" panose="020B0604020202020204" pitchFamily="34" charset="0"/>
              <a:buChar char="•"/>
            </a:pPr>
            <a:r>
              <a:rPr lang="en-US" sz="1350" dirty="0">
                <a:latin typeface="Proxima Nova"/>
              </a:rPr>
              <a:t>AWS Inspector can be supported at the organizational level and scan all accounts in the organization; however, the scope of this blog will be a single account.</a:t>
            </a:r>
          </a:p>
        </p:txBody>
      </p:sp>
    </p:spTree>
    <p:extLst>
      <p:ext uri="{BB962C8B-B14F-4D97-AF65-F5344CB8AC3E}">
        <p14:creationId xmlns:p14="http://schemas.microsoft.com/office/powerpoint/2010/main" val="19065909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50684-8F8E-D6F0-EB24-2F0A83882DA3}"/>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7B533251-EADB-2BFE-71CD-1178FBCE75F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77</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308176B8-0555-3D53-AC6B-442347889774}"/>
              </a:ext>
            </a:extLst>
          </p:cNvPr>
          <p:cNvPicPr preferRelativeResize="0"/>
          <p:nvPr/>
        </p:nvPicPr>
        <p:blipFill>
          <a:blip r:embed="rId3">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1D0B2047-163C-F7F0-32C0-348B4D85B7C9}"/>
              </a:ext>
            </a:extLst>
          </p:cNvPr>
          <p:cNvPicPr>
            <a:picLocks noChangeAspect="1"/>
          </p:cNvPicPr>
          <p:nvPr/>
        </p:nvPicPr>
        <p:blipFill>
          <a:blip r:embed="rId4"/>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38152495-50FD-4139-9133-AB2FA0364D98}"/>
              </a:ext>
            </a:extLst>
          </p:cNvPr>
          <p:cNvPicPr>
            <a:picLocks noChangeAspect="1"/>
          </p:cNvPicPr>
          <p:nvPr/>
        </p:nvPicPr>
        <p:blipFill>
          <a:blip r:embed="rId5"/>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8E14D24D-BC19-1E6D-EA70-D47A370A86E2}"/>
              </a:ext>
            </a:extLst>
          </p:cNvPr>
          <p:cNvPicPr>
            <a:picLocks noChangeAspect="1"/>
          </p:cNvPicPr>
          <p:nvPr/>
        </p:nvPicPr>
        <p:blipFill>
          <a:blip r:embed="rId6"/>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EFB06C67-A8B7-0259-A3F1-8051470C9FBE}"/>
              </a:ext>
            </a:extLst>
          </p:cNvPr>
          <p:cNvPicPr>
            <a:picLocks noChangeAspect="1"/>
          </p:cNvPicPr>
          <p:nvPr/>
        </p:nvPicPr>
        <p:blipFill>
          <a:blip r:embed="rId5">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48022C63-5505-5EE1-49BC-154DADA6133B}"/>
              </a:ext>
            </a:extLst>
          </p:cNvPr>
          <p:cNvPicPr>
            <a:picLocks noChangeAspect="1"/>
          </p:cNvPicPr>
          <p:nvPr/>
        </p:nvPicPr>
        <p:blipFill>
          <a:blip r:embed="rId6">
            <a:alphaModFix amt="27000"/>
          </a:blip>
          <a:stretch>
            <a:fillRect/>
          </a:stretch>
        </p:blipFill>
        <p:spPr>
          <a:xfrm rot="10800000">
            <a:off x="6603" y="4777454"/>
            <a:ext cx="277829" cy="351453"/>
          </a:xfrm>
          <a:prstGeom prst="rect">
            <a:avLst/>
          </a:prstGeom>
        </p:spPr>
      </p:pic>
      <p:sp>
        <p:nvSpPr>
          <p:cNvPr id="9" name="Google Shape;650;p6">
            <a:extLst>
              <a:ext uri="{FF2B5EF4-FFF2-40B4-BE49-F238E27FC236}">
                <a16:creationId xmlns:a16="http://schemas.microsoft.com/office/drawing/2014/main" id="{AA923153-41A3-9343-33F8-49A463F2BF39}"/>
              </a:ext>
            </a:extLst>
          </p:cNvPr>
          <p:cNvSpPr txBox="1"/>
          <p:nvPr/>
        </p:nvSpPr>
        <p:spPr>
          <a:xfrm>
            <a:off x="2442107" y="2134774"/>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latin typeface="Proxima Nova"/>
              </a:rPr>
              <a:t>Demo: EC2 Instance Scanning</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28347684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71869-B6ED-82C5-2272-19A839A918D7}"/>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8CA6DDDB-B763-D849-A07A-977561249111}"/>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78</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262CF38-8470-5AF6-D282-44361E7E4AF0}"/>
              </a:ext>
            </a:extLst>
          </p:cNvPr>
          <p:cNvPicPr preferRelativeResize="0"/>
          <p:nvPr/>
        </p:nvPicPr>
        <p:blipFill>
          <a:blip r:embed="rId3">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FDBD6E5D-08F2-6E54-EA72-5DDF408AEEE9}"/>
              </a:ext>
            </a:extLst>
          </p:cNvPr>
          <p:cNvPicPr>
            <a:picLocks noChangeAspect="1"/>
          </p:cNvPicPr>
          <p:nvPr/>
        </p:nvPicPr>
        <p:blipFill>
          <a:blip r:embed="rId4"/>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78C54F0A-83C5-F04D-6283-B3C2595460C7}"/>
              </a:ext>
            </a:extLst>
          </p:cNvPr>
          <p:cNvPicPr>
            <a:picLocks noChangeAspect="1"/>
          </p:cNvPicPr>
          <p:nvPr/>
        </p:nvPicPr>
        <p:blipFill>
          <a:blip r:embed="rId5"/>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963769B3-EDA9-AED7-9E9B-6A8D01BD6E27}"/>
              </a:ext>
            </a:extLst>
          </p:cNvPr>
          <p:cNvPicPr>
            <a:picLocks noChangeAspect="1"/>
          </p:cNvPicPr>
          <p:nvPr/>
        </p:nvPicPr>
        <p:blipFill>
          <a:blip r:embed="rId6"/>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93481CD-28BA-2DAE-8223-B1F8DE9631E7}"/>
              </a:ext>
            </a:extLst>
          </p:cNvPr>
          <p:cNvPicPr>
            <a:picLocks noChangeAspect="1"/>
          </p:cNvPicPr>
          <p:nvPr/>
        </p:nvPicPr>
        <p:blipFill>
          <a:blip r:embed="rId5">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D961FDA9-D31F-C42C-0166-052890D5B76D}"/>
              </a:ext>
            </a:extLst>
          </p:cNvPr>
          <p:cNvPicPr>
            <a:picLocks noChangeAspect="1"/>
          </p:cNvPicPr>
          <p:nvPr/>
        </p:nvPicPr>
        <p:blipFill>
          <a:blip r:embed="rId6">
            <a:alphaModFix amt="27000"/>
          </a:blip>
          <a:stretch>
            <a:fillRect/>
          </a:stretch>
        </p:blipFill>
        <p:spPr>
          <a:xfrm rot="10800000">
            <a:off x="6603" y="4777454"/>
            <a:ext cx="277829" cy="351453"/>
          </a:xfrm>
          <a:prstGeom prst="rect">
            <a:avLst/>
          </a:prstGeom>
        </p:spPr>
      </p:pic>
      <p:sp>
        <p:nvSpPr>
          <p:cNvPr id="9" name="Google Shape;650;p6">
            <a:extLst>
              <a:ext uri="{FF2B5EF4-FFF2-40B4-BE49-F238E27FC236}">
                <a16:creationId xmlns:a16="http://schemas.microsoft.com/office/drawing/2014/main" id="{F5D7938C-0828-268C-5851-C405EA72D2C7}"/>
              </a:ext>
            </a:extLst>
          </p:cNvPr>
          <p:cNvSpPr txBox="1"/>
          <p:nvPr/>
        </p:nvSpPr>
        <p:spPr>
          <a:xfrm>
            <a:off x="2442107" y="2134774"/>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latin typeface="Proxima Nova"/>
              </a:rPr>
              <a:t>Hands-On: Activating Inspector</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19847568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79</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74;p9">
            <a:extLst>
              <a:ext uri="{FF2B5EF4-FFF2-40B4-BE49-F238E27FC236}">
                <a16:creationId xmlns:a16="http://schemas.microsoft.com/office/drawing/2014/main" id="{D119D70E-A34F-6AA7-86DD-2185B55E2A8B}"/>
              </a:ext>
            </a:extLst>
          </p:cNvPr>
          <p:cNvSpPr txBox="1"/>
          <p:nvPr/>
        </p:nvSpPr>
        <p:spPr>
          <a:xfrm>
            <a:off x="1503225" y="1865644"/>
            <a:ext cx="6137550" cy="1926407"/>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4313" indent="-214313">
              <a:buFont typeface="Arial" panose="020B0604020202020204" pitchFamily="34" charset="0"/>
              <a:buChar char="•"/>
            </a:pPr>
            <a:r>
              <a:rPr lang="en-US" sz="1350" dirty="0">
                <a:latin typeface="Proxima Nova"/>
              </a:rPr>
              <a:t>A three-tier application consists of three layers: </a:t>
            </a:r>
          </a:p>
          <a:p>
            <a:pPr marL="557213" lvl="1" indent="-214313">
              <a:buFont typeface="Arial" panose="020B0604020202020204" pitchFamily="34" charset="0"/>
              <a:buChar char="•"/>
            </a:pPr>
            <a:r>
              <a:rPr lang="en-US" sz="1350" dirty="0">
                <a:latin typeface="Proxima Nova"/>
              </a:rPr>
              <a:t>presentation (web server) </a:t>
            </a:r>
          </a:p>
          <a:p>
            <a:pPr marL="557213" lvl="1" indent="-214313">
              <a:buFont typeface="Arial" panose="020B0604020202020204" pitchFamily="34" charset="0"/>
              <a:buChar char="•"/>
            </a:pPr>
            <a:r>
              <a:rPr lang="en-US" sz="1350" dirty="0">
                <a:latin typeface="Proxima Nova"/>
              </a:rPr>
              <a:t>application (business logic) </a:t>
            </a:r>
          </a:p>
          <a:p>
            <a:pPr marL="557213" lvl="1" indent="-214313">
              <a:buFont typeface="Arial" panose="020B0604020202020204" pitchFamily="34" charset="0"/>
              <a:buChar char="•"/>
            </a:pPr>
            <a:r>
              <a:rPr lang="en-US" sz="1350" dirty="0">
                <a:latin typeface="Proxima Nova"/>
              </a:rPr>
              <a:t>database (data storage)</a:t>
            </a:r>
          </a:p>
          <a:p>
            <a:pPr marL="214313" indent="-214313">
              <a:buFont typeface="Arial" panose="020B0604020202020204" pitchFamily="34" charset="0"/>
              <a:buChar char="•"/>
            </a:pPr>
            <a:r>
              <a:rPr lang="en-US" sz="1350" dirty="0">
                <a:latin typeface="Proxima Nova"/>
              </a:rPr>
              <a:t>AWS Inspector can play a critical role in monitoring the web server tier for vulnerabilities and misconfigurations. Here's an example scenario:</a:t>
            </a:r>
          </a:p>
        </p:txBody>
      </p:sp>
      <p:sp>
        <p:nvSpPr>
          <p:cNvPr id="10" name="Google Shape;676;p9">
            <a:extLst>
              <a:ext uri="{FF2B5EF4-FFF2-40B4-BE49-F238E27FC236}">
                <a16:creationId xmlns:a16="http://schemas.microsoft.com/office/drawing/2014/main" id="{8D8F656A-2BC9-136D-C6E0-F24F4DC04371}"/>
              </a:ext>
            </a:extLst>
          </p:cNvPr>
          <p:cNvSpPr txBox="1"/>
          <p:nvPr/>
        </p:nvSpPr>
        <p:spPr>
          <a:xfrm>
            <a:off x="2501100" y="117037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2100" dirty="0"/>
              <a:t>Use Cases	</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40105457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7211E-4706-77DE-781E-0D78C227A0FA}"/>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89F2AA93-1EE4-7FDD-1B45-9699FDDA35F4}"/>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80</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9D7065A-C8D6-6E5E-CBE5-DB43F0EF2A74}"/>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47C0FF4A-A00E-C555-BF11-E92F203A0CE7}"/>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8DB8B24D-1D13-BF6E-3A59-56BFBBAA849C}"/>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7816DA45-93AF-08F9-1A6E-AE54F9376F03}"/>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54F71D07-6DB4-438E-A2CB-673620DC5144}"/>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C41E7662-E4BC-7D05-6B7F-99E4E87D2B35}"/>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74;p9">
            <a:extLst>
              <a:ext uri="{FF2B5EF4-FFF2-40B4-BE49-F238E27FC236}">
                <a16:creationId xmlns:a16="http://schemas.microsoft.com/office/drawing/2014/main" id="{121A8F24-9C37-31C8-C8C2-407D12F2E9EE}"/>
              </a:ext>
            </a:extLst>
          </p:cNvPr>
          <p:cNvSpPr txBox="1"/>
          <p:nvPr/>
        </p:nvSpPr>
        <p:spPr>
          <a:xfrm>
            <a:off x="1503225" y="1865644"/>
            <a:ext cx="6137550" cy="1926407"/>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4313" indent="-214313">
              <a:buFont typeface="Arial" panose="020B0604020202020204" pitchFamily="34" charset="0"/>
              <a:buChar char="•"/>
            </a:pPr>
            <a:r>
              <a:rPr lang="en-US" sz="1350" dirty="0">
                <a:latin typeface="Proxima Nova"/>
              </a:rPr>
              <a:t>Presentation Layer (Web Server):</a:t>
            </a:r>
          </a:p>
          <a:p>
            <a:pPr marL="557213" lvl="1" indent="-214313">
              <a:buFont typeface="Arial" panose="020B0604020202020204" pitchFamily="34" charset="0"/>
              <a:buChar char="•"/>
            </a:pPr>
            <a:r>
              <a:rPr lang="en-US" sz="1350" dirty="0">
                <a:latin typeface="Proxima Nova"/>
              </a:rPr>
              <a:t>Amazon EC2 instances running NGINX or Apache as the web server.</a:t>
            </a:r>
          </a:p>
          <a:p>
            <a:pPr marL="557213" lvl="1" indent="-214313">
              <a:buFont typeface="Arial" panose="020B0604020202020204" pitchFamily="34" charset="0"/>
              <a:buChar char="•"/>
            </a:pPr>
            <a:r>
              <a:rPr lang="en-US" sz="1350" dirty="0">
                <a:latin typeface="Proxima Nova"/>
              </a:rPr>
              <a:t>Serves static and dynamic content to end users.</a:t>
            </a:r>
          </a:p>
          <a:p>
            <a:pPr marL="214313" indent="-214313">
              <a:buFont typeface="Arial" panose="020B0604020202020204" pitchFamily="34" charset="0"/>
              <a:buChar char="•"/>
            </a:pPr>
            <a:r>
              <a:rPr lang="en-US" sz="1350" dirty="0">
                <a:latin typeface="Proxima Nova"/>
              </a:rPr>
              <a:t>Application Layer:</a:t>
            </a:r>
          </a:p>
          <a:p>
            <a:pPr marL="557213" lvl="1" indent="-214313">
              <a:buFont typeface="Arial" panose="020B0604020202020204" pitchFamily="34" charset="0"/>
              <a:buChar char="•"/>
            </a:pPr>
            <a:r>
              <a:rPr lang="en-US" sz="1350" dirty="0">
                <a:latin typeface="Proxima Nova"/>
              </a:rPr>
              <a:t>EC2 instances or containerized microservices running application logic.</a:t>
            </a:r>
          </a:p>
          <a:p>
            <a:pPr marL="557213" lvl="1" indent="-214313">
              <a:buFont typeface="Arial" panose="020B0604020202020204" pitchFamily="34" charset="0"/>
              <a:buChar char="•"/>
            </a:pPr>
            <a:r>
              <a:rPr lang="en-US" sz="1350" dirty="0">
                <a:latin typeface="Proxima Nova"/>
              </a:rPr>
              <a:t>Interacts with the database and processes business logic.</a:t>
            </a:r>
          </a:p>
          <a:p>
            <a:pPr marL="214313" indent="-214313">
              <a:buFont typeface="Arial" panose="020B0604020202020204" pitchFamily="34" charset="0"/>
              <a:buChar char="•"/>
            </a:pPr>
            <a:r>
              <a:rPr lang="en-US" sz="1350" dirty="0">
                <a:latin typeface="Proxima Nova"/>
              </a:rPr>
              <a:t>Database Layer:</a:t>
            </a:r>
          </a:p>
          <a:p>
            <a:pPr marL="557213" lvl="1" indent="-214313">
              <a:buFont typeface="Arial" panose="020B0604020202020204" pitchFamily="34" charset="0"/>
              <a:buChar char="•"/>
            </a:pPr>
            <a:r>
              <a:rPr lang="en-US" sz="1350" dirty="0">
                <a:latin typeface="Proxima Nova"/>
              </a:rPr>
              <a:t>Amazon RDS or self-managed database on EC2 instances.</a:t>
            </a:r>
          </a:p>
          <a:p>
            <a:pPr marL="557213" lvl="1" indent="-214313">
              <a:buFont typeface="Arial" panose="020B0604020202020204" pitchFamily="34" charset="0"/>
              <a:buChar char="•"/>
            </a:pPr>
            <a:r>
              <a:rPr lang="en-US" sz="1350" dirty="0">
                <a:latin typeface="Proxima Nova"/>
              </a:rPr>
              <a:t>Stores application data securely.</a:t>
            </a:r>
          </a:p>
        </p:txBody>
      </p:sp>
      <p:sp>
        <p:nvSpPr>
          <p:cNvPr id="10" name="Google Shape;676;p9">
            <a:extLst>
              <a:ext uri="{FF2B5EF4-FFF2-40B4-BE49-F238E27FC236}">
                <a16:creationId xmlns:a16="http://schemas.microsoft.com/office/drawing/2014/main" id="{7352011D-EF38-D205-1215-5D0C2A1ED9BE}"/>
              </a:ext>
            </a:extLst>
          </p:cNvPr>
          <p:cNvSpPr txBox="1"/>
          <p:nvPr/>
        </p:nvSpPr>
        <p:spPr>
          <a:xfrm>
            <a:off x="2501100" y="117037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IN" sz="2100" dirty="0"/>
              <a:t>Use Cases	</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12339964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F9A3A-942E-2C17-E5F6-C72FE44BE054}"/>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96B8DB89-2034-B854-4DF7-B54B7B55A56E}"/>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81</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28A8DA05-6289-7CC8-3E3E-3E11FF8A07C9}"/>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FA376B96-8E88-7776-8592-7E765E9ADB3F}"/>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EA479C36-5906-403F-3907-76EBC87D07C1}"/>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3E60E0AF-FE2C-9505-4D13-F3F3FCBEF62A}"/>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2D8E9E14-5A43-D7F3-7804-BA4C7530785A}"/>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93F4CFAD-35C6-B99F-5B7E-8FFABFFA6FA0}"/>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74;p9">
            <a:extLst>
              <a:ext uri="{FF2B5EF4-FFF2-40B4-BE49-F238E27FC236}">
                <a16:creationId xmlns:a16="http://schemas.microsoft.com/office/drawing/2014/main" id="{D2E5A7B6-F6EC-0FF2-CCED-4C501B976940}"/>
              </a:ext>
            </a:extLst>
          </p:cNvPr>
          <p:cNvSpPr txBox="1"/>
          <p:nvPr/>
        </p:nvSpPr>
        <p:spPr>
          <a:xfrm>
            <a:off x="1503225" y="1865643"/>
            <a:ext cx="6137550" cy="2580996"/>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sz="1350" dirty="0">
                <a:latin typeface="Proxima Nova"/>
              </a:rPr>
              <a:t>A Software Bill of Materials (SBOM) is a formally structured list of components, libraries, and modules required to build a piece of software.</a:t>
            </a:r>
          </a:p>
          <a:p>
            <a:pPr marL="342900" indent="-342900">
              <a:buFont typeface="Arial" panose="020B0604020202020204" pitchFamily="34" charset="0"/>
              <a:buChar char="•"/>
            </a:pPr>
            <a:r>
              <a:rPr lang="en-US" sz="1350" dirty="0">
                <a:latin typeface="Proxima Nova"/>
              </a:rPr>
              <a:t> The Amazon Inspector SBOM Generator (</a:t>
            </a:r>
            <a:r>
              <a:rPr lang="en-US" sz="1350" dirty="0" err="1">
                <a:latin typeface="Proxima Nova"/>
              </a:rPr>
              <a:t>Sbomgen</a:t>
            </a:r>
            <a:r>
              <a:rPr lang="en-US" sz="1350" dirty="0">
                <a:latin typeface="Proxima Nova"/>
              </a:rPr>
              <a:t>) is a tool that produces an SBOM for archives, container images, directories, local systems, and compiled Go and Rust binaries. </a:t>
            </a:r>
          </a:p>
          <a:p>
            <a:pPr marL="342900" indent="-342900">
              <a:buFont typeface="Arial" panose="020B0604020202020204" pitchFamily="34" charset="0"/>
              <a:buChar char="•"/>
            </a:pPr>
            <a:r>
              <a:rPr lang="en-US" sz="1350" dirty="0" err="1">
                <a:latin typeface="Proxima Nova"/>
              </a:rPr>
              <a:t>Sbomgen</a:t>
            </a:r>
            <a:r>
              <a:rPr lang="en-US" sz="1350" dirty="0">
                <a:latin typeface="Proxima Nova"/>
              </a:rPr>
              <a:t> scans for files that contain information about installed packages. When </a:t>
            </a:r>
            <a:r>
              <a:rPr lang="en-US" sz="1350" dirty="0" err="1">
                <a:latin typeface="Proxima Nova"/>
              </a:rPr>
              <a:t>Sbomgen</a:t>
            </a:r>
            <a:r>
              <a:rPr lang="en-US" sz="1350" dirty="0">
                <a:latin typeface="Proxima Nova"/>
              </a:rPr>
              <a:t> finds a relevant file, it extracts package names, versions, and other metadata.</a:t>
            </a:r>
          </a:p>
          <a:p>
            <a:pPr marL="342900" indent="-342900">
              <a:buFont typeface="Arial" panose="020B0604020202020204" pitchFamily="34" charset="0"/>
              <a:buChar char="•"/>
            </a:pPr>
            <a:r>
              <a:rPr lang="en-US" sz="1350" dirty="0">
                <a:latin typeface="Proxima Nova"/>
              </a:rPr>
              <a:t> </a:t>
            </a:r>
            <a:r>
              <a:rPr lang="en-US" sz="1350" dirty="0" err="1">
                <a:latin typeface="Proxima Nova"/>
              </a:rPr>
              <a:t>Sbomgen</a:t>
            </a:r>
            <a:r>
              <a:rPr lang="en-US" sz="1350" dirty="0">
                <a:latin typeface="Proxima Nova"/>
              </a:rPr>
              <a:t> then transforms package metadata into a </a:t>
            </a:r>
            <a:r>
              <a:rPr lang="en-US" sz="1350" dirty="0" err="1">
                <a:latin typeface="Proxima Nova"/>
              </a:rPr>
              <a:t>CycloneDX</a:t>
            </a:r>
            <a:r>
              <a:rPr lang="en-US" sz="1350" dirty="0">
                <a:latin typeface="Proxima Nova"/>
              </a:rPr>
              <a:t> SBOM. You can use </a:t>
            </a:r>
            <a:r>
              <a:rPr lang="en-US" sz="1350" dirty="0" err="1">
                <a:latin typeface="Proxima Nova"/>
              </a:rPr>
              <a:t>Sbomgen</a:t>
            </a:r>
            <a:r>
              <a:rPr lang="en-US" sz="1350" dirty="0">
                <a:latin typeface="Proxima Nova"/>
              </a:rPr>
              <a:t> to generate the </a:t>
            </a:r>
            <a:r>
              <a:rPr lang="en-US" sz="1350" dirty="0" err="1">
                <a:latin typeface="Proxima Nova"/>
              </a:rPr>
              <a:t>CycloneDX</a:t>
            </a:r>
            <a:r>
              <a:rPr lang="en-US" sz="1350" dirty="0">
                <a:latin typeface="Proxima Nova"/>
              </a:rPr>
              <a:t> SBOM as a file or in STDOUT and send SBOMs to Amazon Inspector for vulnerability detection. </a:t>
            </a:r>
          </a:p>
        </p:txBody>
      </p:sp>
      <p:sp>
        <p:nvSpPr>
          <p:cNvPr id="10" name="Google Shape;676;p9">
            <a:extLst>
              <a:ext uri="{FF2B5EF4-FFF2-40B4-BE49-F238E27FC236}">
                <a16:creationId xmlns:a16="http://schemas.microsoft.com/office/drawing/2014/main" id="{32477BD9-4D81-7A11-6CA0-EF40A4940A66}"/>
              </a:ext>
            </a:extLst>
          </p:cNvPr>
          <p:cNvSpPr txBox="1"/>
          <p:nvPr/>
        </p:nvSpPr>
        <p:spPr>
          <a:xfrm>
            <a:off x="2501100" y="117037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latin typeface="Proxima Nova"/>
              </a:rPr>
              <a:t> SBOM Generator</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31361108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0BB5E-4F58-6955-EE92-3E3B8C6E7416}"/>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BFCABBF3-BF03-C84E-A93D-E66EB145C187}"/>
              </a:ext>
            </a:extLst>
          </p:cNvPr>
          <p:cNvSpPr txBox="1">
            <a:spLocks noGrp="1"/>
          </p:cNvSpPr>
          <p:nvPr>
            <p:ph type="sldNum" sz="quarter" idx="12"/>
          </p:nvPr>
        </p:nvSpPr>
        <p:spPr>
          <a:xfrm>
            <a:off x="7052024" y="4769032"/>
            <a:ext cx="1543050" cy="273421"/>
          </a:xfrm>
          <a:prstGeom prst="rect">
            <a:avLst/>
          </a:prstGeom>
          <a:noFill/>
          <a:ln>
            <a:noFill/>
          </a:ln>
        </p:spPr>
        <p:txBody>
          <a:bodyPr spcFirstLastPara="1" wrap="square" lIns="68569" tIns="34275" rIns="68569" bIns="34275"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pPr marL="0" lvl="0" indent="0" algn="r" rtl="0">
              <a:spcBef>
                <a:spcPts val="0"/>
              </a:spcBef>
              <a:spcAft>
                <a:spcPts val="0"/>
              </a:spcAft>
              <a:buNone/>
            </a:pPr>
            <a:fld id="{00000000-1234-1234-1234-123412341234}" type="slidenum">
              <a:rPr lang="en-IN" sz="675">
                <a:latin typeface="Proxima Nova"/>
                <a:ea typeface="Proxima Nova"/>
                <a:cs typeface="Proxima Nova"/>
                <a:sym typeface="Proxima Nova"/>
              </a:rPr>
              <a:pPr marL="0" lvl="0" indent="0" algn="r" rtl="0">
                <a:spcBef>
                  <a:spcPts val="0"/>
                </a:spcBef>
                <a:spcAft>
                  <a:spcPts val="0"/>
                </a:spcAft>
                <a:buNone/>
              </a:pPr>
              <a:t>82</a:t>
            </a:fld>
            <a:endParaRPr sz="675">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0D444C63-F831-00FD-186E-568089D2FAB7}"/>
              </a:ext>
            </a:extLst>
          </p:cNvPr>
          <p:cNvPicPr preferRelativeResize="0"/>
          <p:nvPr/>
        </p:nvPicPr>
        <p:blipFill>
          <a:blip r:embed="rId2">
            <a:alphaModFix/>
          </a:blip>
          <a:stretch>
            <a:fillRect/>
          </a:stretch>
        </p:blipFill>
        <p:spPr>
          <a:xfrm>
            <a:off x="7823549" y="274341"/>
            <a:ext cx="692454" cy="628292"/>
          </a:xfrm>
          <a:prstGeom prst="rect">
            <a:avLst/>
          </a:prstGeom>
          <a:noFill/>
          <a:ln>
            <a:noFill/>
          </a:ln>
        </p:spPr>
      </p:pic>
      <p:pic>
        <p:nvPicPr>
          <p:cNvPr id="4" name="Picture 3">
            <a:extLst>
              <a:ext uri="{FF2B5EF4-FFF2-40B4-BE49-F238E27FC236}">
                <a16:creationId xmlns:a16="http://schemas.microsoft.com/office/drawing/2014/main" id="{890ED0A4-06BC-2D30-8458-E264BAA08B84}"/>
              </a:ext>
            </a:extLst>
          </p:cNvPr>
          <p:cNvPicPr>
            <a:picLocks noChangeAspect="1"/>
          </p:cNvPicPr>
          <p:nvPr/>
        </p:nvPicPr>
        <p:blipFill>
          <a:blip r:embed="rId3"/>
          <a:stretch>
            <a:fillRect/>
          </a:stretch>
        </p:blipFill>
        <p:spPr>
          <a:xfrm>
            <a:off x="6674459" y="536875"/>
            <a:ext cx="909059" cy="240413"/>
          </a:xfrm>
          <a:prstGeom prst="rect">
            <a:avLst/>
          </a:prstGeom>
        </p:spPr>
      </p:pic>
      <p:pic>
        <p:nvPicPr>
          <p:cNvPr id="5" name="Picture 4">
            <a:extLst>
              <a:ext uri="{FF2B5EF4-FFF2-40B4-BE49-F238E27FC236}">
                <a16:creationId xmlns:a16="http://schemas.microsoft.com/office/drawing/2014/main" id="{36E76EBB-90FC-A5C2-9C17-99FFC0AA01DF}"/>
              </a:ext>
            </a:extLst>
          </p:cNvPr>
          <p:cNvPicPr>
            <a:picLocks noChangeAspect="1"/>
          </p:cNvPicPr>
          <p:nvPr/>
        </p:nvPicPr>
        <p:blipFill>
          <a:blip r:embed="rId4"/>
          <a:stretch>
            <a:fillRect/>
          </a:stretch>
        </p:blipFill>
        <p:spPr>
          <a:xfrm>
            <a:off x="3807" y="8607"/>
            <a:ext cx="1679162" cy="1335290"/>
          </a:xfrm>
          <a:prstGeom prst="rect">
            <a:avLst/>
          </a:prstGeom>
        </p:spPr>
      </p:pic>
      <p:pic>
        <p:nvPicPr>
          <p:cNvPr id="6" name="Picture 5">
            <a:extLst>
              <a:ext uri="{FF2B5EF4-FFF2-40B4-BE49-F238E27FC236}">
                <a16:creationId xmlns:a16="http://schemas.microsoft.com/office/drawing/2014/main" id="{68367867-48E2-DE19-1A82-E393BB0A8F1A}"/>
              </a:ext>
            </a:extLst>
          </p:cNvPr>
          <p:cNvPicPr>
            <a:picLocks noChangeAspect="1"/>
          </p:cNvPicPr>
          <p:nvPr/>
        </p:nvPicPr>
        <p:blipFill>
          <a:blip r:embed="rId5"/>
          <a:stretch>
            <a:fillRect/>
          </a:stretch>
        </p:blipFill>
        <p:spPr>
          <a:xfrm>
            <a:off x="8454726" y="-11241"/>
            <a:ext cx="722430" cy="913874"/>
          </a:xfrm>
          <a:prstGeom prst="rect">
            <a:avLst/>
          </a:prstGeom>
        </p:spPr>
      </p:pic>
      <p:pic>
        <p:nvPicPr>
          <p:cNvPr id="7" name="Picture 6">
            <a:extLst>
              <a:ext uri="{FF2B5EF4-FFF2-40B4-BE49-F238E27FC236}">
                <a16:creationId xmlns:a16="http://schemas.microsoft.com/office/drawing/2014/main" id="{5CFBBABB-37C7-AD87-E87B-474C051DA36C}"/>
              </a:ext>
            </a:extLst>
          </p:cNvPr>
          <p:cNvPicPr>
            <a:picLocks noChangeAspect="1"/>
          </p:cNvPicPr>
          <p:nvPr/>
        </p:nvPicPr>
        <p:blipFill>
          <a:blip r:embed="rId4">
            <a:alphaModFix amt="11000"/>
          </a:blip>
          <a:stretch>
            <a:fillRect/>
          </a:stretch>
        </p:blipFill>
        <p:spPr>
          <a:xfrm rot="10800000">
            <a:off x="8443738" y="4594767"/>
            <a:ext cx="704318" cy="560082"/>
          </a:xfrm>
          <a:prstGeom prst="rect">
            <a:avLst/>
          </a:prstGeom>
        </p:spPr>
      </p:pic>
      <p:pic>
        <p:nvPicPr>
          <p:cNvPr id="8" name="Picture 7">
            <a:extLst>
              <a:ext uri="{FF2B5EF4-FFF2-40B4-BE49-F238E27FC236}">
                <a16:creationId xmlns:a16="http://schemas.microsoft.com/office/drawing/2014/main" id="{E7E19E65-C066-306B-6F35-2E2C8B08F10A}"/>
              </a:ext>
            </a:extLst>
          </p:cNvPr>
          <p:cNvPicPr>
            <a:picLocks noChangeAspect="1"/>
          </p:cNvPicPr>
          <p:nvPr/>
        </p:nvPicPr>
        <p:blipFill>
          <a:blip r:embed="rId5">
            <a:alphaModFix amt="27000"/>
          </a:blip>
          <a:stretch>
            <a:fillRect/>
          </a:stretch>
        </p:blipFill>
        <p:spPr>
          <a:xfrm rot="10800000">
            <a:off x="6603" y="4777454"/>
            <a:ext cx="277829" cy="351453"/>
          </a:xfrm>
          <a:prstGeom prst="rect">
            <a:avLst/>
          </a:prstGeom>
        </p:spPr>
      </p:pic>
      <p:sp>
        <p:nvSpPr>
          <p:cNvPr id="9" name="Google Shape;674;p9">
            <a:extLst>
              <a:ext uri="{FF2B5EF4-FFF2-40B4-BE49-F238E27FC236}">
                <a16:creationId xmlns:a16="http://schemas.microsoft.com/office/drawing/2014/main" id="{63E05F8B-AC6E-F062-2C91-6C6A1F72E6C8}"/>
              </a:ext>
            </a:extLst>
          </p:cNvPr>
          <p:cNvSpPr txBox="1"/>
          <p:nvPr/>
        </p:nvSpPr>
        <p:spPr>
          <a:xfrm>
            <a:off x="1445968" y="1646820"/>
            <a:ext cx="6137550" cy="2790992"/>
          </a:xfrm>
          <a:prstGeom prst="rect">
            <a:avLst/>
          </a:prstGeom>
          <a:noFill/>
          <a:ln>
            <a:noFill/>
          </a:ln>
        </p:spPr>
        <p:txBody>
          <a:bodyPr spcFirstLastPara="1" wrap="square" lIns="68569" tIns="68569" rIns="68569" bIns="68569"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buFont typeface="Wingdings" panose="05000000000000000000" pitchFamily="2" charset="2"/>
              <a:buChar char="Ø"/>
            </a:pPr>
            <a:r>
              <a:rPr lang="en-US" sz="1013" b="1" dirty="0"/>
              <a:t>Deployment</a:t>
            </a:r>
            <a:r>
              <a:rPr lang="en-US" sz="1013" dirty="0"/>
              <a:t>:</a:t>
            </a:r>
          </a:p>
          <a:p>
            <a:pPr lvl="1">
              <a:buFont typeface="Wingdings" panose="05000000000000000000" pitchFamily="2" charset="2"/>
              <a:buChar char="Ø"/>
            </a:pPr>
            <a:r>
              <a:rPr lang="en-US" sz="1013" dirty="0"/>
              <a:t>A new EC2 instance is provisioned with an NGINX web server as part of the CI/CD pipeline.</a:t>
            </a:r>
          </a:p>
          <a:p>
            <a:pPr lvl="1">
              <a:buFont typeface="Wingdings" panose="05000000000000000000" pitchFamily="2" charset="2"/>
              <a:buChar char="Ø"/>
            </a:pPr>
            <a:r>
              <a:rPr lang="en-US" sz="1013" dirty="0"/>
              <a:t>The pipeline triggers an Inspector scan after the server is configured.</a:t>
            </a:r>
          </a:p>
          <a:p>
            <a:pPr>
              <a:buFont typeface="Wingdings" panose="05000000000000000000" pitchFamily="2" charset="2"/>
              <a:buChar char="Ø"/>
            </a:pPr>
            <a:r>
              <a:rPr lang="en-US" sz="1013" b="1" dirty="0"/>
              <a:t>Assessment</a:t>
            </a:r>
            <a:r>
              <a:rPr lang="en-US" sz="1013" dirty="0"/>
              <a:t>:</a:t>
            </a:r>
          </a:p>
          <a:p>
            <a:pPr>
              <a:buFont typeface="Wingdings" panose="05000000000000000000" pitchFamily="2" charset="2"/>
              <a:buChar char="Ø"/>
            </a:pPr>
            <a:r>
              <a:rPr lang="en-US" sz="1013" dirty="0"/>
              <a:t>Inspector scans the EC2 instance for:</a:t>
            </a:r>
          </a:p>
          <a:p>
            <a:pPr lvl="1">
              <a:buFont typeface="Wingdings" panose="05000000000000000000" pitchFamily="2" charset="2"/>
              <a:buChar char="Ø"/>
            </a:pPr>
            <a:r>
              <a:rPr lang="en-US" sz="1013" dirty="0"/>
              <a:t>Vulnerabilities in the NGINX version (e.g., CVE-2023-XXXX).</a:t>
            </a:r>
          </a:p>
          <a:p>
            <a:pPr lvl="1">
              <a:buFont typeface="Wingdings" panose="05000000000000000000" pitchFamily="2" charset="2"/>
              <a:buChar char="Ø"/>
            </a:pPr>
            <a:r>
              <a:rPr lang="en-US" sz="1013" dirty="0"/>
              <a:t>Unnecessary open ports (e.g., Port 22 left open to all).</a:t>
            </a:r>
          </a:p>
          <a:p>
            <a:pPr lvl="1">
              <a:buFont typeface="Wingdings" panose="05000000000000000000" pitchFamily="2" charset="2"/>
              <a:buChar char="Ø"/>
            </a:pPr>
            <a:r>
              <a:rPr lang="en-US" sz="1013" dirty="0"/>
              <a:t>Outdated or misconfigured OS components.</a:t>
            </a:r>
          </a:p>
          <a:p>
            <a:pPr>
              <a:buFont typeface="Wingdings" panose="05000000000000000000" pitchFamily="2" charset="2"/>
              <a:buChar char="Ø"/>
            </a:pPr>
            <a:r>
              <a:rPr lang="en-US" sz="1013" b="1" dirty="0"/>
              <a:t>Findings</a:t>
            </a:r>
            <a:r>
              <a:rPr lang="en-US" sz="1013" dirty="0"/>
              <a:t>:</a:t>
            </a:r>
          </a:p>
          <a:p>
            <a:pPr>
              <a:buFont typeface="Wingdings" panose="05000000000000000000" pitchFamily="2" charset="2"/>
              <a:buChar char="Ø"/>
            </a:pPr>
            <a:r>
              <a:rPr lang="en-US" sz="1013" dirty="0"/>
              <a:t>Inspector identifies:</a:t>
            </a:r>
          </a:p>
          <a:p>
            <a:pPr lvl="1">
              <a:buFont typeface="Wingdings" panose="05000000000000000000" pitchFamily="2" charset="2"/>
              <a:buChar char="Ø"/>
            </a:pPr>
            <a:r>
              <a:rPr lang="en-US" sz="1013" dirty="0"/>
              <a:t>A critical CVE in the deployed NGINX version.</a:t>
            </a:r>
          </a:p>
          <a:p>
            <a:pPr lvl="1">
              <a:buFont typeface="Wingdings" panose="05000000000000000000" pitchFamily="2" charset="2"/>
              <a:buChar char="Ø"/>
            </a:pPr>
            <a:r>
              <a:rPr lang="en-US" sz="1013" dirty="0"/>
              <a:t>The web server is running with default configurations, exposing unnecessary headers.</a:t>
            </a:r>
            <a:endParaRPr lang="en-IN" sz="1013" dirty="0"/>
          </a:p>
          <a:p>
            <a:pPr>
              <a:buFont typeface="Wingdings" panose="05000000000000000000" pitchFamily="2" charset="2"/>
              <a:buChar char="Ø"/>
            </a:pPr>
            <a:r>
              <a:rPr lang="en-US" sz="1013" b="1" dirty="0"/>
              <a:t>Remediation</a:t>
            </a:r>
            <a:r>
              <a:rPr lang="en-US" sz="1013" dirty="0"/>
              <a:t>:</a:t>
            </a:r>
          </a:p>
          <a:p>
            <a:pPr lvl="1">
              <a:buFont typeface="Wingdings" panose="05000000000000000000" pitchFamily="2" charset="2"/>
              <a:buChar char="Ø"/>
            </a:pPr>
            <a:r>
              <a:rPr lang="en-US" sz="1013" dirty="0"/>
              <a:t>Update the NGINX version to a secure release.</a:t>
            </a:r>
          </a:p>
          <a:p>
            <a:pPr lvl="1">
              <a:buFont typeface="Wingdings" panose="05000000000000000000" pitchFamily="2" charset="2"/>
              <a:buChar char="Ø"/>
            </a:pPr>
            <a:r>
              <a:rPr lang="en-US" sz="1013" dirty="0"/>
              <a:t>Apply recommended configurations to the web server (e.g., disabling unnecessary modules).</a:t>
            </a:r>
          </a:p>
          <a:p>
            <a:pPr>
              <a:buFont typeface="Wingdings" panose="05000000000000000000" pitchFamily="2" charset="2"/>
              <a:buChar char="Ø"/>
            </a:pPr>
            <a:r>
              <a:rPr lang="en-US" sz="1013" b="1" dirty="0"/>
              <a:t>Post-Remediation Scan</a:t>
            </a:r>
            <a:r>
              <a:rPr lang="en-US" sz="1013" dirty="0"/>
              <a:t>:</a:t>
            </a:r>
          </a:p>
          <a:p>
            <a:pPr lvl="1">
              <a:buFont typeface="Wingdings" panose="05000000000000000000" pitchFamily="2" charset="2"/>
              <a:buChar char="Ø"/>
            </a:pPr>
            <a:r>
              <a:rPr lang="en-US" sz="1013" dirty="0"/>
              <a:t>Run another Inspector scan to validate that the vulnerabilities have been resolved.</a:t>
            </a:r>
          </a:p>
          <a:p>
            <a:endParaRPr lang="en-US" sz="1013" dirty="0"/>
          </a:p>
          <a:p>
            <a:pPr>
              <a:buFont typeface="Wingdings" panose="05000000000000000000" pitchFamily="2" charset="2"/>
              <a:buChar char="Ø"/>
            </a:pPr>
            <a:endParaRPr lang="en-US" sz="1013" dirty="0"/>
          </a:p>
          <a:p>
            <a:endParaRPr lang="en-US" sz="1013" dirty="0"/>
          </a:p>
          <a:p>
            <a:endParaRPr lang="en-US" sz="1350" dirty="0">
              <a:latin typeface="Proxima Nova"/>
            </a:endParaRPr>
          </a:p>
        </p:txBody>
      </p:sp>
      <p:sp>
        <p:nvSpPr>
          <p:cNvPr id="10" name="Google Shape;676;p9">
            <a:extLst>
              <a:ext uri="{FF2B5EF4-FFF2-40B4-BE49-F238E27FC236}">
                <a16:creationId xmlns:a16="http://schemas.microsoft.com/office/drawing/2014/main" id="{FC137FD6-6BEB-8478-3B42-6B8D8587291D}"/>
              </a:ext>
            </a:extLst>
          </p:cNvPr>
          <p:cNvSpPr txBox="1"/>
          <p:nvPr/>
        </p:nvSpPr>
        <p:spPr>
          <a:xfrm>
            <a:off x="2501100" y="1170379"/>
            <a:ext cx="4141800" cy="302175"/>
          </a:xfrm>
          <a:prstGeom prst="rect">
            <a:avLst/>
          </a:prstGeom>
          <a:noFill/>
          <a:ln>
            <a:noFill/>
          </a:ln>
        </p:spPr>
        <p:txBody>
          <a:bodyPr spcFirstLastPara="1" wrap="square" lIns="68569" tIns="34275" rIns="68569" bIns="34275"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rtl="0">
              <a:lnSpc>
                <a:spcPct val="80000"/>
              </a:lnSpc>
              <a:spcBef>
                <a:spcPts val="0"/>
              </a:spcBef>
              <a:spcAft>
                <a:spcPts val="0"/>
              </a:spcAft>
              <a:buClr>
                <a:schemeClr val="dk1"/>
              </a:buClr>
              <a:buSzPts val="1100"/>
              <a:buFont typeface="Arial"/>
              <a:buNone/>
            </a:pPr>
            <a:r>
              <a:rPr lang="en-US" sz="2100" dirty="0">
                <a:latin typeface="Proxima Nova"/>
              </a:rPr>
              <a:t>Workflow</a:t>
            </a:r>
            <a:endParaRPr sz="2100" b="0" i="0" u="none" strike="noStrike" cap="none" dirty="0">
              <a:solidFill>
                <a:schemeClr val="tx1"/>
              </a:solidFill>
              <a:latin typeface="Proxima Nova"/>
              <a:ea typeface="Proxima Nova"/>
              <a:cs typeface="Proxima Nova"/>
              <a:sym typeface="Proxima Nova"/>
            </a:endParaRPr>
          </a:p>
        </p:txBody>
      </p:sp>
    </p:spTree>
    <p:extLst>
      <p:ext uri="{BB962C8B-B14F-4D97-AF65-F5344CB8AC3E}">
        <p14:creationId xmlns:p14="http://schemas.microsoft.com/office/powerpoint/2010/main" val="10457371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019504"/>
            <a:ext cx="9144000" cy="2063512"/>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400"/>
          </a:p>
        </p:txBody>
      </p:sp>
      <p:sp>
        <p:nvSpPr>
          <p:cNvPr id="615" name="Google Shape;615;p34"/>
          <p:cNvSpPr txBox="1"/>
          <p:nvPr/>
        </p:nvSpPr>
        <p:spPr>
          <a:xfrm>
            <a:off x="871629" y="2571750"/>
            <a:ext cx="7400744" cy="974008"/>
          </a:xfrm>
          <a:prstGeom prst="rect">
            <a:avLst/>
          </a:prstGeom>
          <a:noFill/>
          <a:ln>
            <a:noFill/>
          </a:ln>
        </p:spPr>
        <p:txBody>
          <a:bodyPr spcFirstLastPara="1" wrap="square" lIns="91425" tIns="45700" rIns="91425" bIns="45700"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lnSpc>
                <a:spcPct val="90000"/>
              </a:lnSpc>
              <a:buClr>
                <a:schemeClr val="dk1"/>
              </a:buClr>
              <a:buSzPts val="4000"/>
            </a:pPr>
            <a:r>
              <a:rPr lang="en-US" sz="3600" dirty="0">
                <a:solidFill>
                  <a:schemeClr val="bg1"/>
                </a:solidFill>
                <a:latin typeface="Lato"/>
                <a:ea typeface="Lato"/>
                <a:cs typeface="Lato"/>
                <a:sym typeface="La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Thank You!</a:t>
            </a:r>
            <a:endParaRPr lang="en-US" sz="3600" dirty="0">
              <a:solidFill>
                <a:schemeClr val="bg1"/>
              </a:solidFill>
              <a:latin typeface="Lato"/>
              <a:ea typeface="Lato"/>
              <a:cs typeface="Lato"/>
              <a:sym typeface="Lato"/>
            </a:endParaRPr>
          </a:p>
        </p:txBody>
      </p:sp>
      <p:sp>
        <p:nvSpPr>
          <p:cNvPr id="617" name="Google Shape;617;p34"/>
          <p:cNvSpPr txBox="1">
            <a:spLocks noGrp="1"/>
          </p:cNvSpPr>
          <p:nvPr>
            <p:ph type="sldNum" sz="quarter" idx="12"/>
          </p:nvPr>
        </p:nvSpPr>
        <p:spPr>
          <a:xfrm>
            <a:off x="6511925" y="4767263"/>
            <a:ext cx="2057400" cy="274500"/>
          </a:xfrm>
          <a:prstGeom prst="rect">
            <a:avLst/>
          </a:prstGeom>
          <a:noFill/>
          <a:ln>
            <a:noFill/>
          </a:ln>
        </p:spPr>
        <p:txBody>
          <a:bodyPr spcFirstLastPara="1" wrap="square" lIns="91425" tIns="45700" rIns="91425" bIns="45700" anchor="ctr" anchorCtr="0">
            <a:noAutofit/>
          </a:bodyPr>
          <a:lst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a:lstStyle>
          <a:p>
            <a:fld id="{00000000-1234-1234-1234-123412341234}" type="slidenum">
              <a:rPr lang="en-IN">
                <a:solidFill>
                  <a:srgbClr val="FF0000"/>
                </a:solidFill>
                <a:latin typeface="Proxima Nova"/>
                <a:ea typeface="Proxima Nova"/>
                <a:cs typeface="Proxima Nova"/>
                <a:sym typeface="Proxima Nova"/>
              </a:rPr>
              <a:pPr/>
              <a:t>83</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7084752" y="101738"/>
            <a:ext cx="1544050" cy="1544050"/>
          </a:xfrm>
          <a:prstGeom prst="rect">
            <a:avLst/>
          </a:prstGeom>
          <a:noFill/>
          <a:ln>
            <a:noFill/>
          </a:ln>
        </p:spPr>
      </p:pic>
      <p:pic>
        <p:nvPicPr>
          <p:cNvPr id="3" name="Picture 2">
            <a:extLst>
              <a:ext uri="{FF2B5EF4-FFF2-40B4-BE49-F238E27FC236}">
                <a16:creationId xmlns:a16="http://schemas.microsoft.com/office/drawing/2014/main" id="{ED6418B9-9024-36FD-FF4A-D689E721F145}"/>
              </a:ext>
            </a:extLst>
          </p:cNvPr>
          <p:cNvPicPr>
            <a:picLocks noChangeAspect="1"/>
          </p:cNvPicPr>
          <p:nvPr/>
        </p:nvPicPr>
        <p:blipFill rotWithShape="1">
          <a:blip r:embed="rId4"/>
          <a:srcRect l="25725" t="37867" r="34750" b="40666"/>
          <a:stretch/>
        </p:blipFill>
        <p:spPr>
          <a:xfrm>
            <a:off x="781813" y="532238"/>
            <a:ext cx="2628515" cy="803019"/>
          </a:xfrm>
          <a:prstGeom prst="rect">
            <a:avLst/>
          </a:prstGeom>
        </p:spPr>
      </p:pic>
    </p:spTree>
    <p:extLst>
      <p:ext uri="{BB962C8B-B14F-4D97-AF65-F5344CB8AC3E}">
        <p14:creationId xmlns:p14="http://schemas.microsoft.com/office/powerpoint/2010/main" val="27773896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5673</Words>
  <Application>Microsoft Office PowerPoint</Application>
  <PresentationFormat>On-screen Show (16:9)</PresentationFormat>
  <Paragraphs>661</Paragraphs>
  <Slides>83</Slides>
  <Notes>40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83</vt:i4>
      </vt:variant>
    </vt:vector>
  </HeadingPairs>
  <TitlesOfParts>
    <vt:vector size="93" baseType="lpstr">
      <vt:lpstr>Source Sans Pro</vt:lpstr>
      <vt:lpstr>Arial</vt:lpstr>
      <vt:lpstr>source-serif-pro</vt:lpstr>
      <vt:lpstr>Gill Sans MT</vt:lpstr>
      <vt:lpstr>Calibri</vt:lpstr>
      <vt:lpstr>Wingdings</vt:lpstr>
      <vt:lpstr>Proxima Nova</vt:lpstr>
      <vt:lpstr>Calibri Light</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OBSERVATION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Syed Rumaan Pasha</dc:creator>
  <cp:lastModifiedBy>john test</cp:lastModifiedBy>
  <cp:revision>8</cp:revision>
  <dcterms:modified xsi:type="dcterms:W3CDTF">2026-07-04T06:24:02Z</dcterms:modified>
</cp:coreProperties>
</file>